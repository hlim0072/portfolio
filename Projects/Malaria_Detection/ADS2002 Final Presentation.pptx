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0" r:id="rId4"/>
  </p:sldMasterIdLst>
  <p:notesMasterIdLst>
    <p:notesMasterId r:id="rId46"/>
  </p:notesMasterIdLst>
  <p:sldIdLst>
    <p:sldId id="256" r:id="rId5"/>
    <p:sldId id="283" r:id="rId6"/>
    <p:sldId id="290" r:id="rId7"/>
    <p:sldId id="307" r:id="rId8"/>
    <p:sldId id="308" r:id="rId9"/>
    <p:sldId id="258" r:id="rId10"/>
    <p:sldId id="289" r:id="rId11"/>
    <p:sldId id="262" r:id="rId12"/>
    <p:sldId id="268" r:id="rId13"/>
    <p:sldId id="291" r:id="rId14"/>
    <p:sldId id="278" r:id="rId15"/>
    <p:sldId id="309" r:id="rId16"/>
    <p:sldId id="310" r:id="rId17"/>
    <p:sldId id="311" r:id="rId18"/>
    <p:sldId id="312" r:id="rId19"/>
    <p:sldId id="292" r:id="rId20"/>
    <p:sldId id="284" r:id="rId21"/>
    <p:sldId id="269" r:id="rId22"/>
    <p:sldId id="274" r:id="rId23"/>
    <p:sldId id="270" r:id="rId24"/>
    <p:sldId id="275" r:id="rId25"/>
    <p:sldId id="296" r:id="rId26"/>
    <p:sldId id="285" r:id="rId27"/>
    <p:sldId id="297" r:id="rId28"/>
    <p:sldId id="276" r:id="rId29"/>
    <p:sldId id="264" r:id="rId30"/>
    <p:sldId id="298" r:id="rId31"/>
    <p:sldId id="288" r:id="rId32"/>
    <p:sldId id="299" r:id="rId33"/>
    <p:sldId id="301" r:id="rId34"/>
    <p:sldId id="300" r:id="rId35"/>
    <p:sldId id="304" r:id="rId36"/>
    <p:sldId id="305" r:id="rId37"/>
    <p:sldId id="293" r:id="rId38"/>
    <p:sldId id="294" r:id="rId39"/>
    <p:sldId id="302" r:id="rId40"/>
    <p:sldId id="313" r:id="rId41"/>
    <p:sldId id="303" r:id="rId42"/>
    <p:sldId id="314" r:id="rId43"/>
    <p:sldId id="266" r:id="rId44"/>
    <p:sldId id="267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80D297C-FE03-316D-C4ED-187913CB97A7}" name="Wesley Kong" initials="WK" userId="S::wkon0018@student.monash.edu::1bcbdeab-633d-472d-a47e-c41c2ecb018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5858"/>
    <a:srgbClr val="884848"/>
    <a:srgbClr val="444282"/>
    <a:srgbClr val="385E51"/>
    <a:srgbClr val="406867"/>
    <a:srgbClr val="597365"/>
    <a:srgbClr val="E77206"/>
    <a:srgbClr val="AD2C35"/>
    <a:srgbClr val="8883D0"/>
    <a:srgbClr val="9A84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BB24E0-843E-563F-31BB-AB429A716E66}" v="620" dt="2025-10-12T13:58:51.178"/>
    <p1510:client id="{7F7ADD60-8EC4-4CA6-A039-57F8032D9904}" v="19" dt="2025-10-13T00:59:39.184"/>
    <p1510:client id="{842D6ACA-13BA-4ED6-9DE1-75307374428B}" v="5757" dt="2025-10-13T03:45:30.100"/>
    <p1510:client id="{B66605E1-7C48-8440-9F92-4B8642DB143E}" v="2" dt="2025-10-12T09:36:43.439"/>
    <p1510:client id="{F69CAFA8-6356-428F-82CB-B5C8DD3F44A2}" v="7721" dt="2025-10-13T02:19:13.0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kcho\Downloads\label%20smoothing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kcho\Downloads\label%20smoothing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MY" sz="1600" b="1"/>
              <a:t>Image</a:t>
            </a:r>
            <a:r>
              <a:rPr lang="en-MY" sz="1600" b="1" baseline="0"/>
              <a:t> classification Probability (without label smoothing)</a:t>
            </a:r>
            <a:endParaRPr lang="en-MY" sz="16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MY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Probability</c:v>
                </c:pt>
              </c:strCache>
            </c:strRef>
          </c:tx>
          <c:spPr>
            <a:solidFill>
              <a:srgbClr val="00999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Infected</c:v>
                </c:pt>
                <c:pt idx="1">
                  <c:v>Healthy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EC-4E1D-9975-EBBE3586A4A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9103391"/>
        <c:axId val="629108671"/>
      </c:barChart>
      <c:catAx>
        <c:axId val="62910339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MY" sz="1100" b="1"/>
                  <a:t> Class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9108671"/>
        <c:crosses val="autoZero"/>
        <c:auto val="1"/>
        <c:lblAlgn val="ctr"/>
        <c:lblOffset val="100"/>
        <c:noMultiLvlLbl val="0"/>
      </c:catAx>
      <c:valAx>
        <c:axId val="6291086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MY" sz="1200" b="1"/>
                  <a:t> Probability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9103391"/>
        <c:crosses val="autoZero"/>
        <c:crossBetween val="between"/>
      </c:valAx>
      <c:spPr>
        <a:noFill/>
        <a:ln>
          <a:solidFill>
            <a:schemeClr val="tx2"/>
          </a:solidFill>
        </a:ln>
        <a:effectLst/>
      </c:spPr>
    </c:plotArea>
    <c:plotVisOnly val="1"/>
    <c:dispBlanksAs val="gap"/>
    <c:showDLblsOverMax val="0"/>
  </c:chart>
  <c:spPr>
    <a:noFill/>
    <a:ln>
      <a:solidFill>
        <a:schemeClr val="tx2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/>
              <a:t>Image classfication Probability (with</a:t>
            </a:r>
            <a:r>
              <a:rPr lang="en-US" sz="1800" b="1" baseline="0"/>
              <a:t> label smoothing)</a:t>
            </a:r>
            <a:endParaRPr lang="en-US" sz="18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Probability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Sheet1!$A$9:$A$10</c:f>
              <c:strCache>
                <c:ptCount val="2"/>
                <c:pt idx="0">
                  <c:v>Infected</c:v>
                </c:pt>
                <c:pt idx="1">
                  <c:v>Healthy</c:v>
                </c:pt>
              </c:strCache>
            </c:strRef>
          </c:cat>
          <c:val>
            <c:numRef>
              <c:f>Sheet1!$B$9:$B$10</c:f>
              <c:numCache>
                <c:formatCode>General</c:formatCode>
                <c:ptCount val="2"/>
                <c:pt idx="0">
                  <c:v>0.9</c:v>
                </c:pt>
                <c:pt idx="1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53-4D4F-8A37-D62852D2D52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38968224"/>
        <c:axId val="938968704"/>
      </c:barChart>
      <c:catAx>
        <c:axId val="9389682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MY" sz="1100" b="1"/>
                  <a:t> Class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8968704"/>
        <c:crosses val="autoZero"/>
        <c:auto val="1"/>
        <c:lblAlgn val="ctr"/>
        <c:lblOffset val="100"/>
        <c:noMultiLvlLbl val="0"/>
      </c:catAx>
      <c:valAx>
        <c:axId val="9389687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MY" sz="1100" b="1"/>
                  <a:t>Probabilty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8968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tx2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D9EC85-44AB-42FC-89BC-59FA7CC08BF1}" type="datetimeFigureOut">
              <a:rPr lang="en-AU" smtClean="0"/>
              <a:t>13/10/2025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44A71F-8D60-45DD-9DFF-2AC6448FCC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3363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44A71F-8D60-45DD-9DFF-2AC6448FCCF5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1238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AEAC1-EE56-C5B1-3AE3-8808E557E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754880-242D-46D8-93CC-8203EE263F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D6350-C0DE-DA18-D868-735BE1E90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FD2F6-AA9C-D9A1-18FD-239A2F63BF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44A71F-8D60-45DD-9DFF-2AC6448FCCF5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9241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54135-CEB7-5535-08CF-6A7422261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73EDFF-D4D7-187B-A1E9-F870D7D44D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BA3C08-776D-C3C6-2650-FC68F9277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86DE5-576E-FFCB-FA82-0C2F0BA579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44A71F-8D60-45DD-9DFF-2AC6448FCCF5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0956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5DC88-FC4E-28F6-58D2-70246A60E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B69CFC-9431-1021-C931-EBC1236FC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D341F1-57C6-7B71-C5BE-62B0ABDBA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FBC8A-B40E-0500-DB76-72FD32E14C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44A71F-8D60-45DD-9DFF-2AC6448FCCF5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1358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523FE-6EA7-3D3A-A9AD-5898F229C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1C9BE-999A-8EE7-82AB-6EA0DD727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13094-2AA3-255B-595E-3347E62C6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41111-543A-DA3E-F84B-C20C013BF8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44A71F-8D60-45DD-9DFF-2AC6448FCCF5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45236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44A71F-8D60-45DD-9DFF-2AC6448FCCF5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01053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44A71F-8D60-45DD-9DFF-2AC6448FCCF5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65029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44A71F-8D60-45DD-9DFF-2AC6448FCCF5}" type="slidenum">
              <a:rPr lang="en-AU" smtClean="0"/>
              <a:t>36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27917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6DBE3-091F-1619-E15E-41DE7C275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F3868B-C7DE-301B-0558-515A5B760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0A4342-89AB-05A6-60EB-3374FFA54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D526A-E9D6-DBE3-3B50-17165FA038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44A71F-8D60-45DD-9DFF-2AC6448FCCF5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28950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44A71F-8D60-45DD-9DFF-2AC6448FCCF5}" type="slidenum">
              <a:rPr lang="en-AU" smtClean="0"/>
              <a:t>40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803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6F0F5-964E-45C3-AF72-F50C04141993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58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8308F-FFD2-4EDE-B4E1-6D46C814C7BF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697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86BC6-29F4-4AA9-ADF7-B22CF54F1D17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7527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5A442-8099-4ED5-AABA-80A15F90FE04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615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9F26A-CA3F-46EB-88FF-60826EA368AD}" type="datetime1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041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EE1A3-EEE5-4A2A-943A-BDA06238A782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359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786C0-4775-46E2-8658-3160457D2D89}" type="datetime1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62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BB95A-04EE-4232-A01E-5F704CAE4729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4111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0AB62-5E14-4EC7-952B-21428B8ED33C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14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9F761-3556-4F0A-9395-BB2FE703E883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839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2324E-8B18-454C-AD53-5BD1EF199764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94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42813BB-039F-49CF-AE82-31D61B0DBEA3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828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0.svg"/><Relationship Id="rId5" Type="http://schemas.openxmlformats.org/officeDocument/2006/relationships/image" Target="../media/image25.svg"/><Relationship Id="rId10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gif"/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7" Type="http://schemas.openxmlformats.org/officeDocument/2006/relationships/image" Target="../media/image51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svg"/><Relationship Id="rId4" Type="http://schemas.openxmlformats.org/officeDocument/2006/relationships/image" Target="../media/image48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5BD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4986FD0A-B2F3-0074-F1C5-8B678C4599A3}"/>
              </a:ext>
            </a:extLst>
          </p:cNvPr>
          <p:cNvSpPr/>
          <p:nvPr/>
        </p:nvSpPr>
        <p:spPr>
          <a:xfrm>
            <a:off x="153915" y="165078"/>
            <a:ext cx="11910909" cy="6463292"/>
          </a:xfrm>
          <a:prstGeom prst="round2DiagRect">
            <a:avLst/>
          </a:prstGeom>
          <a:solidFill>
            <a:schemeClr val="bg1"/>
          </a:solidFill>
          <a:ln>
            <a:solidFill>
              <a:srgbClr val="95BDBD"/>
            </a:solidFill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0C8768-41F9-EA04-6AB7-D85FB7584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1502" y="1242679"/>
            <a:ext cx="7280680" cy="2848416"/>
          </a:xfrm>
        </p:spPr>
        <p:txBody>
          <a:bodyPr/>
          <a:lstStyle/>
          <a:p>
            <a:pPr algn="l"/>
            <a:r>
              <a:rPr lang="en-US">
                <a:solidFill>
                  <a:schemeClr val="accent1">
                    <a:lumMod val="49000"/>
                  </a:schemeClr>
                </a:solidFill>
              </a:rPr>
              <a:t>Automated Detection of</a:t>
            </a:r>
            <a:br>
              <a:rPr lang="en-US">
                <a:solidFill>
                  <a:schemeClr val="accent1">
                    <a:lumMod val="49000"/>
                  </a:schemeClr>
                </a:solidFill>
              </a:rPr>
            </a:br>
            <a:r>
              <a:rPr lang="en-US">
                <a:solidFill>
                  <a:schemeClr val="accent1">
                    <a:lumMod val="49000"/>
                  </a:schemeClr>
                </a:solidFill>
              </a:rPr>
              <a:t>Malaria-Infected Cells</a:t>
            </a:r>
            <a:br>
              <a:rPr lang="en-US">
                <a:solidFill>
                  <a:schemeClr val="accent1">
                    <a:lumMod val="49000"/>
                  </a:schemeClr>
                </a:solidFill>
              </a:rPr>
            </a:br>
            <a:r>
              <a:rPr lang="en-US">
                <a:solidFill>
                  <a:schemeClr val="accent1">
                    <a:lumMod val="49000"/>
                  </a:schemeClr>
                </a:solidFill>
              </a:rPr>
              <a:t>from Microscopic Images</a:t>
            </a:r>
            <a:br>
              <a:rPr lang="en-US">
                <a:solidFill>
                  <a:schemeClr val="accent1">
                    <a:lumMod val="49000"/>
                  </a:schemeClr>
                </a:solidFill>
              </a:rPr>
            </a:br>
            <a:r>
              <a:rPr lang="en-US">
                <a:solidFill>
                  <a:schemeClr val="accent1">
                    <a:lumMod val="49000"/>
                  </a:schemeClr>
                </a:solidFill>
              </a:rPr>
              <a:t>using Deep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7B8374-B6E8-064B-1517-14FC6D98C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7923" y="4978298"/>
            <a:ext cx="9647970" cy="10147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AU">
                <a:latin typeface="Bahnschrift" panose="020B0502040204020203" pitchFamily="34" charset="0"/>
                <a:ea typeface="+mn-lt"/>
                <a:cs typeface="+mn-lt"/>
              </a:rPr>
              <a:t>Chow Chun Kei (33520771), Wesley Kong Zhe Hung (33521743),</a:t>
            </a:r>
            <a:br>
              <a:rPr lang="en-AU">
                <a:latin typeface="Bahnschrift" panose="020B0502040204020203" pitchFamily="34" charset="0"/>
                <a:ea typeface="+mn-lt"/>
                <a:cs typeface="+mn-lt"/>
              </a:rPr>
            </a:br>
            <a:r>
              <a:rPr lang="en-AU">
                <a:latin typeface="Bahnschrift" panose="020B0502040204020203" pitchFamily="34" charset="0"/>
                <a:ea typeface="+mn-lt"/>
                <a:cs typeface="+mn-lt"/>
              </a:rPr>
              <a:t>Esher Loh Ci Ying (34392793), Lim Hui Shawn (34017259), Gue Zhen Xue (33521352)</a:t>
            </a:r>
            <a:endParaRPr lang="en-US">
              <a:latin typeface="Bahnschrift" panose="020B0502040204020203" pitchFamily="34" charset="0"/>
              <a:cs typeface="Times New Roman"/>
            </a:endParaRPr>
          </a:p>
        </p:txBody>
      </p:sp>
      <p:pic>
        <p:nvPicPr>
          <p:cNvPr id="4" name="Picture 3" descr="A cartoon of a cell&#10;&#10;AI-generated content may be incorrect.">
            <a:extLst>
              <a:ext uri="{FF2B5EF4-FFF2-40B4-BE49-F238E27FC236}">
                <a16:creationId xmlns:a16="http://schemas.microsoft.com/office/drawing/2014/main" id="{29364CC2-0238-32E5-E9FF-3C8AABF124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62" t="5946" r="7144" b="8914"/>
          <a:stretch>
            <a:fillRect/>
          </a:stretch>
        </p:blipFill>
        <p:spPr>
          <a:xfrm>
            <a:off x="7652085" y="626978"/>
            <a:ext cx="4052924" cy="40769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6B32C-7311-810D-B9A4-B7576F9DE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dirty="0">
                <a:solidFill>
                  <a:schemeClr val="bg1"/>
                </a:solidFill>
                <a:cs typeface="Times New Roman"/>
              </a:rPr>
              <a:t>1</a:t>
            </a:fld>
            <a:endParaRPr lang="en-US" sz="1400">
              <a:solidFill>
                <a:schemeClr val="bg1"/>
              </a:solidFill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828272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46AEB-F6EC-90AC-DC49-D9A8D9EE3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784680"/>
          </a:xfrm>
        </p:spPr>
        <p:txBody>
          <a:bodyPr>
            <a:normAutofit/>
          </a:bodyPr>
          <a:lstStyle/>
          <a:p>
            <a:r>
              <a:rPr lang="en-GB" sz="3200">
                <a:solidFill>
                  <a:schemeClr val="accent1">
                    <a:lumMod val="50000"/>
                  </a:schemeClr>
                </a:solidFill>
              </a:rPr>
              <a:t>Table of Contents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2AA890-C4F3-6F74-DAD3-FFF66DAD2288}"/>
              </a:ext>
            </a:extLst>
          </p:cNvPr>
          <p:cNvSpPr/>
          <p:nvPr/>
        </p:nvSpPr>
        <p:spPr>
          <a:xfrm>
            <a:off x="11632163" y="0"/>
            <a:ext cx="559838" cy="6858000"/>
          </a:xfrm>
          <a:prstGeom prst="rect">
            <a:avLst/>
          </a:prstGeom>
          <a:solidFill>
            <a:srgbClr val="95BDBD"/>
          </a:solidFill>
          <a:ln>
            <a:solidFill>
              <a:srgbClr val="6DAD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78846-FE7B-092F-785B-05E2FE9C7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z="1400" dirty="0">
                <a:solidFill>
                  <a:schemeClr val="bg1"/>
                </a:solidFill>
              </a:rPr>
              <a:t>2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4B7FB78-F443-76F6-ED60-BA68CADA5D4F}"/>
              </a:ext>
            </a:extLst>
          </p:cNvPr>
          <p:cNvSpPr txBox="1">
            <a:spLocks/>
          </p:cNvSpPr>
          <p:nvPr/>
        </p:nvSpPr>
        <p:spPr>
          <a:xfrm>
            <a:off x="1990218" y="1440717"/>
            <a:ext cx="2636320" cy="594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MY" sz="2800"/>
              <a:t>Introduction</a:t>
            </a:r>
          </a:p>
        </p:txBody>
      </p:sp>
      <p:sp>
        <p:nvSpPr>
          <p:cNvPr id="7" name="Teardrop 6">
            <a:extLst>
              <a:ext uri="{FF2B5EF4-FFF2-40B4-BE49-F238E27FC236}">
                <a16:creationId xmlns:a16="http://schemas.microsoft.com/office/drawing/2014/main" id="{C189C654-0EA1-5195-8B80-8507058DDE8E}"/>
              </a:ext>
            </a:extLst>
          </p:cNvPr>
          <p:cNvSpPr/>
          <p:nvPr/>
        </p:nvSpPr>
        <p:spPr>
          <a:xfrm>
            <a:off x="1142202" y="1333321"/>
            <a:ext cx="657806" cy="657806"/>
          </a:xfrm>
          <a:prstGeom prst="teardrop">
            <a:avLst/>
          </a:prstGeom>
          <a:solidFill>
            <a:srgbClr val="95BDB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2000" b="1"/>
              <a:t>1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5972DA6-F2E2-9CAD-8B24-6F11B6B38EED}"/>
              </a:ext>
            </a:extLst>
          </p:cNvPr>
          <p:cNvSpPr txBox="1">
            <a:spLocks/>
          </p:cNvSpPr>
          <p:nvPr/>
        </p:nvSpPr>
        <p:spPr>
          <a:xfrm>
            <a:off x="1990218" y="2320759"/>
            <a:ext cx="2636320" cy="594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MY" sz="2800"/>
              <a:t>Data Loading</a:t>
            </a:r>
          </a:p>
        </p:txBody>
      </p:sp>
      <p:sp>
        <p:nvSpPr>
          <p:cNvPr id="15" name="Teardrop 14">
            <a:extLst>
              <a:ext uri="{FF2B5EF4-FFF2-40B4-BE49-F238E27FC236}">
                <a16:creationId xmlns:a16="http://schemas.microsoft.com/office/drawing/2014/main" id="{DF5F960A-72C0-B201-D346-2F3C667BCF8C}"/>
              </a:ext>
            </a:extLst>
          </p:cNvPr>
          <p:cNvSpPr/>
          <p:nvPr/>
        </p:nvSpPr>
        <p:spPr>
          <a:xfrm>
            <a:off x="1142202" y="2209033"/>
            <a:ext cx="657806" cy="657806"/>
          </a:xfrm>
          <a:prstGeom prst="teardrop">
            <a:avLst/>
          </a:prstGeom>
          <a:solidFill>
            <a:srgbClr val="89C6D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2000" b="1"/>
              <a:t>2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8EDA451-A809-F7FB-C3D2-77D1AC60FFE1}"/>
              </a:ext>
            </a:extLst>
          </p:cNvPr>
          <p:cNvSpPr txBox="1">
            <a:spLocks/>
          </p:cNvSpPr>
          <p:nvPr/>
        </p:nvSpPr>
        <p:spPr>
          <a:xfrm>
            <a:off x="1990218" y="3187714"/>
            <a:ext cx="6227506" cy="5943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MY" sz="2800"/>
              <a:t>Exploratory Data Analysis (EDA)</a:t>
            </a:r>
          </a:p>
        </p:txBody>
      </p:sp>
      <p:sp>
        <p:nvSpPr>
          <p:cNvPr id="17" name="Teardrop 16">
            <a:extLst>
              <a:ext uri="{FF2B5EF4-FFF2-40B4-BE49-F238E27FC236}">
                <a16:creationId xmlns:a16="http://schemas.microsoft.com/office/drawing/2014/main" id="{A85C7FA2-2A8B-9B00-6123-1963C0B91B78}"/>
              </a:ext>
            </a:extLst>
          </p:cNvPr>
          <p:cNvSpPr/>
          <p:nvPr/>
        </p:nvSpPr>
        <p:spPr>
          <a:xfrm>
            <a:off x="1142202" y="3083981"/>
            <a:ext cx="657806" cy="657806"/>
          </a:xfrm>
          <a:prstGeom prst="teardrop">
            <a:avLst/>
          </a:prstGeom>
          <a:solidFill>
            <a:srgbClr val="9FB0E6"/>
          </a:solidFill>
          <a:ln>
            <a:solidFill>
              <a:srgbClr val="9FB0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2000" b="1"/>
              <a:t>3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71B11BE-D06E-E7D2-471A-D88E7C8C0BB2}"/>
              </a:ext>
            </a:extLst>
          </p:cNvPr>
          <p:cNvSpPr txBox="1">
            <a:spLocks/>
          </p:cNvSpPr>
          <p:nvPr/>
        </p:nvSpPr>
        <p:spPr>
          <a:xfrm>
            <a:off x="1990218" y="4067756"/>
            <a:ext cx="2636320" cy="594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MY" sz="2800"/>
              <a:t>Modelling</a:t>
            </a:r>
          </a:p>
        </p:txBody>
      </p:sp>
      <p:sp>
        <p:nvSpPr>
          <p:cNvPr id="19" name="Teardrop 18">
            <a:extLst>
              <a:ext uri="{FF2B5EF4-FFF2-40B4-BE49-F238E27FC236}">
                <a16:creationId xmlns:a16="http://schemas.microsoft.com/office/drawing/2014/main" id="{74A94010-3762-7F97-9790-7F2B00542B65}"/>
              </a:ext>
            </a:extLst>
          </p:cNvPr>
          <p:cNvSpPr/>
          <p:nvPr/>
        </p:nvSpPr>
        <p:spPr>
          <a:xfrm>
            <a:off x="1142202" y="3958929"/>
            <a:ext cx="657806" cy="657806"/>
          </a:xfrm>
          <a:prstGeom prst="teardrop">
            <a:avLst/>
          </a:prstGeom>
          <a:solidFill>
            <a:srgbClr val="7C90D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2000" b="1"/>
              <a:t>4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77A86E2-C8CB-E181-7FC8-C5583CC82483}"/>
              </a:ext>
            </a:extLst>
          </p:cNvPr>
          <p:cNvSpPr txBox="1">
            <a:spLocks/>
          </p:cNvSpPr>
          <p:nvPr/>
        </p:nvSpPr>
        <p:spPr>
          <a:xfrm>
            <a:off x="1990218" y="4947798"/>
            <a:ext cx="2636320" cy="594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MY" sz="2800"/>
              <a:t>Results</a:t>
            </a:r>
          </a:p>
        </p:txBody>
      </p:sp>
      <p:sp>
        <p:nvSpPr>
          <p:cNvPr id="21" name="Teardrop 20">
            <a:extLst>
              <a:ext uri="{FF2B5EF4-FFF2-40B4-BE49-F238E27FC236}">
                <a16:creationId xmlns:a16="http://schemas.microsoft.com/office/drawing/2014/main" id="{4A78F46E-97C8-569B-246E-61986F9C5EB5}"/>
              </a:ext>
            </a:extLst>
          </p:cNvPr>
          <p:cNvSpPr/>
          <p:nvPr/>
        </p:nvSpPr>
        <p:spPr>
          <a:xfrm>
            <a:off x="1142202" y="4833877"/>
            <a:ext cx="657806" cy="657806"/>
          </a:xfrm>
          <a:prstGeom prst="teardrop">
            <a:avLst/>
          </a:prstGeom>
          <a:solidFill>
            <a:srgbClr val="E1AEC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2000" b="1"/>
              <a:t>5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1C5270A3-2B56-12D1-81C8-239243E69DB5}"/>
              </a:ext>
            </a:extLst>
          </p:cNvPr>
          <p:cNvSpPr txBox="1">
            <a:spLocks/>
          </p:cNvSpPr>
          <p:nvPr/>
        </p:nvSpPr>
        <p:spPr>
          <a:xfrm>
            <a:off x="1990218" y="5781730"/>
            <a:ext cx="2636320" cy="594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MY" sz="2800"/>
              <a:t>Conclusions</a:t>
            </a:r>
          </a:p>
        </p:txBody>
      </p:sp>
      <p:sp>
        <p:nvSpPr>
          <p:cNvPr id="23" name="Teardrop 22">
            <a:extLst>
              <a:ext uri="{FF2B5EF4-FFF2-40B4-BE49-F238E27FC236}">
                <a16:creationId xmlns:a16="http://schemas.microsoft.com/office/drawing/2014/main" id="{1A0F217B-A248-509B-9AC5-D0A28219DED3}"/>
              </a:ext>
            </a:extLst>
          </p:cNvPr>
          <p:cNvSpPr/>
          <p:nvPr/>
        </p:nvSpPr>
        <p:spPr>
          <a:xfrm>
            <a:off x="1142202" y="5701559"/>
            <a:ext cx="657806" cy="657806"/>
          </a:xfrm>
          <a:prstGeom prst="teardrop">
            <a:avLst/>
          </a:prstGeom>
          <a:solidFill>
            <a:srgbClr val="EEC4C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2000" b="1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82058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71CE9-86C3-66EF-0043-BC62A654A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8067" y="2747700"/>
            <a:ext cx="5980839" cy="1266131"/>
          </a:xfrm>
        </p:spPr>
        <p:txBody>
          <a:bodyPr/>
          <a:lstStyle/>
          <a:p>
            <a:pPr algn="r"/>
            <a:r>
              <a:rPr lang="en-MY">
                <a:solidFill>
                  <a:srgbClr val="467271"/>
                </a:solidFill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C43F10-A3A0-310E-B691-AF03D34D0F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3079" y="4013831"/>
            <a:ext cx="8305827" cy="1089798"/>
          </a:xfrm>
        </p:spPr>
        <p:txBody>
          <a:bodyPr>
            <a:normAutofit/>
          </a:bodyPr>
          <a:lstStyle/>
          <a:p>
            <a:pPr algn="r"/>
            <a:r>
              <a:rPr lang="en-MY" sz="2400">
                <a:latin typeface="Bahnschrift" panose="020B0502040204020203" pitchFamily="34" charset="0"/>
              </a:rPr>
              <a:t>Background, Problem Statement, Research 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4A587-0F9A-3967-64E2-14EDE8582CB7}"/>
              </a:ext>
            </a:extLst>
          </p:cNvPr>
          <p:cNvSpPr/>
          <p:nvPr/>
        </p:nvSpPr>
        <p:spPr>
          <a:xfrm>
            <a:off x="11632163" y="0"/>
            <a:ext cx="559838" cy="6858000"/>
          </a:xfrm>
          <a:prstGeom prst="rect">
            <a:avLst/>
          </a:prstGeom>
          <a:solidFill>
            <a:srgbClr val="95BDBD"/>
          </a:solidFill>
          <a:ln>
            <a:solidFill>
              <a:srgbClr val="76AB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2DC78-2B3D-71CD-5E22-20F2EE111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smtClean="0">
                <a:solidFill>
                  <a:schemeClr val="bg1"/>
                </a:solidFill>
              </a:rPr>
              <a:t>3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6" name="Teardrop 5">
            <a:extLst>
              <a:ext uri="{FF2B5EF4-FFF2-40B4-BE49-F238E27FC236}">
                <a16:creationId xmlns:a16="http://schemas.microsoft.com/office/drawing/2014/main" id="{2B42E38B-0D1D-2B67-AC86-C85452B122F6}"/>
              </a:ext>
            </a:extLst>
          </p:cNvPr>
          <p:cNvSpPr/>
          <p:nvPr/>
        </p:nvSpPr>
        <p:spPr>
          <a:xfrm>
            <a:off x="9393564" y="1842071"/>
            <a:ext cx="1266131" cy="1266131"/>
          </a:xfrm>
          <a:prstGeom prst="teardrop">
            <a:avLst/>
          </a:prstGeom>
          <a:solidFill>
            <a:srgbClr val="95BDBD"/>
          </a:solidFill>
          <a:ln>
            <a:solidFill>
              <a:srgbClr val="76AB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3600" b="1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983829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EEAB8-9A5D-2C2C-EFF6-4631E80A8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6" name="Picture 2">
            <a:extLst>
              <a:ext uri="{FF2B5EF4-FFF2-40B4-BE49-F238E27FC236}">
                <a16:creationId xmlns:a16="http://schemas.microsoft.com/office/drawing/2014/main" id="{11BBFB39-B396-1C44-81E3-6F7C60F39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726" y="4032129"/>
            <a:ext cx="2219324" cy="2219324"/>
          </a:xfrm>
          <a:prstGeom prst="rect">
            <a:avLst/>
          </a:prstGeom>
          <a:solidFill>
            <a:srgbClr val="669966"/>
          </a:solidFill>
        </p:spPr>
      </p:pic>
      <p:pic>
        <p:nvPicPr>
          <p:cNvPr id="1032" name="Picture 8" descr="Gender gaps remain for many women scientists, UO study finds | OregonNews">
            <a:extLst>
              <a:ext uri="{FF2B5EF4-FFF2-40B4-BE49-F238E27FC236}">
                <a16:creationId xmlns:a16="http://schemas.microsoft.com/office/drawing/2014/main" id="{1F0C3A5B-A50E-3A01-8C8C-45C6AFAA78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06" b="38623"/>
          <a:stretch>
            <a:fillRect/>
          </a:stretch>
        </p:blipFill>
        <p:spPr bwMode="auto">
          <a:xfrm>
            <a:off x="-1" y="1849435"/>
            <a:ext cx="12192001" cy="1759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7F06616-D583-38C2-4216-2518E2D2D0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" y="1824143"/>
            <a:ext cx="12192000" cy="178498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9443CDE-2028-6D48-EE35-5D5E2A3DE4C6}"/>
              </a:ext>
            </a:extLst>
          </p:cNvPr>
          <p:cNvSpPr/>
          <p:nvPr/>
        </p:nvSpPr>
        <p:spPr>
          <a:xfrm>
            <a:off x="0" y="6439614"/>
            <a:ext cx="12192001" cy="418385"/>
          </a:xfrm>
          <a:prstGeom prst="rect">
            <a:avLst/>
          </a:prstGeom>
          <a:solidFill>
            <a:srgbClr val="95BDBD"/>
          </a:solidFill>
          <a:ln>
            <a:solidFill>
              <a:srgbClr val="76AB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930EAF-3EFD-970F-BED8-CB3C30108422}"/>
              </a:ext>
            </a:extLst>
          </p:cNvPr>
          <p:cNvSpPr txBox="1"/>
          <p:nvPr/>
        </p:nvSpPr>
        <p:spPr>
          <a:xfrm>
            <a:off x="540775" y="491613"/>
            <a:ext cx="2643672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zh-CN" sz="3200" b="1">
                <a:solidFill>
                  <a:srgbClr val="467271"/>
                </a:solidFill>
                <a:latin typeface="Neue Haas Grotesk Text Pro"/>
                <a:cs typeface="Arial"/>
              </a:rPr>
              <a:t>Introduction</a:t>
            </a:r>
            <a:endParaRPr lang="en-US" i="1" spc="100">
              <a:solidFill>
                <a:srgbClr val="467271"/>
              </a:solidFill>
              <a:latin typeface="Candara" panose="020E05020303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D20D9A-A00E-8B54-3D8E-541BF16B9930}"/>
              </a:ext>
            </a:extLst>
          </p:cNvPr>
          <p:cNvSpPr txBox="1"/>
          <p:nvPr/>
        </p:nvSpPr>
        <p:spPr>
          <a:xfrm>
            <a:off x="559837" y="1159826"/>
            <a:ext cx="20056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rgbClr val="6CA4A3"/>
                </a:solidFill>
                <a:latin typeface="+mj-lt"/>
                <a:cs typeface="Times New Roman"/>
              </a:rPr>
              <a:t>Background</a:t>
            </a:r>
            <a:endParaRPr lang="en-AU" sz="2400" b="1">
              <a:solidFill>
                <a:srgbClr val="6CA4A3"/>
              </a:solidFill>
              <a:latin typeface="+mj-lt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B5DB6-9849-D113-25DB-EC12E1256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dirty="0">
                <a:solidFill>
                  <a:schemeClr val="bg1"/>
                </a:solidFill>
              </a:rPr>
              <a:t>4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A09BF9-E57D-ADD8-C5E0-B7D9C0C8943B}"/>
              </a:ext>
            </a:extLst>
          </p:cNvPr>
          <p:cNvSpPr txBox="1"/>
          <p:nvPr/>
        </p:nvSpPr>
        <p:spPr>
          <a:xfrm>
            <a:off x="4976938" y="2516579"/>
            <a:ext cx="22381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chemeClr val="bg1"/>
                </a:solidFill>
                <a:latin typeface="+mj-lt"/>
                <a:cs typeface="Times New Roman"/>
              </a:rPr>
              <a:t>What is Malaria?</a:t>
            </a:r>
            <a:endParaRPr lang="en-AU" sz="2000" b="1">
              <a:solidFill>
                <a:schemeClr val="bg1"/>
              </a:solidFill>
              <a:latin typeface="+mj-lt"/>
              <a:cs typeface="Times New Roman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56A893-9FA4-E847-DC63-00A9FA63A8C3}"/>
              </a:ext>
            </a:extLst>
          </p:cNvPr>
          <p:cNvSpPr txBox="1"/>
          <p:nvPr/>
        </p:nvSpPr>
        <p:spPr>
          <a:xfrm>
            <a:off x="373024" y="2073308"/>
            <a:ext cx="2544376" cy="501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US" sz="2000" b="1">
                <a:latin typeface="Bahnschrift" panose="020B0502040204020203" pitchFamily="34" charset="0"/>
                <a:ea typeface="+mn-lt"/>
                <a:cs typeface="+mn-lt"/>
              </a:rPr>
              <a:t>Parasitic Disease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E1EC5C-A3C7-47BF-AD20-4B033EDEDD40}"/>
              </a:ext>
            </a:extLst>
          </p:cNvPr>
          <p:cNvSpPr txBox="1"/>
          <p:nvPr/>
        </p:nvSpPr>
        <p:spPr>
          <a:xfrm>
            <a:off x="295579" y="2708087"/>
            <a:ext cx="4385779" cy="700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95BDBD"/>
              </a:buClr>
              <a:buFont typeface="Wingdings" panose="05000000000000000000" pitchFamily="2" charset="2"/>
              <a:buChar char="v"/>
            </a:pPr>
            <a:r>
              <a:rPr lang="en-US" sz="1400">
                <a:latin typeface="Bahnschrift" panose="020B0502040204020203" pitchFamily="34" charset="0"/>
                <a:ea typeface="+mn-lt"/>
                <a:cs typeface="+mn-lt"/>
              </a:rPr>
              <a:t>infecting red blood cells</a:t>
            </a:r>
          </a:p>
          <a:p>
            <a:pPr marL="285750" indent="-285750">
              <a:lnSpc>
                <a:spcPct val="150000"/>
              </a:lnSpc>
              <a:buClr>
                <a:srgbClr val="95BDBD"/>
              </a:buClr>
              <a:buFont typeface="Wingdings" panose="05000000000000000000" pitchFamily="2" charset="2"/>
              <a:buChar char="v"/>
            </a:pPr>
            <a:r>
              <a:rPr lang="en-US" sz="1400">
                <a:latin typeface="Bahnschrift" panose="020B0502040204020203" pitchFamily="34" charset="0"/>
                <a:ea typeface="+mn-lt"/>
                <a:cs typeface="+mn-lt"/>
              </a:rPr>
              <a:t>could be transmitted by </a:t>
            </a:r>
            <a:r>
              <a:rPr lang="en-US" sz="1400" i="1">
                <a:latin typeface="Bahnschrift" panose="020B0502040204020203" pitchFamily="34" charset="0"/>
                <a:ea typeface="+mn-lt"/>
                <a:cs typeface="+mn-lt"/>
              </a:rPr>
              <a:t>Anopheles</a:t>
            </a:r>
            <a:r>
              <a:rPr lang="en-US" sz="1400">
                <a:latin typeface="Bahnschrift" panose="020B0502040204020203" pitchFamily="34" charset="0"/>
                <a:ea typeface="+mn-lt"/>
                <a:cs typeface="+mn-lt"/>
              </a:rPr>
              <a:t> </a:t>
            </a:r>
            <a:r>
              <a:rPr lang="en-US" sz="1400" b="1">
                <a:latin typeface="Bahnschrift" panose="020B0502040204020203" pitchFamily="34" charset="0"/>
                <a:ea typeface="+mn-lt"/>
                <a:cs typeface="+mn-lt"/>
              </a:rPr>
              <a:t>mosquitoes</a:t>
            </a:r>
            <a:endParaRPr lang="en-US" sz="1400">
              <a:latin typeface="Bahnschrift" panose="020B0502040204020203" pitchFamily="34" charset="0"/>
              <a:ea typeface="+mn-lt"/>
              <a:cs typeface="+mn-lt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2C3A3AB-9E40-B7B5-2245-6DC11F039FB2}"/>
              </a:ext>
            </a:extLst>
          </p:cNvPr>
          <p:cNvSpPr txBox="1"/>
          <p:nvPr/>
        </p:nvSpPr>
        <p:spPr>
          <a:xfrm>
            <a:off x="8709022" y="2078595"/>
            <a:ext cx="3109954" cy="501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buClr>
                <a:schemeClr val="tx1"/>
              </a:buClr>
            </a:pPr>
            <a:r>
              <a:rPr lang="en-US" altLang="zh-CN" sz="2000" b="1">
                <a:latin typeface="Bahnschrift" panose="020B0502040204020203" pitchFamily="34" charset="0"/>
                <a:ea typeface="+mn-lt"/>
                <a:cs typeface="+mn-lt"/>
              </a:rPr>
              <a:t>Life-threatening Disease</a:t>
            </a:r>
            <a:endParaRPr lang="en-US" sz="2000" b="1">
              <a:latin typeface="Bahnschrift" panose="020B0502040204020203" pitchFamily="34" charset="0"/>
              <a:ea typeface="+mn-lt"/>
              <a:cs typeface="+mn-l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FED31BC-6FDD-7D51-B6CE-1962B2E0332E}"/>
              </a:ext>
            </a:extLst>
          </p:cNvPr>
          <p:cNvSpPr txBox="1"/>
          <p:nvPr/>
        </p:nvSpPr>
        <p:spPr>
          <a:xfrm>
            <a:off x="8452859" y="2714050"/>
            <a:ext cx="3288226" cy="694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r">
              <a:lnSpc>
                <a:spcPct val="150000"/>
              </a:lnSpc>
              <a:buClr>
                <a:srgbClr val="95BDBD"/>
              </a:buClr>
              <a:buFont typeface="Wingdings" panose="05000000000000000000" pitchFamily="2" charset="2"/>
              <a:buChar char="v"/>
            </a:pPr>
            <a:r>
              <a:rPr lang="en-US" sz="1400">
                <a:latin typeface="Bahnschrift" panose="020B0502040204020203" pitchFamily="34" charset="0"/>
                <a:ea typeface="+mn-lt"/>
                <a:cs typeface="+mn-lt"/>
              </a:rPr>
              <a:t>  if it is untreated </a:t>
            </a:r>
          </a:p>
          <a:p>
            <a:pPr marL="171450" indent="-171450" algn="r">
              <a:lnSpc>
                <a:spcPct val="150000"/>
              </a:lnSpc>
              <a:buClr>
                <a:srgbClr val="95BDBD"/>
              </a:buClr>
              <a:buFont typeface="Wingdings" panose="05000000000000000000" pitchFamily="2" charset="2"/>
              <a:buChar char="v"/>
            </a:pPr>
            <a:r>
              <a:rPr lang="en-US" sz="1400">
                <a:latin typeface="Bahnschrift" panose="020B0502040204020203" pitchFamily="34" charset="0"/>
                <a:ea typeface="+mn-lt"/>
                <a:cs typeface="+mn-lt"/>
              </a:rPr>
              <a:t> severe anemia &amp; acute organ failure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ADD26E-363A-6765-CD20-FE609482CFB8}"/>
              </a:ext>
            </a:extLst>
          </p:cNvPr>
          <p:cNvSpPr txBox="1"/>
          <p:nvPr/>
        </p:nvSpPr>
        <p:spPr>
          <a:xfrm>
            <a:off x="6603433" y="4998059"/>
            <a:ext cx="3493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>
                <a:latin typeface="Bahnschrift" panose="020B0502040204020203" pitchFamily="34" charset="0"/>
                <a:cs typeface="Times New Roman"/>
              </a:rPr>
              <a:t>was home to </a:t>
            </a:r>
            <a:r>
              <a:rPr lang="en-US" sz="1200" b="1" i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94%</a:t>
            </a:r>
            <a:r>
              <a:rPr lang="en-US" sz="1100" b="1" i="1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  <a:cs typeface="Times New Roman"/>
              </a:rPr>
              <a:t> </a:t>
            </a:r>
            <a:r>
              <a:rPr lang="en-US" sz="1050">
                <a:latin typeface="Bahnschrift" panose="020B0502040204020203" pitchFamily="34" charset="0"/>
                <a:cs typeface="Times New Roman"/>
              </a:rPr>
              <a:t>of </a:t>
            </a:r>
            <a:r>
              <a:rPr lang="en-US" sz="1050" b="1">
                <a:latin typeface="Bahnschrift" panose="020B0502040204020203" pitchFamily="34" charset="0"/>
                <a:cs typeface="Times New Roman"/>
              </a:rPr>
              <a:t>malaria </a:t>
            </a:r>
            <a:r>
              <a:rPr lang="en-US" sz="1050" b="1">
                <a:solidFill>
                  <a:schemeClr val="bg2">
                    <a:lumMod val="50000"/>
                  </a:schemeClr>
                </a:solidFill>
                <a:latin typeface="Bahnschrift" panose="020B0502040204020203" pitchFamily="34" charset="0"/>
                <a:cs typeface="Times New Roman"/>
              </a:rPr>
              <a:t>cases</a:t>
            </a:r>
            <a:r>
              <a:rPr lang="en-US" sz="1050">
                <a:latin typeface="Bahnschrift" panose="020B0502040204020203" pitchFamily="34" charset="0"/>
                <a:cs typeface="Times New Roman"/>
              </a:rPr>
              <a:t> (~246 million) &amp; </a:t>
            </a:r>
            <a:r>
              <a:rPr lang="en-US" sz="1200" b="1" i="1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95%</a:t>
            </a:r>
            <a:r>
              <a:rPr lang="en-US" sz="1050">
                <a:latin typeface="Bahnschrift" panose="020B0502040204020203" pitchFamily="34" charset="0"/>
                <a:cs typeface="Times New Roman"/>
              </a:rPr>
              <a:t> (~569,000) of </a:t>
            </a:r>
            <a:r>
              <a:rPr lang="en-US" sz="1050" b="1">
                <a:latin typeface="Bahnschrift" panose="020B0502040204020203" pitchFamily="34" charset="0"/>
                <a:cs typeface="Times New Roman"/>
              </a:rPr>
              <a:t>malaria </a:t>
            </a:r>
            <a:r>
              <a:rPr lang="en-US" sz="1050" b="1">
                <a:solidFill>
                  <a:schemeClr val="accent3">
                    <a:lumMod val="75000"/>
                  </a:schemeClr>
                </a:solidFill>
                <a:latin typeface="Bahnschrift" panose="020B0502040204020203" pitchFamily="34" charset="0"/>
                <a:cs typeface="Times New Roman"/>
              </a:rPr>
              <a:t>deaths</a:t>
            </a:r>
            <a:endParaRPr lang="en-US" sz="800">
              <a:solidFill>
                <a:schemeClr val="accent3">
                  <a:lumMod val="75000"/>
                </a:schemeClr>
              </a:solidFill>
              <a:latin typeface="Bahnschrift" panose="020B0502040204020203" pitchFamily="34" charset="0"/>
              <a:ea typeface="Noto Sans"/>
              <a:cs typeface="Noto San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51421D4-3419-FBE2-F632-962BEFD9D096}"/>
              </a:ext>
            </a:extLst>
          </p:cNvPr>
          <p:cNvSpPr txBox="1"/>
          <p:nvPr/>
        </p:nvSpPr>
        <p:spPr>
          <a:xfrm>
            <a:off x="6095995" y="6074839"/>
            <a:ext cx="58761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50">
                <a:latin typeface="Bahnschrift" panose="020B0502040204020203" pitchFamily="34" charset="0"/>
                <a:cs typeface="Times New Roman"/>
              </a:rPr>
              <a:t>according to World Health Organization (WHO) Malaria Report 2024</a:t>
            </a:r>
          </a:p>
        </p:txBody>
      </p:sp>
      <p:sp>
        <p:nvSpPr>
          <p:cNvPr id="1428" name="TextBox 1427">
            <a:extLst>
              <a:ext uri="{FF2B5EF4-FFF2-40B4-BE49-F238E27FC236}">
                <a16:creationId xmlns:a16="http://schemas.microsoft.com/office/drawing/2014/main" id="{027D728B-FA04-05F4-7337-F9066BCFC328}"/>
              </a:ext>
            </a:extLst>
          </p:cNvPr>
          <p:cNvSpPr txBox="1"/>
          <p:nvPr/>
        </p:nvSpPr>
        <p:spPr>
          <a:xfrm>
            <a:off x="5299821" y="4417654"/>
            <a:ext cx="61007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cs typeface="Times New Roman"/>
              </a:rPr>
              <a:t>sub-Saharan Africa</a:t>
            </a:r>
            <a:r>
              <a:rPr lang="en-US" sz="320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cs typeface="Times New Roman"/>
              </a:rPr>
              <a:t> </a:t>
            </a:r>
            <a:endParaRPr lang="en-AU" sz="3200"/>
          </a:p>
        </p:txBody>
      </p:sp>
    </p:spTree>
    <p:extLst>
      <p:ext uri="{BB962C8B-B14F-4D97-AF65-F5344CB8AC3E}">
        <p14:creationId xmlns:p14="http://schemas.microsoft.com/office/powerpoint/2010/main" val="320351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1" grpId="0"/>
      <p:bldP spid="42" grpId="0"/>
      <p:bldP spid="44" grpId="0"/>
      <p:bldP spid="46" grpId="0"/>
      <p:bldP spid="50" grpId="0"/>
      <p:bldP spid="14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853F4-273A-11FE-C9C6-17D2C17A3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9B0B16D-6E61-12D6-B89C-5DB4A5BF976F}"/>
              </a:ext>
            </a:extLst>
          </p:cNvPr>
          <p:cNvSpPr/>
          <p:nvPr/>
        </p:nvSpPr>
        <p:spPr>
          <a:xfrm>
            <a:off x="0" y="6439614"/>
            <a:ext cx="12192001" cy="418385"/>
          </a:xfrm>
          <a:prstGeom prst="rect">
            <a:avLst/>
          </a:prstGeom>
          <a:solidFill>
            <a:srgbClr val="95BDBD"/>
          </a:solidFill>
          <a:ln>
            <a:solidFill>
              <a:srgbClr val="76AB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E38BBC-BC3E-8326-0841-A56E965D7484}"/>
              </a:ext>
            </a:extLst>
          </p:cNvPr>
          <p:cNvSpPr txBox="1"/>
          <p:nvPr/>
        </p:nvSpPr>
        <p:spPr>
          <a:xfrm>
            <a:off x="540775" y="491613"/>
            <a:ext cx="2643672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zh-CN" sz="3200" b="1">
                <a:solidFill>
                  <a:srgbClr val="467271"/>
                </a:solidFill>
                <a:latin typeface="Neue Haas Grotesk Text Pro"/>
                <a:cs typeface="Arial"/>
              </a:rPr>
              <a:t>Introduction</a:t>
            </a:r>
            <a:endParaRPr lang="en-US" i="1" spc="100">
              <a:solidFill>
                <a:srgbClr val="467271"/>
              </a:solidFill>
              <a:latin typeface="Candara" panose="020E05020303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411D70-F43D-C16A-8A01-E1CEB393AB6A}"/>
              </a:ext>
            </a:extLst>
          </p:cNvPr>
          <p:cNvSpPr txBox="1"/>
          <p:nvPr/>
        </p:nvSpPr>
        <p:spPr>
          <a:xfrm>
            <a:off x="559837" y="1159826"/>
            <a:ext cx="31037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rgbClr val="6CA4A3"/>
                </a:solidFill>
                <a:latin typeface="+mj-lt"/>
                <a:cs typeface="Times New Roman"/>
              </a:rPr>
              <a:t>Problem Statement</a:t>
            </a:r>
            <a:endParaRPr lang="en-AU" sz="2400" b="1">
              <a:solidFill>
                <a:srgbClr val="6CA4A3"/>
              </a:solidFill>
              <a:latin typeface="+mj-lt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7F02A-9E44-9A08-A263-5474F67E0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dirty="0">
                <a:solidFill>
                  <a:schemeClr val="bg1"/>
                </a:solidFill>
              </a:rPr>
              <a:t>5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87A987-2856-2E5E-339E-102FC3778F29}"/>
              </a:ext>
            </a:extLst>
          </p:cNvPr>
          <p:cNvSpPr txBox="1"/>
          <p:nvPr/>
        </p:nvSpPr>
        <p:spPr>
          <a:xfrm>
            <a:off x="559837" y="2470459"/>
            <a:ext cx="4578664" cy="37760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>
                <a:latin typeface="Bahnschrift" panose="020B0502040204020203" pitchFamily="34" charset="0"/>
                <a:ea typeface="+mn-lt"/>
                <a:cs typeface="Times New Roman"/>
              </a:rPr>
              <a:t>Malaria is detected through </a:t>
            </a:r>
            <a:r>
              <a:rPr lang="en-US" sz="1400" b="1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  <a:ea typeface="+mn-lt"/>
                <a:cs typeface="Times New Roman"/>
              </a:rPr>
              <a:t>blood smear microscopy</a:t>
            </a:r>
            <a:r>
              <a:rPr lang="en-US" sz="1400" b="1">
                <a:latin typeface="Bahnschrift" panose="020B0502040204020203" pitchFamily="34" charset="0"/>
                <a:ea typeface="+mn-lt"/>
                <a:cs typeface="Times New Roman"/>
              </a:rPr>
              <a:t>:</a:t>
            </a:r>
            <a:endParaRPr lang="en-US" sz="1400">
              <a:latin typeface="Bahnschrift" panose="020B0502040204020203" pitchFamily="34" charset="0"/>
              <a:ea typeface="+mn-lt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62F976-88ED-CDEC-A71B-DD4FDBAD9C93}"/>
              </a:ext>
            </a:extLst>
          </p:cNvPr>
          <p:cNvSpPr txBox="1"/>
          <p:nvPr/>
        </p:nvSpPr>
        <p:spPr>
          <a:xfrm>
            <a:off x="607232" y="2848063"/>
            <a:ext cx="3518322" cy="700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Bahnschrift" panose="020B0502040204020203" pitchFamily="34" charset="0"/>
              <a:buChar char="›"/>
            </a:pPr>
            <a:r>
              <a:rPr lang="en-US" sz="1400" i="1">
                <a:latin typeface="Bahnschrift" panose="020B0502040204020203" pitchFamily="34" charset="0"/>
                <a:ea typeface="+mn-lt"/>
                <a:cs typeface="Times New Roman"/>
              </a:rPr>
              <a:t>Time consuming</a:t>
            </a:r>
          </a:p>
          <a:p>
            <a:pPr marL="285750" indent="-285750" algn="just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Bahnschrift" panose="020B0502040204020203" pitchFamily="34" charset="0"/>
              <a:buChar char="›"/>
            </a:pPr>
            <a:r>
              <a:rPr lang="en-US" sz="1400" i="1">
                <a:latin typeface="Bahnschrift" panose="020B0502040204020203" pitchFamily="34" charset="0"/>
                <a:ea typeface="+mn-lt"/>
                <a:cs typeface="Times New Roman"/>
              </a:rPr>
              <a:t>Requires skilled microscopists</a:t>
            </a:r>
            <a:endParaRPr lang="en-US" sz="1400">
              <a:latin typeface="Bahnschrift" panose="020B0502040204020203" pitchFamily="34" charset="0"/>
              <a:ea typeface="+mn-lt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9FD034-4D81-58A8-939A-2AB244772664}"/>
              </a:ext>
            </a:extLst>
          </p:cNvPr>
          <p:cNvSpPr txBox="1"/>
          <p:nvPr/>
        </p:nvSpPr>
        <p:spPr>
          <a:xfrm>
            <a:off x="5917162" y="2539552"/>
            <a:ext cx="5922413" cy="102393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Bahnschrift" panose="020B0502040204020203" pitchFamily="34" charset="0"/>
                <a:ea typeface="+mn-lt"/>
                <a:cs typeface="Times New Roman"/>
              </a:rPr>
              <a:t>These resources are </a:t>
            </a:r>
            <a:r>
              <a:rPr lang="en-US" sz="1400" b="1">
                <a:solidFill>
                  <a:srgbClr val="518584"/>
                </a:solidFill>
                <a:latin typeface="Bahnschrift" panose="020B0502040204020203" pitchFamily="34" charset="0"/>
                <a:ea typeface="+mn-lt"/>
                <a:cs typeface="Times New Roman"/>
              </a:rPr>
              <a:t>very limited</a:t>
            </a:r>
            <a:r>
              <a:rPr lang="en-US" sz="1400">
                <a:solidFill>
                  <a:srgbClr val="518584"/>
                </a:solidFill>
                <a:latin typeface="Bahnschrift" panose="020B0502040204020203" pitchFamily="34" charset="0"/>
                <a:ea typeface="+mn-lt"/>
                <a:cs typeface="Times New Roman"/>
              </a:rPr>
              <a:t> </a:t>
            </a:r>
            <a:r>
              <a:rPr lang="en-US" sz="1400">
                <a:latin typeface="Bahnschrift" panose="020B0502040204020203" pitchFamily="34" charset="0"/>
                <a:ea typeface="+mn-lt"/>
                <a:cs typeface="Times New Roman"/>
              </a:rPr>
              <a:t>in sub-Saharan Africa, the region with the </a:t>
            </a:r>
            <a:r>
              <a:rPr lang="en-US" sz="1400" i="1">
                <a:latin typeface="Bahnschrift" panose="020B0502040204020203" pitchFamily="34" charset="0"/>
                <a:ea typeface="+mn-lt"/>
                <a:cs typeface="Times New Roman"/>
              </a:rPr>
              <a:t>world's highest malaria burden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Bahnschrift" panose="020B0502040204020203" pitchFamily="34" charset="0"/>
                <a:ea typeface="+mn-lt"/>
                <a:cs typeface="Times New Roman"/>
              </a:rPr>
              <a:t>Resulting in </a:t>
            </a:r>
            <a:r>
              <a:rPr lang="en-US" sz="1400" b="1">
                <a:solidFill>
                  <a:srgbClr val="508674"/>
                </a:solidFill>
                <a:latin typeface="Bahnschrift" panose="020B0502040204020203" pitchFamily="34" charset="0"/>
                <a:ea typeface="+mn-lt"/>
                <a:cs typeface="Times New Roman"/>
              </a:rPr>
              <a:t>diagnostic delays</a:t>
            </a:r>
            <a:r>
              <a:rPr lang="en-US" sz="1400">
                <a:solidFill>
                  <a:srgbClr val="508674"/>
                </a:solidFill>
                <a:latin typeface="Bahnschrift" panose="020B0502040204020203" pitchFamily="34" charset="0"/>
                <a:ea typeface="+mn-lt"/>
                <a:cs typeface="Times New Roman"/>
              </a:rPr>
              <a:t> </a:t>
            </a:r>
            <a:r>
              <a:rPr lang="en-US" sz="1400">
                <a:latin typeface="Bahnschrift" panose="020B0502040204020203" pitchFamily="34" charset="0"/>
                <a:ea typeface="+mn-lt"/>
                <a:cs typeface="Times New Roman"/>
              </a:rPr>
              <a:t>and consequently </a:t>
            </a:r>
            <a:r>
              <a:rPr lang="en-US" sz="1400" b="1">
                <a:solidFill>
                  <a:schemeClr val="accent3">
                    <a:lumMod val="75000"/>
                  </a:schemeClr>
                </a:solidFill>
                <a:latin typeface="Bahnschrift" panose="020B0502040204020203" pitchFamily="34" charset="0"/>
                <a:ea typeface="+mn-lt"/>
                <a:cs typeface="Times New Roman"/>
              </a:rPr>
              <a:t>preventable deaths</a:t>
            </a:r>
            <a:r>
              <a:rPr lang="en-US" sz="1400">
                <a:latin typeface="Bahnschrift" panose="020B0502040204020203" pitchFamily="34" charset="0"/>
                <a:ea typeface="+mn-lt"/>
                <a:cs typeface="Times New Roman"/>
              </a:rPr>
              <a:t> </a:t>
            </a:r>
          </a:p>
        </p:txBody>
      </p:sp>
      <p:sp>
        <p:nvSpPr>
          <p:cNvPr id="22" name="Google Shape;135;p3">
            <a:extLst>
              <a:ext uri="{FF2B5EF4-FFF2-40B4-BE49-F238E27FC236}">
                <a16:creationId xmlns:a16="http://schemas.microsoft.com/office/drawing/2014/main" id="{677294E5-2726-E742-1818-FDE67436F07C}"/>
              </a:ext>
            </a:extLst>
          </p:cNvPr>
          <p:cNvSpPr/>
          <p:nvPr/>
        </p:nvSpPr>
        <p:spPr>
          <a:xfrm>
            <a:off x="5917162" y="1750459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5086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3" name="Google Shape;135;p3">
            <a:extLst>
              <a:ext uri="{FF2B5EF4-FFF2-40B4-BE49-F238E27FC236}">
                <a16:creationId xmlns:a16="http://schemas.microsoft.com/office/drawing/2014/main" id="{8E7384D3-BE46-0DA7-6443-3F865C9DF0F6}"/>
              </a:ext>
            </a:extLst>
          </p:cNvPr>
          <p:cNvSpPr/>
          <p:nvPr/>
        </p:nvSpPr>
        <p:spPr>
          <a:xfrm>
            <a:off x="607232" y="1741845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5185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9CBB36-A37C-5CCA-8220-5C538F076C25}"/>
              </a:ext>
            </a:extLst>
          </p:cNvPr>
          <p:cNvSpPr txBox="1"/>
          <p:nvPr/>
        </p:nvSpPr>
        <p:spPr>
          <a:xfrm>
            <a:off x="1489092" y="1824443"/>
            <a:ext cx="3701457" cy="501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rgbClr val="406867"/>
                </a:solidFill>
                <a:latin typeface="Bahnschrift" panose="020B0502040204020203" pitchFamily="34" charset="0"/>
                <a:ea typeface="+mn-lt"/>
                <a:cs typeface="Times New Roman"/>
              </a:rPr>
              <a:t>Complex Conventional Method</a:t>
            </a:r>
            <a:endParaRPr lang="en-US" sz="2000" b="1">
              <a:solidFill>
                <a:srgbClr val="406867"/>
              </a:solidFill>
              <a:latin typeface="Bahnschrift" panose="020B0502040204020203" pitchFamily="34" charset="0"/>
              <a:ea typeface="+mn-lt"/>
              <a:cs typeface="Times New Roman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7B896B-02B6-9104-0A3C-0C4A9C7440DB}"/>
              </a:ext>
            </a:extLst>
          </p:cNvPr>
          <p:cNvSpPr txBox="1"/>
          <p:nvPr/>
        </p:nvSpPr>
        <p:spPr>
          <a:xfrm>
            <a:off x="6899868" y="1822163"/>
            <a:ext cx="3701457" cy="501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rgbClr val="385E51"/>
                </a:solidFill>
                <a:latin typeface="Bahnschrift" panose="020B0502040204020203" pitchFamily="34" charset="0"/>
                <a:ea typeface="+mn-lt"/>
                <a:cs typeface="Times New Roman"/>
              </a:rPr>
              <a:t>Limited Resources</a:t>
            </a:r>
            <a:endParaRPr lang="en-US" sz="2000" b="1">
              <a:solidFill>
                <a:srgbClr val="385E51"/>
              </a:solidFill>
              <a:latin typeface="Bahnschrift" panose="020B0502040204020203" pitchFamily="34" charset="0"/>
              <a:ea typeface="+mn-lt"/>
              <a:cs typeface="Times New Roman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A042AF-6785-46AE-9E3E-89ECB7503BF0}"/>
              </a:ext>
            </a:extLst>
          </p:cNvPr>
          <p:cNvSpPr/>
          <p:nvPr/>
        </p:nvSpPr>
        <p:spPr>
          <a:xfrm>
            <a:off x="0" y="3890776"/>
            <a:ext cx="12192000" cy="2508966"/>
          </a:xfrm>
          <a:prstGeom prst="rect">
            <a:avLst/>
          </a:prstGeom>
          <a:solidFill>
            <a:srgbClr val="EA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B7E5A9-91DB-9E18-9422-E73ABF0A5878}"/>
              </a:ext>
            </a:extLst>
          </p:cNvPr>
          <p:cNvSpPr txBox="1"/>
          <p:nvPr/>
        </p:nvSpPr>
        <p:spPr>
          <a:xfrm>
            <a:off x="559837" y="4067248"/>
            <a:ext cx="46026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>
                <a:solidFill>
                  <a:srgbClr val="6CA4A3"/>
                </a:solidFill>
              </a:rPr>
              <a:t>Research Questions</a:t>
            </a:r>
            <a:endParaRPr lang="en-US" sz="2400">
              <a:solidFill>
                <a:srgbClr val="6CA4A3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A4E452-786F-1FF1-3A2C-EC75F48E75DF}"/>
              </a:ext>
            </a:extLst>
          </p:cNvPr>
          <p:cNvSpPr txBox="1"/>
          <p:nvPr/>
        </p:nvSpPr>
        <p:spPr>
          <a:xfrm>
            <a:off x="467505" y="4528913"/>
            <a:ext cx="47008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>
                <a:solidFill>
                  <a:srgbClr val="6CA4A3"/>
                </a:solidFill>
              </a:rPr>
              <a:t>“</a:t>
            </a:r>
            <a:endParaRPr lang="en-US" sz="6600">
              <a:solidFill>
                <a:srgbClr val="6CA4A3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28EFDE-2A66-D283-3A6B-CA941C7EBBD1}"/>
              </a:ext>
            </a:extLst>
          </p:cNvPr>
          <p:cNvSpPr txBox="1"/>
          <p:nvPr/>
        </p:nvSpPr>
        <p:spPr>
          <a:xfrm>
            <a:off x="1038351" y="4927428"/>
            <a:ext cx="1047762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100">
                <a:latin typeface="Bahnschrift" panose="020B0502040204020203" pitchFamily="34" charset="0"/>
                <a:ea typeface="+mn-lt"/>
                <a:cs typeface="+mn-lt"/>
              </a:rPr>
              <a:t>Can we develop an </a:t>
            </a:r>
            <a:r>
              <a:rPr lang="en-US" sz="2100" b="1">
                <a:solidFill>
                  <a:srgbClr val="5654A6"/>
                </a:solidFill>
                <a:latin typeface="Bahnschrift" panose="020B0502040204020203" pitchFamily="34" charset="0"/>
                <a:ea typeface="+mn-lt"/>
                <a:cs typeface="+mn-lt"/>
              </a:rPr>
              <a:t>automated deep learning system</a:t>
            </a:r>
            <a:r>
              <a:rPr lang="en-US" sz="2100" b="1">
                <a:solidFill>
                  <a:srgbClr val="A14D4D"/>
                </a:solidFill>
                <a:latin typeface="Bahnschrift" panose="020B0502040204020203" pitchFamily="34" charset="0"/>
                <a:ea typeface="+mn-lt"/>
                <a:cs typeface="+mn-lt"/>
              </a:rPr>
              <a:t> </a:t>
            </a:r>
            <a:r>
              <a:rPr lang="en-US" sz="2100">
                <a:latin typeface="Bahnschrift" panose="020B0502040204020203" pitchFamily="34" charset="0"/>
                <a:ea typeface="+mn-lt"/>
                <a:cs typeface="+mn-lt"/>
              </a:rPr>
              <a:t>to </a:t>
            </a:r>
            <a:r>
              <a:rPr lang="en-US" sz="2100" b="1">
                <a:solidFill>
                  <a:srgbClr val="A14D4D"/>
                </a:solidFill>
                <a:latin typeface="Bahnschrift" panose="020B0502040204020203" pitchFamily="34" charset="0"/>
                <a:ea typeface="+mn-lt"/>
                <a:cs typeface="+mn-lt"/>
              </a:rPr>
              <a:t>detect malaria-infected cells </a:t>
            </a:r>
          </a:p>
          <a:p>
            <a:pPr algn="ctr"/>
            <a:r>
              <a:rPr lang="en-US" sz="2100" i="1">
                <a:latin typeface="Bahnschrift" panose="020B0502040204020203" pitchFamily="34" charset="0"/>
                <a:ea typeface="+mn-lt"/>
                <a:cs typeface="+mn-lt"/>
              </a:rPr>
              <a:t>without requiring expert microscopists </a:t>
            </a:r>
            <a:r>
              <a:rPr lang="en-US" sz="2100">
                <a:latin typeface="Bahnschrift" panose="020B0502040204020203" pitchFamily="34" charset="0"/>
                <a:ea typeface="+mn-lt"/>
                <a:cs typeface="+mn-lt"/>
              </a:rPr>
              <a:t>?</a:t>
            </a:r>
            <a:endParaRPr lang="en-US" sz="2100">
              <a:latin typeface="Bahnschrift" panose="020B0502040204020203" pitchFamily="34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08677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3" grpId="0"/>
      <p:bldP spid="22" grpId="0" animBg="1"/>
      <p:bldP spid="23" grpId="0" animBg="1"/>
      <p:bldP spid="25" grpId="0"/>
      <p:bldP spid="26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07ADD-6793-9A13-DD89-7518D8B9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C959370-F401-6F83-2029-CC0C7981AB0E}"/>
              </a:ext>
            </a:extLst>
          </p:cNvPr>
          <p:cNvSpPr/>
          <p:nvPr/>
        </p:nvSpPr>
        <p:spPr>
          <a:xfrm>
            <a:off x="0" y="6439614"/>
            <a:ext cx="12192001" cy="418385"/>
          </a:xfrm>
          <a:prstGeom prst="rect">
            <a:avLst/>
          </a:prstGeom>
          <a:solidFill>
            <a:srgbClr val="95BDBD"/>
          </a:solidFill>
          <a:ln>
            <a:solidFill>
              <a:srgbClr val="76AB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622278-72F6-9B28-9AF8-0D188F4A6BD4}"/>
              </a:ext>
            </a:extLst>
          </p:cNvPr>
          <p:cNvSpPr txBox="1"/>
          <p:nvPr/>
        </p:nvSpPr>
        <p:spPr>
          <a:xfrm>
            <a:off x="1097280" y="4899684"/>
            <a:ext cx="76200" cy="304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D11D2-CF84-193A-4AB1-8BECA5E36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dirty="0">
                <a:solidFill>
                  <a:schemeClr val="bg1"/>
                </a:solidFill>
              </a:rPr>
              <a:t>6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34E640-4F9D-2245-B265-E97E27D4F198}"/>
              </a:ext>
            </a:extLst>
          </p:cNvPr>
          <p:cNvSpPr txBox="1"/>
          <p:nvPr/>
        </p:nvSpPr>
        <p:spPr>
          <a:xfrm>
            <a:off x="5083820" y="4855620"/>
            <a:ext cx="6834634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 algn="ctr"/>
            <a:r>
              <a:rPr lang="en-US" sz="1400">
                <a:latin typeface="Bahnschrift" panose="020B0502040204020203" pitchFamily="34" charset="0"/>
                <a:cs typeface="Times New Roman"/>
              </a:rPr>
              <a:t>Maximize </a:t>
            </a:r>
            <a:r>
              <a:rPr lang="en-US" sz="1400" b="1">
                <a:latin typeface="Bahnschrift" panose="020B0502040204020203" pitchFamily="34" charset="0"/>
                <a:cs typeface="Times New Roman"/>
              </a:rPr>
              <a:t>recall</a:t>
            </a:r>
            <a:r>
              <a:rPr lang="en-US" sz="1400">
                <a:latin typeface="Bahnschrift" panose="020B0502040204020203" pitchFamily="34" charset="0"/>
                <a:cs typeface="Times New Roman"/>
              </a:rPr>
              <a:t> for infected cells &amp; </a:t>
            </a:r>
          </a:p>
          <a:p>
            <a:pPr lvl="1" algn="ctr"/>
            <a:r>
              <a:rPr lang="en-US" sz="1400">
                <a:latin typeface="Bahnschrift" panose="020B0502040204020203" pitchFamily="34" charset="0"/>
                <a:cs typeface="Times New Roman"/>
              </a:rPr>
              <a:t>Achieve strong </a:t>
            </a:r>
            <a:r>
              <a:rPr lang="en-US" sz="1400" b="1">
                <a:latin typeface="Bahnschrift" panose="020B0502040204020203" pitchFamily="34" charset="0"/>
                <a:cs typeface="Times New Roman"/>
              </a:rPr>
              <a:t>AUC-ROC</a:t>
            </a:r>
            <a:r>
              <a:rPr lang="en-US" sz="1400">
                <a:latin typeface="Bahnschrift" panose="020B0502040204020203" pitchFamily="34" charset="0"/>
                <a:cs typeface="Times New Roman"/>
              </a:rPr>
              <a:t> metrics to ensure both cell classes are identified accurately</a:t>
            </a:r>
            <a:endParaRPr lang="en-US" sz="1400">
              <a:latin typeface="Bahnschrif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71835-BACB-01AA-8242-0CB9FD8EC7E7}"/>
              </a:ext>
            </a:extLst>
          </p:cNvPr>
          <p:cNvSpPr txBox="1"/>
          <p:nvPr/>
        </p:nvSpPr>
        <p:spPr>
          <a:xfrm>
            <a:off x="540775" y="491613"/>
            <a:ext cx="2643672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zh-CN" sz="3200" b="1">
                <a:solidFill>
                  <a:srgbClr val="467271"/>
                </a:solidFill>
                <a:latin typeface="Neue Haas Grotesk Text Pro"/>
                <a:cs typeface="Arial"/>
              </a:rPr>
              <a:t>Introduction</a:t>
            </a:r>
            <a:endParaRPr lang="en-US" i="1" spc="100">
              <a:solidFill>
                <a:srgbClr val="467271"/>
              </a:solidFill>
              <a:latin typeface="Candara" panose="020E05020303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46FE9F-50A4-93C2-BF78-18E17100980B}"/>
              </a:ext>
            </a:extLst>
          </p:cNvPr>
          <p:cNvSpPr txBox="1"/>
          <p:nvPr/>
        </p:nvSpPr>
        <p:spPr>
          <a:xfrm>
            <a:off x="1097280" y="4260078"/>
            <a:ext cx="543197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>
                <a:solidFill>
                  <a:srgbClr val="444282"/>
                </a:solidFill>
                <a:latin typeface="Bahnschrift" panose="020B0502040204020203" pitchFamily="34" charset="0"/>
                <a:ea typeface="+mn-lt"/>
                <a:cs typeface="+mn-lt"/>
              </a:rPr>
              <a:t>Develop a High-Accuracy Binary Classifier </a:t>
            </a:r>
            <a:endParaRPr lang="en-US">
              <a:solidFill>
                <a:srgbClr val="444282"/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Google Shape;135;p3">
            <a:extLst>
              <a:ext uri="{FF2B5EF4-FFF2-40B4-BE49-F238E27FC236}">
                <a16:creationId xmlns:a16="http://schemas.microsoft.com/office/drawing/2014/main" id="{72F34E86-821E-3732-8AC4-9E1A605E1911}"/>
              </a:ext>
            </a:extLst>
          </p:cNvPr>
          <p:cNvSpPr/>
          <p:nvPr/>
        </p:nvSpPr>
        <p:spPr>
          <a:xfrm>
            <a:off x="8139222" y="3074414"/>
            <a:ext cx="1080000" cy="1080000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BE84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MY" sz="2400" b="1">
              <a:solidFill>
                <a:schemeClr val="bg1"/>
              </a:solidFill>
            </a:endParaRPr>
          </a:p>
        </p:txBody>
      </p:sp>
      <p:sp>
        <p:nvSpPr>
          <p:cNvPr id="24" name="Google Shape;135;p3">
            <a:extLst>
              <a:ext uri="{FF2B5EF4-FFF2-40B4-BE49-F238E27FC236}">
                <a16:creationId xmlns:a16="http://schemas.microsoft.com/office/drawing/2014/main" id="{1893D7CC-BF94-DC55-0DBE-CEFD3949D4ED}"/>
              </a:ext>
            </a:extLst>
          </p:cNvPr>
          <p:cNvSpPr/>
          <p:nvPr/>
        </p:nvSpPr>
        <p:spPr>
          <a:xfrm>
            <a:off x="2621080" y="3045330"/>
            <a:ext cx="1080000" cy="1080000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6C74C0"/>
          </a:solidFill>
          <a:ln>
            <a:solidFill>
              <a:srgbClr val="5654A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MY" sz="2400" b="1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DAC054-1BBA-3634-5189-D68261BD2077}"/>
              </a:ext>
            </a:extLst>
          </p:cNvPr>
          <p:cNvSpPr txBox="1"/>
          <p:nvPr/>
        </p:nvSpPr>
        <p:spPr>
          <a:xfrm>
            <a:off x="2333675" y="2186203"/>
            <a:ext cx="91855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600">
                <a:latin typeface="Bahnschrift" panose="020B0502040204020203" pitchFamily="34" charset="0"/>
              </a:rPr>
              <a:t>Using a malaria cell images dataset originally sourced from the National Institutes of Health (NIH),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E3313A-38C0-27A9-FE32-AADBD8E9F2DC}"/>
              </a:ext>
            </a:extLst>
          </p:cNvPr>
          <p:cNvSpPr txBox="1"/>
          <p:nvPr/>
        </p:nvSpPr>
        <p:spPr>
          <a:xfrm>
            <a:off x="559837" y="1159826"/>
            <a:ext cx="3114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rgbClr val="6CA4A3"/>
                </a:solidFill>
                <a:latin typeface="+mj-lt"/>
                <a:cs typeface="Times New Roman"/>
              </a:rPr>
              <a:t>Problem Objectives</a:t>
            </a:r>
            <a:endParaRPr lang="en-AU" sz="2400" b="1">
              <a:solidFill>
                <a:srgbClr val="6CA4A3"/>
              </a:solidFill>
              <a:latin typeface="+mj-lt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43B0A0-04F4-CB74-4489-FFA9997A9FB9}"/>
              </a:ext>
            </a:extLst>
          </p:cNvPr>
          <p:cNvSpPr txBox="1"/>
          <p:nvPr/>
        </p:nvSpPr>
        <p:spPr>
          <a:xfrm>
            <a:off x="448713" y="4893382"/>
            <a:ext cx="52232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sz="1400">
                <a:latin typeface="Bahnschrift" panose="020B0502040204020203" pitchFamily="34" charset="0"/>
                <a:ea typeface="+mn-lt"/>
                <a:cs typeface="+mn-lt"/>
              </a:rPr>
              <a:t>Train deep learning model to distinguish between </a:t>
            </a:r>
            <a:r>
              <a:rPr lang="en-US" sz="1400" i="1">
                <a:latin typeface="Bahnschrift" panose="020B0502040204020203" pitchFamily="34" charset="0"/>
                <a:ea typeface="+mn-lt"/>
                <a:cs typeface="+mn-lt"/>
              </a:rPr>
              <a:t>parasitized</a:t>
            </a:r>
            <a:r>
              <a:rPr lang="en-US" sz="1400">
                <a:latin typeface="Bahnschrift" panose="020B0502040204020203" pitchFamily="34" charset="0"/>
                <a:ea typeface="+mn-lt"/>
                <a:cs typeface="+mn-lt"/>
              </a:rPr>
              <a:t> vs. </a:t>
            </a:r>
            <a:r>
              <a:rPr lang="en-US" sz="1400" i="1">
                <a:latin typeface="Bahnschrift" panose="020B0502040204020203" pitchFamily="34" charset="0"/>
                <a:ea typeface="+mn-lt"/>
                <a:cs typeface="+mn-lt"/>
              </a:rPr>
              <a:t>uninfected</a:t>
            </a:r>
            <a:r>
              <a:rPr lang="en-US" sz="1400">
                <a:latin typeface="Bahnschrift" panose="020B0502040204020203" pitchFamily="34" charset="0"/>
                <a:ea typeface="+mn-lt"/>
                <a:cs typeface="+mn-lt"/>
              </a:rPr>
              <a:t> cells</a:t>
            </a:r>
            <a:endParaRPr lang="en-US" sz="1400">
              <a:latin typeface="Bahnschrift" panose="020B0502040204020203" pitchFamily="34" charset="0"/>
              <a:ea typeface="+mn-lt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8821E5-3D8E-27EA-1DD4-A4564CE77CCE}"/>
              </a:ext>
            </a:extLst>
          </p:cNvPr>
          <p:cNvSpPr txBox="1"/>
          <p:nvPr/>
        </p:nvSpPr>
        <p:spPr>
          <a:xfrm>
            <a:off x="5963236" y="4259696"/>
            <a:ext cx="543197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b="1">
                <a:solidFill>
                  <a:srgbClr val="884848"/>
                </a:solidFill>
                <a:latin typeface="Bahnschrift" panose="020B0502040204020203" pitchFamily="34" charset="0"/>
                <a:ea typeface="+mn-lt"/>
                <a:cs typeface="+mn-lt"/>
              </a:rPr>
              <a:t>Optimize Diagnostic Performance</a:t>
            </a:r>
          </a:p>
        </p:txBody>
      </p:sp>
      <p:pic>
        <p:nvPicPr>
          <p:cNvPr id="2050" name="Picture 2" descr="Image Classification Icons - Free SVG &amp; PNG Image ...">
            <a:extLst>
              <a:ext uri="{FF2B5EF4-FFF2-40B4-BE49-F238E27FC236}">
                <a16:creationId xmlns:a16="http://schemas.microsoft.com/office/drawing/2014/main" id="{7500C6C9-7B58-B604-9ED4-432EA88A0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263" y="1799615"/>
            <a:ext cx="1092376" cy="1089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Graphic 29" descr="Head with gears with solid fill">
            <a:extLst>
              <a:ext uri="{FF2B5EF4-FFF2-40B4-BE49-F238E27FC236}">
                <a16:creationId xmlns:a16="http://schemas.microsoft.com/office/drawing/2014/main" id="{A8E7CE70-753B-92FF-AD6B-4A281CE44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82296" y="3282677"/>
            <a:ext cx="624475" cy="624475"/>
          </a:xfrm>
          <a:prstGeom prst="rect">
            <a:avLst/>
          </a:prstGeom>
        </p:spPr>
      </p:pic>
      <p:pic>
        <p:nvPicPr>
          <p:cNvPr id="33" name="Graphic 32" descr="Radar Chart with solid fill">
            <a:extLst>
              <a:ext uri="{FF2B5EF4-FFF2-40B4-BE49-F238E27FC236}">
                <a16:creationId xmlns:a16="http://schemas.microsoft.com/office/drawing/2014/main" id="{8355C464-2098-680F-5E18-205340911D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48140" y="3275400"/>
            <a:ext cx="662163" cy="66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909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  <p:bldP spid="19" grpId="0" animBg="1"/>
      <p:bldP spid="24" grpId="0" animBg="1"/>
      <p:bldP spid="25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D6337C9-9DA1-9839-3642-7B122D254587}"/>
              </a:ext>
            </a:extLst>
          </p:cNvPr>
          <p:cNvSpPr/>
          <p:nvPr/>
        </p:nvSpPr>
        <p:spPr>
          <a:xfrm>
            <a:off x="11632163" y="0"/>
            <a:ext cx="559838" cy="6858000"/>
          </a:xfrm>
          <a:prstGeom prst="rect">
            <a:avLst/>
          </a:prstGeom>
          <a:solidFill>
            <a:srgbClr val="89C6DB"/>
          </a:solidFill>
          <a:ln>
            <a:solidFill>
              <a:srgbClr val="74B3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CC679-A8CA-B266-3D70-F7B0B956F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smtClean="0">
                <a:solidFill>
                  <a:schemeClr val="bg1"/>
                </a:solidFill>
              </a:rPr>
              <a:t>7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11A4DFE-DE40-E1C2-8402-DD6BFEF15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8067" y="2747700"/>
            <a:ext cx="5980839" cy="1266131"/>
          </a:xfrm>
        </p:spPr>
        <p:txBody>
          <a:bodyPr/>
          <a:lstStyle/>
          <a:p>
            <a:pPr algn="r"/>
            <a:r>
              <a:rPr lang="en-MY">
                <a:solidFill>
                  <a:srgbClr val="426D8A"/>
                </a:solidFill>
              </a:rPr>
              <a:t>Data Loading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4E367B7-9DAF-43FC-725A-7F3E71258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32567" y="4013831"/>
            <a:ext cx="8146339" cy="1089798"/>
          </a:xfrm>
        </p:spPr>
        <p:txBody>
          <a:bodyPr>
            <a:normAutofit/>
          </a:bodyPr>
          <a:lstStyle/>
          <a:p>
            <a:pPr algn="r"/>
            <a:r>
              <a:rPr lang="en-MY" sz="2400"/>
              <a:t>Dataset Overview, Set Splits, Image preprocessing &amp; Data augmentation</a:t>
            </a:r>
          </a:p>
        </p:txBody>
      </p:sp>
      <p:sp>
        <p:nvSpPr>
          <p:cNvPr id="7" name="Teardrop 6">
            <a:extLst>
              <a:ext uri="{FF2B5EF4-FFF2-40B4-BE49-F238E27FC236}">
                <a16:creationId xmlns:a16="http://schemas.microsoft.com/office/drawing/2014/main" id="{ADB92ADF-0916-6377-1637-8516162FA9CA}"/>
              </a:ext>
            </a:extLst>
          </p:cNvPr>
          <p:cNvSpPr/>
          <p:nvPr/>
        </p:nvSpPr>
        <p:spPr>
          <a:xfrm>
            <a:off x="9393564" y="1842071"/>
            <a:ext cx="1266131" cy="1266131"/>
          </a:xfrm>
          <a:prstGeom prst="teardrop">
            <a:avLst/>
          </a:prstGeom>
          <a:solidFill>
            <a:srgbClr val="89C6DB"/>
          </a:solidFill>
          <a:ln>
            <a:solidFill>
              <a:srgbClr val="74B3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3600" b="1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607140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94CB1-9506-620F-3DB3-E8522EBD8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9E2B71-3131-565B-A593-700F27FA7AC8}"/>
              </a:ext>
            </a:extLst>
          </p:cNvPr>
          <p:cNvSpPr/>
          <p:nvPr/>
        </p:nvSpPr>
        <p:spPr>
          <a:xfrm>
            <a:off x="0" y="6439614"/>
            <a:ext cx="12192001" cy="418385"/>
          </a:xfrm>
          <a:prstGeom prst="rect">
            <a:avLst/>
          </a:prstGeom>
          <a:solidFill>
            <a:srgbClr val="89C6DB"/>
          </a:solidFill>
          <a:ln>
            <a:solidFill>
              <a:srgbClr val="74B3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5B7014-564E-7938-4915-8FFFB9A4CCB3}"/>
              </a:ext>
            </a:extLst>
          </p:cNvPr>
          <p:cNvSpPr txBox="1"/>
          <p:nvPr/>
        </p:nvSpPr>
        <p:spPr>
          <a:xfrm>
            <a:off x="491614" y="491613"/>
            <a:ext cx="2930610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AU" sz="3200" b="1">
                <a:solidFill>
                  <a:srgbClr val="426D8A"/>
                </a:solidFill>
                <a:latin typeface="+mj-lt"/>
                <a:cs typeface="Times New Roman"/>
              </a:rPr>
              <a:t>Data Loading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628221-DCFE-42A0-090C-B705E9E4A6ED}"/>
              </a:ext>
            </a:extLst>
          </p:cNvPr>
          <p:cNvSpPr txBox="1"/>
          <p:nvPr/>
        </p:nvSpPr>
        <p:spPr>
          <a:xfrm>
            <a:off x="491614" y="1377552"/>
            <a:ext cx="610784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AU" sz="2400" b="1">
                <a:solidFill>
                  <a:srgbClr val="4598B5"/>
                </a:solidFill>
                <a:latin typeface="+mj-lt"/>
                <a:cs typeface="Arial"/>
              </a:rPr>
              <a:t>Dataset overview - </a:t>
            </a:r>
            <a:r>
              <a:rPr lang="en-AU" sz="2400" b="1" i="1" spc="100">
                <a:solidFill>
                  <a:srgbClr val="4598B5"/>
                </a:solidFill>
                <a:latin typeface="Candara" panose="020E0502030303020204" pitchFamily="34" charset="0"/>
                <a:cs typeface="Arial"/>
              </a:rPr>
              <a:t>Image dataset</a:t>
            </a:r>
            <a:endParaRPr lang="en-AU" sz="2400" b="1" i="1" spc="100">
              <a:solidFill>
                <a:srgbClr val="4598B5"/>
              </a:solidFill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74C6C3-8B02-60C0-569B-963A0BBB0543}"/>
              </a:ext>
            </a:extLst>
          </p:cNvPr>
          <p:cNvSpPr txBox="1"/>
          <p:nvPr/>
        </p:nvSpPr>
        <p:spPr>
          <a:xfrm>
            <a:off x="4992089" y="4224160"/>
            <a:ext cx="235928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AU" sz="2400" b="1">
                <a:solidFill>
                  <a:schemeClr val="bg2">
                    <a:lumMod val="49000"/>
                  </a:schemeClr>
                </a:solidFill>
                <a:ea typeface="+mn-lt"/>
                <a:cs typeface="+mn-lt"/>
              </a:rPr>
              <a:t>🗁</a:t>
            </a:r>
            <a:r>
              <a:rPr lang="en-AU" sz="2400">
                <a:ea typeface="+mn-lt"/>
                <a:cs typeface="+mn-lt"/>
              </a:rPr>
              <a:t> </a:t>
            </a:r>
            <a:r>
              <a:rPr lang="en-AU" sz="2200" b="1">
                <a:solidFill>
                  <a:schemeClr val="bg2">
                    <a:lumMod val="10000"/>
                  </a:schemeClr>
                </a:solidFill>
                <a:latin typeface="Aptos Mono" panose="020B0009020202020204" pitchFamily="49" charset="0"/>
                <a:cs typeface="Arial"/>
              </a:rPr>
              <a:t>Uninfected</a:t>
            </a:r>
            <a:endParaRPr lang="en-US" sz="2200">
              <a:solidFill>
                <a:schemeClr val="bg2">
                  <a:lumMod val="10000"/>
                </a:schemeClr>
              </a:solidFill>
              <a:latin typeface="Aptos Mono" panose="020B000902020202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216024-848A-AEB6-8511-9E9547C01D55}"/>
              </a:ext>
            </a:extLst>
          </p:cNvPr>
          <p:cNvSpPr txBox="1"/>
          <p:nvPr/>
        </p:nvSpPr>
        <p:spPr>
          <a:xfrm>
            <a:off x="1658608" y="3808671"/>
            <a:ext cx="2376899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zh-CN" altLang="en-US" sz="1600">
                <a:latin typeface="Bahnschrift" panose="020B0502040204020203" pitchFamily="34" charset="0"/>
                <a:cs typeface="Arial"/>
              </a:rPr>
              <a:t>Total images: 27558</a:t>
            </a:r>
            <a:endParaRPr lang="zh-CN" altLang="en-US" sz="1600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01C3F2-A596-2DAC-E637-1A6A1A1930C0}"/>
              </a:ext>
            </a:extLst>
          </p:cNvPr>
          <p:cNvSpPr txBox="1"/>
          <p:nvPr/>
        </p:nvSpPr>
        <p:spPr>
          <a:xfrm>
            <a:off x="5212087" y="2911164"/>
            <a:ext cx="2310058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zh-CN" altLang="en-US" sz="1600">
                <a:latin typeface="Bahnschrift" panose="020B0502040204020203" pitchFamily="34" charset="0"/>
                <a:cs typeface="Arial"/>
              </a:rPr>
              <a:t>Total images: 13779</a:t>
            </a:r>
            <a:endParaRPr lang="zh-CN" altLang="en-US" sz="1600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BB152C-B8D7-488A-4276-F5E7A9638CD9}"/>
              </a:ext>
            </a:extLst>
          </p:cNvPr>
          <p:cNvSpPr txBox="1"/>
          <p:nvPr/>
        </p:nvSpPr>
        <p:spPr>
          <a:xfrm>
            <a:off x="5243907" y="4642282"/>
            <a:ext cx="2238532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zh-CN" altLang="en-US" sz="1600">
                <a:latin typeface="Bahnschrift" panose="020B0502040204020203" pitchFamily="34" charset="0"/>
                <a:cs typeface="Arial"/>
              </a:rPr>
              <a:t>Total images: 13779</a:t>
            </a:r>
            <a:endParaRPr lang="zh-CN" altLang="en-US" sz="1600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2823EE-261F-C2C3-8BBE-854C5FAB0419}"/>
              </a:ext>
            </a:extLst>
          </p:cNvPr>
          <p:cNvSpPr txBox="1"/>
          <p:nvPr/>
        </p:nvSpPr>
        <p:spPr>
          <a:xfrm>
            <a:off x="4985620" y="2488105"/>
            <a:ext cx="262967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AU" sz="2400" b="1">
                <a:solidFill>
                  <a:schemeClr val="bg2">
                    <a:lumMod val="49000"/>
                  </a:schemeClr>
                </a:solidFill>
                <a:ea typeface="+mn-lt"/>
                <a:cs typeface="+mn-lt"/>
              </a:rPr>
              <a:t>🗁</a:t>
            </a:r>
            <a:r>
              <a:rPr lang="en-AU" sz="2400">
                <a:solidFill>
                  <a:schemeClr val="bg2">
                    <a:lumMod val="49000"/>
                  </a:schemeClr>
                </a:solidFill>
                <a:latin typeface="Neue Haas Grotesk Text Pro"/>
                <a:cs typeface="Arial"/>
              </a:rPr>
              <a:t> </a:t>
            </a:r>
            <a:r>
              <a:rPr lang="en-AU" sz="2200" b="1">
                <a:solidFill>
                  <a:schemeClr val="bg2">
                    <a:lumMod val="10000"/>
                  </a:schemeClr>
                </a:solidFill>
                <a:latin typeface="Aptos Mono" panose="020B0009020202020204" pitchFamily="49" charset="0"/>
                <a:cs typeface="Arial"/>
              </a:rPr>
              <a:t>Parasitized</a:t>
            </a:r>
            <a:endParaRPr lang="en-US" sz="2200">
              <a:solidFill>
                <a:schemeClr val="bg2">
                  <a:lumMod val="10000"/>
                </a:schemeClr>
              </a:solidFill>
              <a:latin typeface="Aptos Mono" panose="020B000902020202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54A2CD-810F-4FB4-0502-3936A36CE7F4}"/>
              </a:ext>
            </a:extLst>
          </p:cNvPr>
          <p:cNvSpPr txBox="1"/>
          <p:nvPr/>
        </p:nvSpPr>
        <p:spPr>
          <a:xfrm>
            <a:off x="1260359" y="3364246"/>
            <a:ext cx="255873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AU" sz="2400" b="1">
                <a:solidFill>
                  <a:schemeClr val="bg2">
                    <a:lumMod val="49000"/>
                  </a:schemeClr>
                </a:solidFill>
                <a:ea typeface="+mn-lt"/>
                <a:cs typeface="+mn-lt"/>
              </a:rPr>
              <a:t>🗁</a:t>
            </a:r>
            <a:r>
              <a:rPr lang="en-AU" sz="2400">
                <a:latin typeface="Neue Haas Grotesk Text Pro"/>
                <a:cs typeface="Arial"/>
              </a:rPr>
              <a:t> </a:t>
            </a:r>
            <a:r>
              <a:rPr lang="en-AU" sz="2200" b="1" err="1">
                <a:solidFill>
                  <a:schemeClr val="bg2">
                    <a:lumMod val="10000"/>
                  </a:schemeClr>
                </a:solidFill>
                <a:latin typeface="Aptos Mono" panose="020B0009020202020204" pitchFamily="49" charset="0"/>
                <a:cs typeface="Arial"/>
              </a:rPr>
              <a:t>cell_images</a:t>
            </a:r>
            <a:endParaRPr lang="en-US" sz="2200">
              <a:solidFill>
                <a:schemeClr val="bg2">
                  <a:lumMod val="10000"/>
                </a:schemeClr>
              </a:solidFill>
              <a:latin typeface="Aptos Mono" panose="020B0009020202020204" pitchFamily="49" charset="0"/>
            </a:endParaRP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4686984-3F91-01DD-A046-8AA192CA68B7}"/>
              </a:ext>
            </a:extLst>
          </p:cNvPr>
          <p:cNvCxnSpPr>
            <a:cxnSpLocks/>
          </p:cNvCxnSpPr>
          <p:nvPr/>
        </p:nvCxnSpPr>
        <p:spPr>
          <a:xfrm>
            <a:off x="3839678" y="3591487"/>
            <a:ext cx="1070167" cy="91277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4AD56ABC-257A-E1F5-C6E8-742BB13D36D3}"/>
              </a:ext>
            </a:extLst>
          </p:cNvPr>
          <p:cNvCxnSpPr>
            <a:cxnSpLocks/>
          </p:cNvCxnSpPr>
          <p:nvPr/>
        </p:nvCxnSpPr>
        <p:spPr>
          <a:xfrm flipV="1">
            <a:off x="3853044" y="2711480"/>
            <a:ext cx="1032333" cy="88000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A close up of a blob&#10;&#10;AI-generated content may be incorrect.">
            <a:extLst>
              <a:ext uri="{FF2B5EF4-FFF2-40B4-BE49-F238E27FC236}">
                <a16:creationId xmlns:a16="http://schemas.microsoft.com/office/drawing/2014/main" id="{12146800-21E4-96C5-1C7E-024BC7875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0009" y="1899205"/>
            <a:ext cx="1484730" cy="16809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5" name="Picture 24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8A33EF20-26A7-342B-6C0A-2E0BA6A0A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2902" y="4170328"/>
            <a:ext cx="1461837" cy="16790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D24706EB-6A57-0300-D74C-828EC34AD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dirty="0">
                <a:solidFill>
                  <a:schemeClr val="bg1"/>
                </a:solidFill>
              </a:rPr>
              <a:t>8</a:t>
            </a:fld>
            <a:endParaRPr lang="en-GB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040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1" grpId="0"/>
      <p:bldP spid="13" grpId="0"/>
      <p:bldP spid="15" grpId="0"/>
      <p:bldP spid="17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E04CE-D28A-A281-46FF-BB4B3C2DE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03FD40-A052-EB0D-9ED0-5CEB0C34A0FE}"/>
              </a:ext>
            </a:extLst>
          </p:cNvPr>
          <p:cNvSpPr/>
          <p:nvPr/>
        </p:nvSpPr>
        <p:spPr>
          <a:xfrm>
            <a:off x="0" y="6439614"/>
            <a:ext cx="12192001" cy="418385"/>
          </a:xfrm>
          <a:prstGeom prst="rect">
            <a:avLst/>
          </a:prstGeom>
          <a:solidFill>
            <a:srgbClr val="89C6DB"/>
          </a:solidFill>
          <a:ln>
            <a:solidFill>
              <a:srgbClr val="74B3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F8EB51-6AB2-77FB-2661-B9BED875C759}"/>
              </a:ext>
            </a:extLst>
          </p:cNvPr>
          <p:cNvSpPr txBox="1"/>
          <p:nvPr/>
        </p:nvSpPr>
        <p:spPr>
          <a:xfrm>
            <a:off x="491614" y="491613"/>
            <a:ext cx="2930610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AU" sz="3200" b="1">
                <a:solidFill>
                  <a:srgbClr val="426D8A"/>
                </a:solidFill>
                <a:latin typeface="+mj-lt"/>
                <a:cs typeface="Times New Roman"/>
              </a:rPr>
              <a:t>Data Loading.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2F497B-9E5F-277B-7497-59646EF91B77}"/>
              </a:ext>
            </a:extLst>
          </p:cNvPr>
          <p:cNvSpPr txBox="1"/>
          <p:nvPr/>
        </p:nvSpPr>
        <p:spPr>
          <a:xfrm>
            <a:off x="614006" y="2859566"/>
            <a:ext cx="402231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AU" sz="2400" b="1">
                <a:solidFill>
                  <a:srgbClr val="4598B5"/>
                </a:solidFill>
                <a:latin typeface="+mj-lt"/>
                <a:cs typeface="Arial"/>
              </a:rPr>
              <a:t>Data augmentation</a:t>
            </a:r>
            <a:endParaRPr lang="en-AU" sz="2400" b="1">
              <a:solidFill>
                <a:srgbClr val="4598B5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A37D7CCE-6528-1423-D0EF-4BC1ADE80EBA}"/>
              </a:ext>
            </a:extLst>
          </p:cNvPr>
          <p:cNvSpPr txBox="1"/>
          <p:nvPr/>
        </p:nvSpPr>
        <p:spPr>
          <a:xfrm>
            <a:off x="608184" y="1220077"/>
            <a:ext cx="417825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b="1">
                <a:solidFill>
                  <a:srgbClr val="4598B5"/>
                </a:solidFill>
                <a:latin typeface="+mj-lt"/>
                <a:cs typeface="Times New Roman"/>
              </a:rPr>
              <a:t>Image preprocessing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EDAF6E93-E8EF-133E-F32F-297B2296D9EF}"/>
              </a:ext>
            </a:extLst>
          </p:cNvPr>
          <p:cNvSpPr txBox="1"/>
          <p:nvPr/>
        </p:nvSpPr>
        <p:spPr>
          <a:xfrm>
            <a:off x="608184" y="1723588"/>
            <a:ext cx="7403893" cy="8745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50000"/>
              </a:lnSpc>
              <a:buClr>
                <a:srgbClr val="EEC4C4"/>
              </a:buClr>
              <a:buFont typeface="Wingdings" panose="05000000000000000000" pitchFamily="2" charset="2"/>
              <a:buChar char="v"/>
            </a:pPr>
            <a:r>
              <a:rPr lang="zh-CN" altLang="en-US" b="1">
                <a:latin typeface="Bahnschrift" panose="020B0502040204020203" pitchFamily="34" charset="0"/>
                <a:cs typeface="Arial"/>
              </a:rPr>
              <a:t>Resized</a:t>
            </a:r>
            <a:r>
              <a:rPr lang="zh-CN" altLang="en-US">
                <a:latin typeface="Bahnschrift" panose="020B0502040204020203" pitchFamily="34" charset="0"/>
                <a:cs typeface="Arial"/>
              </a:rPr>
              <a:t> and </a:t>
            </a:r>
            <a:r>
              <a:rPr lang="zh-CN" altLang="en-US" b="1">
                <a:latin typeface="Bahnschrift" panose="020B0502040204020203" pitchFamily="34" charset="0"/>
                <a:cs typeface="Arial"/>
              </a:rPr>
              <a:t>center-cropped</a:t>
            </a:r>
            <a:r>
              <a:rPr lang="zh-CN" altLang="en-US">
                <a:latin typeface="Bahnschrift" panose="020B0502040204020203" pitchFamily="34" charset="0"/>
                <a:cs typeface="Arial"/>
              </a:rPr>
              <a:t> to </a:t>
            </a:r>
            <a:r>
              <a:rPr lang="zh-CN" b="1">
                <a:latin typeface="Bahnschrift" panose="020B0502040204020203" pitchFamily="34" charset="0"/>
                <a:cs typeface="Times New Roman"/>
              </a:rPr>
              <a:t>224x224</a:t>
            </a:r>
            <a:r>
              <a:rPr lang="zh-CN" altLang="en-US" b="1">
                <a:latin typeface="Bahnschrift" panose="020B0502040204020203" pitchFamily="34" charset="0"/>
                <a:cs typeface="Arial"/>
              </a:rPr>
              <a:t> pixels</a:t>
            </a:r>
          </a:p>
          <a:p>
            <a:pPr marL="285750" indent="-285750" algn="just">
              <a:lnSpc>
                <a:spcPct val="150000"/>
              </a:lnSpc>
              <a:buClr>
                <a:srgbClr val="EEC4C4"/>
              </a:buClr>
              <a:buFont typeface="Wingdings" panose="05000000000000000000" pitchFamily="2" charset="2"/>
              <a:buChar char="v"/>
            </a:pPr>
            <a:r>
              <a:rPr lang="zh-CN" altLang="en-US">
                <a:latin typeface="Bahnschrift" panose="020B0502040204020203" pitchFamily="34" charset="0"/>
                <a:cs typeface="Arial"/>
              </a:rPr>
              <a:t>Original pixel value range [0,255] </a:t>
            </a:r>
            <a:r>
              <a:rPr lang="zh-CN">
                <a:latin typeface="Bahnschrift" panose="020B0502040204020203" pitchFamily="34" charset="0"/>
                <a:ea typeface="+mn-lt"/>
                <a:cs typeface="+mn-lt"/>
              </a:rPr>
              <a:t>→</a:t>
            </a:r>
            <a:r>
              <a:rPr lang="zh-CN" altLang="en-US">
                <a:latin typeface="Bahnschrift" panose="020B0502040204020203" pitchFamily="34" charset="0"/>
                <a:cs typeface="Arial"/>
              </a:rPr>
              <a:t> </a:t>
            </a:r>
            <a:r>
              <a:rPr lang="zh-CN" altLang="en-US" b="1">
                <a:latin typeface="Bahnschrift" panose="020B0502040204020203" pitchFamily="34" charset="0"/>
                <a:cs typeface="Arial"/>
              </a:rPr>
              <a:t>Normalized</a:t>
            </a:r>
            <a:r>
              <a:rPr lang="zh-CN" altLang="en-US">
                <a:latin typeface="Bahnschrift" panose="020B0502040204020203" pitchFamily="34" charset="0"/>
                <a:cs typeface="Arial"/>
              </a:rPr>
              <a:t> to </a:t>
            </a:r>
            <a:r>
              <a:rPr lang="zh-CN" altLang="en-US" b="1">
                <a:latin typeface="Bahnschrift" panose="020B0502040204020203" pitchFamily="34" charset="0"/>
                <a:cs typeface="Arial"/>
              </a:rPr>
              <a:t>[-1,1]</a:t>
            </a:r>
            <a:endParaRPr lang="zh-CN" altLang="en-US" b="1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938CAF2-8F15-A9A1-4515-769EE429C0BC}"/>
              </a:ext>
            </a:extLst>
          </p:cNvPr>
          <p:cNvSpPr/>
          <p:nvPr/>
        </p:nvSpPr>
        <p:spPr>
          <a:xfrm>
            <a:off x="3471598" y="3436762"/>
            <a:ext cx="2413702" cy="2727297"/>
          </a:xfrm>
          <a:prstGeom prst="roundRect">
            <a:avLst/>
          </a:prstGeom>
          <a:ln>
            <a:solidFill>
              <a:srgbClr val="89C6DB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95239CC-83DD-9ECD-E650-658030C2856E}"/>
              </a:ext>
            </a:extLst>
          </p:cNvPr>
          <p:cNvSpPr/>
          <p:nvPr/>
        </p:nvSpPr>
        <p:spPr>
          <a:xfrm>
            <a:off x="804595" y="3436761"/>
            <a:ext cx="2462862" cy="2727297"/>
          </a:xfrm>
          <a:prstGeom prst="roundRect">
            <a:avLst/>
          </a:prstGeom>
          <a:ln>
            <a:solidFill>
              <a:srgbClr val="89C6D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AE82656-6AFE-B108-C7C0-CC5E7FCDA9FD}"/>
              </a:ext>
            </a:extLst>
          </p:cNvPr>
          <p:cNvSpPr/>
          <p:nvPr/>
        </p:nvSpPr>
        <p:spPr>
          <a:xfrm>
            <a:off x="6101725" y="3436761"/>
            <a:ext cx="2475152" cy="2727297"/>
          </a:xfrm>
          <a:prstGeom prst="roundRect">
            <a:avLst/>
          </a:prstGeom>
          <a:ln>
            <a:solidFill>
              <a:srgbClr val="89C6D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E783C4B-91C2-840E-9C5C-04FD15B0EE26}"/>
              </a:ext>
            </a:extLst>
          </p:cNvPr>
          <p:cNvSpPr/>
          <p:nvPr/>
        </p:nvSpPr>
        <p:spPr>
          <a:xfrm>
            <a:off x="8859758" y="3436762"/>
            <a:ext cx="2425992" cy="2727297"/>
          </a:xfrm>
          <a:prstGeom prst="roundRect">
            <a:avLst/>
          </a:prstGeom>
          <a:ln>
            <a:solidFill>
              <a:srgbClr val="89C6DB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98F5E5-97BC-EF37-FABE-61F67D37A5B0}"/>
              </a:ext>
            </a:extLst>
          </p:cNvPr>
          <p:cNvSpPr txBox="1"/>
          <p:nvPr/>
        </p:nvSpPr>
        <p:spPr>
          <a:xfrm>
            <a:off x="1031755" y="5378039"/>
            <a:ext cx="202046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>
                <a:latin typeface="Bahnschrift" panose="020B0502040204020203" pitchFamily="34" charset="0"/>
                <a:cs typeface="Times New Roman"/>
              </a:rPr>
              <a:t>Zoomed in up to 20% closer up</a:t>
            </a:r>
          </a:p>
          <a:p>
            <a:pPr algn="ctr"/>
            <a:r>
              <a:rPr lang="en-GB" sz="1400">
                <a:latin typeface="Bahnschrift" panose="020B0502040204020203" pitchFamily="34" charset="0"/>
                <a:cs typeface="Times New Roman"/>
              </a:rPr>
              <a:t>(randomly)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CDA5AB-8F04-1D18-AC22-8BBF91C8327C}"/>
              </a:ext>
            </a:extLst>
          </p:cNvPr>
          <p:cNvSpPr txBox="1"/>
          <p:nvPr/>
        </p:nvSpPr>
        <p:spPr>
          <a:xfrm>
            <a:off x="3674173" y="5525522"/>
            <a:ext cx="202046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>
                <a:latin typeface="Bahnschrift" panose="020B0502040204020203" pitchFamily="34" charset="0"/>
                <a:cs typeface="Times New Roman"/>
              </a:rPr>
              <a:t>Flipped horizontally</a:t>
            </a:r>
          </a:p>
          <a:p>
            <a:pPr algn="ctr"/>
            <a:r>
              <a:rPr lang="en-GB" sz="1400">
                <a:latin typeface="Bahnschrift" panose="020B0502040204020203" pitchFamily="34" charset="0"/>
                <a:cs typeface="Times New Roman"/>
              </a:rPr>
              <a:t>(~50% of the time)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8BC211-34D3-23E5-8383-594003684670}"/>
              </a:ext>
            </a:extLst>
          </p:cNvPr>
          <p:cNvSpPr txBox="1"/>
          <p:nvPr/>
        </p:nvSpPr>
        <p:spPr>
          <a:xfrm>
            <a:off x="6219976" y="5520401"/>
            <a:ext cx="222940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>
                <a:latin typeface="Bahnschrift" panose="020B0502040204020203" pitchFamily="34" charset="0"/>
                <a:cs typeface="Times New Roman"/>
              </a:rPr>
              <a:t>Sharpened by factor 2.0</a:t>
            </a:r>
            <a:endParaRPr lang="en-US">
              <a:latin typeface="Bahnschrift" panose="020B0502040204020203" pitchFamily="34" charset="0"/>
              <a:cs typeface="Times New Roman"/>
            </a:endParaRPr>
          </a:p>
          <a:p>
            <a:pPr algn="ctr"/>
            <a:r>
              <a:rPr lang="en-GB" sz="1400">
                <a:latin typeface="Bahnschrift" panose="020B0502040204020203" pitchFamily="34" charset="0"/>
                <a:cs typeface="Times New Roman"/>
              </a:rPr>
              <a:t>(~30% of the time)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CE55F4-768D-F709-9CB1-07566C2C0674}"/>
              </a:ext>
            </a:extLst>
          </p:cNvPr>
          <p:cNvSpPr txBox="1"/>
          <p:nvPr/>
        </p:nvSpPr>
        <p:spPr>
          <a:xfrm>
            <a:off x="9082937" y="5525522"/>
            <a:ext cx="196481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>
                <a:latin typeface="Bahnschrift" panose="020B0502040204020203" pitchFamily="34" charset="0"/>
                <a:cs typeface="Arial"/>
              </a:rPr>
              <a:t>Rotated by ±10°</a:t>
            </a:r>
          </a:p>
          <a:p>
            <a:pPr algn="ctr"/>
            <a:r>
              <a:rPr lang="en-GB" sz="1400">
                <a:latin typeface="Bahnschrift" panose="020B0502040204020203" pitchFamily="34" charset="0"/>
                <a:cs typeface="Arial"/>
              </a:rPr>
              <a:t>(randomly)</a:t>
            </a:r>
          </a:p>
        </p:txBody>
      </p:sp>
      <p:pic>
        <p:nvPicPr>
          <p:cNvPr id="27" name="Picture 26" descr="A purple blob of a white substance&#10;&#10;AI-generated content may be incorrect.">
            <a:extLst>
              <a:ext uri="{FF2B5EF4-FFF2-40B4-BE49-F238E27FC236}">
                <a16:creationId xmlns:a16="http://schemas.microsoft.com/office/drawing/2014/main" id="{4A74FF9A-7495-E2C1-66B6-B7D4710490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73" t="5735" r="4211" b="5939"/>
          <a:stretch>
            <a:fillRect/>
          </a:stretch>
        </p:blipFill>
        <p:spPr>
          <a:xfrm flipH="1">
            <a:off x="4083930" y="4035001"/>
            <a:ext cx="1180956" cy="11593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8" name="Picture 27" descr="A purple blob of a white substance&#10;&#10;AI-generated content may be incorrect.">
            <a:extLst>
              <a:ext uri="{FF2B5EF4-FFF2-40B4-BE49-F238E27FC236}">
                <a16:creationId xmlns:a16="http://schemas.microsoft.com/office/drawing/2014/main" id="{1C629467-0031-8AAA-DDEA-DF7E032D65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92" t="4542" r="4721" b="5485"/>
          <a:stretch>
            <a:fillRect/>
          </a:stretch>
        </p:blipFill>
        <p:spPr>
          <a:xfrm flipH="1">
            <a:off x="6673842" y="3902942"/>
            <a:ext cx="1369034" cy="13247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9" name="Picture 28" descr="A purple and white spot&#10;&#10;AI-generated content may be incorrect.">
            <a:extLst>
              <a:ext uri="{FF2B5EF4-FFF2-40B4-BE49-F238E27FC236}">
                <a16:creationId xmlns:a16="http://schemas.microsoft.com/office/drawing/2014/main" id="{D47BF0AD-1D09-B624-098A-0572576CA4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257" y="3773516"/>
            <a:ext cx="1361496" cy="142294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0" name="Picture 29" descr="A purple blob of a white substance&#10;&#10;AI-generated content may be incorrect.">
            <a:extLst>
              <a:ext uri="{FF2B5EF4-FFF2-40B4-BE49-F238E27FC236}">
                <a16:creationId xmlns:a16="http://schemas.microsoft.com/office/drawing/2014/main" id="{4F3FB8D5-9002-8F0D-E529-55151680999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rcRect l="4167" t="6888" r="926" b="6818"/>
          <a:stretch>
            <a:fillRect/>
          </a:stretch>
        </p:blipFill>
        <p:spPr>
          <a:xfrm rot="-780000">
            <a:off x="9204322" y="4115660"/>
            <a:ext cx="1118242" cy="10344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9352765-1D04-E3ED-5FE9-3338A73372DD}"/>
              </a:ext>
            </a:extLst>
          </p:cNvPr>
          <p:cNvCxnSpPr/>
          <p:nvPr/>
        </p:nvCxnSpPr>
        <p:spPr>
          <a:xfrm flipV="1">
            <a:off x="4072207" y="3768638"/>
            <a:ext cx="1241061" cy="12309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C5E357D-84C2-58AB-1AC2-0B4BA7B27E77}"/>
              </a:ext>
            </a:extLst>
          </p:cNvPr>
          <p:cNvCxnSpPr/>
          <p:nvPr/>
        </p:nvCxnSpPr>
        <p:spPr>
          <a:xfrm>
            <a:off x="4687675" y="3684535"/>
            <a:ext cx="17479" cy="1799141"/>
          </a:xfrm>
          <a:prstGeom prst="straightConnector1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A purple blob of a white substance&#10;&#10;AI-generated content may be incorrect.">
            <a:extLst>
              <a:ext uri="{FF2B5EF4-FFF2-40B4-BE49-F238E27FC236}">
                <a16:creationId xmlns:a16="http://schemas.microsoft.com/office/drawing/2014/main" id="{6506A713-D789-E179-638E-8B509FB764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167" t="6888" r="926" b="6818"/>
          <a:stretch>
            <a:fillRect/>
          </a:stretch>
        </p:blipFill>
        <p:spPr>
          <a:xfrm rot="840000">
            <a:off x="9791966" y="4173779"/>
            <a:ext cx="1118242" cy="10344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7" name="Arc 36">
            <a:extLst>
              <a:ext uri="{FF2B5EF4-FFF2-40B4-BE49-F238E27FC236}">
                <a16:creationId xmlns:a16="http://schemas.microsoft.com/office/drawing/2014/main" id="{29516A1F-3A1E-E2E9-83DA-CDD1243FD90A}"/>
              </a:ext>
            </a:extLst>
          </p:cNvPr>
          <p:cNvSpPr/>
          <p:nvPr/>
        </p:nvSpPr>
        <p:spPr>
          <a:xfrm rot="18900000">
            <a:off x="9515227" y="3708832"/>
            <a:ext cx="1049386" cy="1097821"/>
          </a:xfrm>
          <a:prstGeom prst="arc">
            <a:avLst/>
          </a:prstGeom>
          <a:effectLst>
            <a:reflection stA="40000" endPos="54000" dist="508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A25AFD3-65C2-DE94-0A25-3000D62F5ED1}"/>
              </a:ext>
            </a:extLst>
          </p:cNvPr>
          <p:cNvCxnSpPr/>
          <p:nvPr/>
        </p:nvCxnSpPr>
        <p:spPr>
          <a:xfrm>
            <a:off x="10360443" y="3843379"/>
            <a:ext cx="122732" cy="1001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27F1227-B784-EC77-7C28-5BBD55C25BB0}"/>
              </a:ext>
            </a:extLst>
          </p:cNvPr>
          <p:cNvCxnSpPr>
            <a:cxnSpLocks/>
          </p:cNvCxnSpPr>
          <p:nvPr/>
        </p:nvCxnSpPr>
        <p:spPr>
          <a:xfrm flipH="1">
            <a:off x="9579107" y="3849835"/>
            <a:ext cx="90369" cy="87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39" descr="A purple blob of a white substance&#10;&#10;AI-generated content may be incorrect.">
            <a:extLst>
              <a:ext uri="{FF2B5EF4-FFF2-40B4-BE49-F238E27FC236}">
                <a16:creationId xmlns:a16="http://schemas.microsoft.com/office/drawing/2014/main" id="{4612F593-6E50-9A98-20F4-58E04E26F71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167" t="6888" r="926" b="6818"/>
          <a:stretch>
            <a:fillRect/>
          </a:stretch>
        </p:blipFill>
        <p:spPr>
          <a:xfrm>
            <a:off x="8786549" y="1221377"/>
            <a:ext cx="1446326" cy="13413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2" name="TextBox 2">
            <a:extLst>
              <a:ext uri="{FF2B5EF4-FFF2-40B4-BE49-F238E27FC236}">
                <a16:creationId xmlns:a16="http://schemas.microsoft.com/office/drawing/2014/main" id="{DC55AB4C-449C-C3A4-D9F2-9C75C34E8120}"/>
              </a:ext>
            </a:extLst>
          </p:cNvPr>
          <p:cNvSpPr txBox="1"/>
          <p:nvPr/>
        </p:nvSpPr>
        <p:spPr>
          <a:xfrm>
            <a:off x="8218534" y="2700629"/>
            <a:ext cx="3246155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CN" altLang="en-US" sz="1400" i="1" spc="-60">
                <a:latin typeface="Bahnschrift" panose="020B0502040204020203" pitchFamily="34" charset="0"/>
                <a:cs typeface="Arial"/>
              </a:rPr>
              <a:t>Preprocessed parasitized cell image</a:t>
            </a:r>
            <a:endParaRPr lang="zh-CN" altLang="en-US" sz="1400" i="1" spc="-60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D3D1F28-AADF-0978-320A-2FE95AE9265F}"/>
              </a:ext>
            </a:extLst>
          </p:cNvPr>
          <p:cNvCxnSpPr/>
          <p:nvPr/>
        </p:nvCxnSpPr>
        <p:spPr>
          <a:xfrm flipH="1">
            <a:off x="10339719" y="2067740"/>
            <a:ext cx="249175" cy="56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CC27434-CF4A-BC58-FA34-91C8638FD30A}"/>
              </a:ext>
            </a:extLst>
          </p:cNvPr>
          <p:cNvCxnSpPr/>
          <p:nvPr/>
        </p:nvCxnSpPr>
        <p:spPr>
          <a:xfrm>
            <a:off x="10588700" y="2054673"/>
            <a:ext cx="9853" cy="609723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61092-3367-C489-8E6B-64CD931EF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dirty="0">
                <a:solidFill>
                  <a:schemeClr val="bg1"/>
                </a:solidFill>
              </a:rPr>
              <a:t>9</a:t>
            </a:fld>
            <a:endParaRPr lang="en-GB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090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6" grpId="0"/>
      <p:bldP spid="16" grpId="0" animBg="1"/>
      <p:bldP spid="19" grpId="0" animBg="1"/>
      <p:bldP spid="20" grpId="0" animBg="1"/>
      <p:bldP spid="21" grpId="0" animBg="1"/>
      <p:bldP spid="22" grpId="0"/>
      <p:bldP spid="23" grpId="0"/>
      <p:bldP spid="24" grpId="0"/>
      <p:bldP spid="25" grpId="0"/>
      <p:bldP spid="37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AB3FC-3119-E7EB-8C16-272B52875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51C6480-849E-B0D5-54FE-6FB37F5AEB31}"/>
              </a:ext>
            </a:extLst>
          </p:cNvPr>
          <p:cNvSpPr/>
          <p:nvPr/>
        </p:nvSpPr>
        <p:spPr>
          <a:xfrm>
            <a:off x="11632163" y="0"/>
            <a:ext cx="559838" cy="6858000"/>
          </a:xfrm>
          <a:prstGeom prst="rect">
            <a:avLst/>
          </a:prstGeom>
          <a:solidFill>
            <a:srgbClr val="9FB0E6"/>
          </a:solidFill>
          <a:ln>
            <a:solidFill>
              <a:srgbClr val="85A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B0BFA-5358-8A5F-3659-4EDFB0BCB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smtClean="0">
                <a:solidFill>
                  <a:schemeClr val="bg1"/>
                </a:solidFill>
              </a:rPr>
              <a:t>10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BFA66E7-EA6C-D74E-8B6D-915212BCDC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7358" y="3279328"/>
            <a:ext cx="7561549" cy="1266131"/>
          </a:xfrm>
        </p:spPr>
        <p:txBody>
          <a:bodyPr/>
          <a:lstStyle/>
          <a:p>
            <a:pPr algn="r"/>
            <a:r>
              <a:rPr lang="en-MY">
                <a:solidFill>
                  <a:srgbClr val="5654A6"/>
                </a:solidFill>
              </a:rPr>
              <a:t>Exploratory Data Analysis (EDA)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1F9FC75-7F54-D996-10F1-3DDB705CD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0066" y="4545459"/>
            <a:ext cx="9028842" cy="1089798"/>
          </a:xfrm>
        </p:spPr>
        <p:txBody>
          <a:bodyPr>
            <a:normAutofit/>
          </a:bodyPr>
          <a:lstStyle/>
          <a:p>
            <a:pPr algn="r"/>
            <a:r>
              <a:rPr lang="en-MY" sz="2400"/>
              <a:t>Class Distribution Analysis, Pixel Intensity Value Analysis, Principal Component Analysis (PCA) </a:t>
            </a:r>
          </a:p>
        </p:txBody>
      </p:sp>
      <p:sp>
        <p:nvSpPr>
          <p:cNvPr id="7" name="Teardrop 6">
            <a:extLst>
              <a:ext uri="{FF2B5EF4-FFF2-40B4-BE49-F238E27FC236}">
                <a16:creationId xmlns:a16="http://schemas.microsoft.com/office/drawing/2014/main" id="{3CF2F2D5-CFE6-58C4-DDE9-624C81BAE60C}"/>
              </a:ext>
            </a:extLst>
          </p:cNvPr>
          <p:cNvSpPr/>
          <p:nvPr/>
        </p:nvSpPr>
        <p:spPr>
          <a:xfrm>
            <a:off x="9393564" y="1842071"/>
            <a:ext cx="1266131" cy="1266131"/>
          </a:xfrm>
          <a:prstGeom prst="teardrop">
            <a:avLst/>
          </a:prstGeom>
          <a:solidFill>
            <a:srgbClr val="9FB0E6"/>
          </a:solidFill>
          <a:ln>
            <a:solidFill>
              <a:srgbClr val="85A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3600" b="1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74203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C15F1-FEC7-A6D6-8D66-ACA67C983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A9C1E67-3745-DD72-EF99-A7FF751D307D}"/>
              </a:ext>
            </a:extLst>
          </p:cNvPr>
          <p:cNvCxnSpPr>
            <a:cxnSpLocks/>
          </p:cNvCxnSpPr>
          <p:nvPr/>
        </p:nvCxnSpPr>
        <p:spPr>
          <a:xfrm>
            <a:off x="3411794" y="3836397"/>
            <a:ext cx="1474839" cy="1100972"/>
          </a:xfrm>
          <a:prstGeom prst="line">
            <a:avLst/>
          </a:prstGeom>
          <a:ln w="38100">
            <a:solidFill>
              <a:srgbClr val="9A84E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95F8136-25B0-928A-1D2B-45FB2CE23DD5}"/>
              </a:ext>
            </a:extLst>
          </p:cNvPr>
          <p:cNvCxnSpPr>
            <a:cxnSpLocks/>
          </p:cNvCxnSpPr>
          <p:nvPr/>
        </p:nvCxnSpPr>
        <p:spPr>
          <a:xfrm>
            <a:off x="1936955" y="2713703"/>
            <a:ext cx="1474839" cy="1100972"/>
          </a:xfrm>
          <a:prstGeom prst="line">
            <a:avLst/>
          </a:prstGeom>
          <a:ln w="38100">
            <a:solidFill>
              <a:srgbClr val="9A84E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3A9BBD82-3F5C-D32B-C8E5-B19079514FBA}"/>
              </a:ext>
            </a:extLst>
          </p:cNvPr>
          <p:cNvSpPr/>
          <p:nvPr/>
        </p:nvSpPr>
        <p:spPr>
          <a:xfrm>
            <a:off x="0" y="6439614"/>
            <a:ext cx="12192001" cy="418385"/>
          </a:xfrm>
          <a:prstGeom prst="rect">
            <a:avLst/>
          </a:prstGeom>
          <a:solidFill>
            <a:srgbClr val="9FB0E6"/>
          </a:solidFill>
          <a:ln>
            <a:solidFill>
              <a:srgbClr val="85A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C47807-6BB9-6A35-DD4D-B9F1C2A02D3A}"/>
              </a:ext>
            </a:extLst>
          </p:cNvPr>
          <p:cNvSpPr txBox="1"/>
          <p:nvPr/>
        </p:nvSpPr>
        <p:spPr>
          <a:xfrm>
            <a:off x="491614" y="491613"/>
            <a:ext cx="6742551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AU" sz="3200" b="1">
                <a:solidFill>
                  <a:srgbClr val="5654A6"/>
                </a:solidFill>
                <a:latin typeface="+mj-lt"/>
                <a:cs typeface="Times New Roman"/>
              </a:rPr>
              <a:t>Exploratory Data Analysis (EDA)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6D6C8-3051-A8E1-C4A9-26E2F596B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5" y="6466243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z="1400" dirty="0">
                <a:solidFill>
                  <a:schemeClr val="bg1"/>
                </a:solidFill>
              </a:rPr>
              <a:t>11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820F054-062C-9643-EAF6-6A2F3EDA2FBE}"/>
              </a:ext>
            </a:extLst>
          </p:cNvPr>
          <p:cNvSpPr txBox="1"/>
          <p:nvPr/>
        </p:nvSpPr>
        <p:spPr>
          <a:xfrm>
            <a:off x="491614" y="1189345"/>
            <a:ext cx="417825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b="1">
                <a:solidFill>
                  <a:srgbClr val="7771C9"/>
                </a:solidFill>
                <a:latin typeface="+mj-lt"/>
                <a:cs typeface="Times New Roman"/>
              </a:rPr>
              <a:t>Overall Approach </a:t>
            </a:r>
          </a:p>
        </p:txBody>
      </p:sp>
      <p:sp>
        <p:nvSpPr>
          <p:cNvPr id="12" name="Google Shape;146;p3">
            <a:extLst>
              <a:ext uri="{FF2B5EF4-FFF2-40B4-BE49-F238E27FC236}">
                <a16:creationId xmlns:a16="http://schemas.microsoft.com/office/drawing/2014/main" id="{998D1860-E619-24D7-F623-93CE6BF2F2A8}"/>
              </a:ext>
            </a:extLst>
          </p:cNvPr>
          <p:cNvSpPr txBox="1"/>
          <p:nvPr/>
        </p:nvSpPr>
        <p:spPr>
          <a:xfrm>
            <a:off x="2782777" y="2344848"/>
            <a:ext cx="4178256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444282"/>
                </a:solidFill>
              </a:rPr>
              <a:t>Class Distribution Analysis</a:t>
            </a:r>
          </a:p>
        </p:txBody>
      </p:sp>
      <p:sp>
        <p:nvSpPr>
          <p:cNvPr id="19" name="Google Shape;135;p3">
            <a:extLst>
              <a:ext uri="{FF2B5EF4-FFF2-40B4-BE49-F238E27FC236}">
                <a16:creationId xmlns:a16="http://schemas.microsoft.com/office/drawing/2014/main" id="{5264B223-0292-A781-3341-922467BCC21E}"/>
              </a:ext>
            </a:extLst>
          </p:cNvPr>
          <p:cNvSpPr/>
          <p:nvPr/>
        </p:nvSpPr>
        <p:spPr>
          <a:xfrm>
            <a:off x="1377778" y="2163437"/>
            <a:ext cx="923335" cy="879889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9A84E2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2" name="Google Shape;146;p3">
            <a:extLst>
              <a:ext uri="{FF2B5EF4-FFF2-40B4-BE49-F238E27FC236}">
                <a16:creationId xmlns:a16="http://schemas.microsoft.com/office/drawing/2014/main" id="{751F0C1D-186E-7968-9482-AE0AD53BAD0E}"/>
              </a:ext>
            </a:extLst>
          </p:cNvPr>
          <p:cNvSpPr txBox="1"/>
          <p:nvPr/>
        </p:nvSpPr>
        <p:spPr>
          <a:xfrm>
            <a:off x="4214683" y="3528246"/>
            <a:ext cx="5292561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444282"/>
                </a:solidFill>
              </a:rPr>
              <a:t>Pixel Intensity Distribution Analysis</a:t>
            </a:r>
          </a:p>
        </p:txBody>
      </p:sp>
      <p:sp>
        <p:nvSpPr>
          <p:cNvPr id="23" name="Google Shape;135;p3">
            <a:extLst>
              <a:ext uri="{FF2B5EF4-FFF2-40B4-BE49-F238E27FC236}">
                <a16:creationId xmlns:a16="http://schemas.microsoft.com/office/drawing/2014/main" id="{33B73A99-7ECC-F6B0-CEC1-CC3B15F97B54}"/>
              </a:ext>
            </a:extLst>
          </p:cNvPr>
          <p:cNvSpPr/>
          <p:nvPr/>
        </p:nvSpPr>
        <p:spPr>
          <a:xfrm>
            <a:off x="2939554" y="3374338"/>
            <a:ext cx="923335" cy="879889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9A84E2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6" name="Google Shape;146;p3">
            <a:extLst>
              <a:ext uri="{FF2B5EF4-FFF2-40B4-BE49-F238E27FC236}">
                <a16:creationId xmlns:a16="http://schemas.microsoft.com/office/drawing/2014/main" id="{21C69A33-58CB-22A8-74B5-DF25D882E826}"/>
              </a:ext>
            </a:extLst>
          </p:cNvPr>
          <p:cNvSpPr txBox="1"/>
          <p:nvPr/>
        </p:nvSpPr>
        <p:spPr>
          <a:xfrm>
            <a:off x="5723428" y="4788764"/>
            <a:ext cx="612334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444282"/>
                </a:solidFill>
              </a:rPr>
              <a:t>Principal Component Analysis (PCA)</a:t>
            </a:r>
          </a:p>
        </p:txBody>
      </p:sp>
      <p:sp>
        <p:nvSpPr>
          <p:cNvPr id="27" name="Google Shape;135;p3">
            <a:extLst>
              <a:ext uri="{FF2B5EF4-FFF2-40B4-BE49-F238E27FC236}">
                <a16:creationId xmlns:a16="http://schemas.microsoft.com/office/drawing/2014/main" id="{CF61ED60-9BB4-5AFB-A414-077378A7C833}"/>
              </a:ext>
            </a:extLst>
          </p:cNvPr>
          <p:cNvSpPr/>
          <p:nvPr/>
        </p:nvSpPr>
        <p:spPr>
          <a:xfrm>
            <a:off x="4669870" y="4607353"/>
            <a:ext cx="923335" cy="879889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9A84E2"/>
          </a:solidFill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400" b="1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435451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9" grpId="0" animBg="1"/>
      <p:bldP spid="22" grpId="0"/>
      <p:bldP spid="23" grpId="0" animBg="1"/>
      <p:bldP spid="26" grpId="0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116EF-E74E-4C70-BA88-2DDAF0456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588B73E-14E9-EF09-7C80-17DC3CA02125}"/>
              </a:ext>
            </a:extLst>
          </p:cNvPr>
          <p:cNvSpPr/>
          <p:nvPr/>
        </p:nvSpPr>
        <p:spPr>
          <a:xfrm>
            <a:off x="0" y="1911373"/>
            <a:ext cx="12192000" cy="4346552"/>
          </a:xfrm>
          <a:prstGeom prst="rect">
            <a:avLst/>
          </a:prstGeom>
          <a:solidFill>
            <a:srgbClr val="F3F5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720B0A-CB14-3A56-CB1D-12EE49EB7DC4}"/>
              </a:ext>
            </a:extLst>
          </p:cNvPr>
          <p:cNvSpPr/>
          <p:nvPr/>
        </p:nvSpPr>
        <p:spPr>
          <a:xfrm>
            <a:off x="7244617" y="1076388"/>
            <a:ext cx="4422200" cy="3168013"/>
          </a:xfrm>
          <a:prstGeom prst="roundRect">
            <a:avLst>
              <a:gd name="adj" fmla="val 6016"/>
            </a:avLst>
          </a:prstGeom>
          <a:solidFill>
            <a:srgbClr val="FFFFFF">
              <a:alpha val="90000"/>
            </a:srgbClr>
          </a:solidFill>
          <a:ln w="28575">
            <a:solidFill>
              <a:srgbClr val="9A84E2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52400" dist="88900" dir="5400000" rotWithShape="0">
                    <a:srgbClr val="000000">
                      <a:alpha val="2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FBF9DC0-3C8E-BF41-BC1B-753DDC1CE692}"/>
              </a:ext>
            </a:extLst>
          </p:cNvPr>
          <p:cNvSpPr/>
          <p:nvPr/>
        </p:nvSpPr>
        <p:spPr>
          <a:xfrm>
            <a:off x="552584" y="4355116"/>
            <a:ext cx="11045778" cy="1812024"/>
          </a:xfrm>
          <a:prstGeom prst="roundRect">
            <a:avLst>
              <a:gd name="adj" fmla="val 6016"/>
            </a:avLst>
          </a:prstGeom>
          <a:solidFill>
            <a:srgbClr val="F7F7FB"/>
          </a:solidFill>
          <a:ln w="28575">
            <a:solidFill>
              <a:srgbClr val="9A84E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1D1D326-D9A0-D96B-9FAC-4F817C704BFB}"/>
              </a:ext>
            </a:extLst>
          </p:cNvPr>
          <p:cNvSpPr/>
          <p:nvPr/>
        </p:nvSpPr>
        <p:spPr>
          <a:xfrm>
            <a:off x="559838" y="2335886"/>
            <a:ext cx="6323561" cy="1507570"/>
          </a:xfrm>
          <a:prstGeom prst="roundRect">
            <a:avLst>
              <a:gd name="adj" fmla="val 6016"/>
            </a:avLst>
          </a:prstGeom>
          <a:solidFill>
            <a:srgbClr val="F7F7FB"/>
          </a:solidFill>
          <a:ln w="28575">
            <a:solidFill>
              <a:srgbClr val="9A84E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F96B8C-4F84-21C2-41E6-0152AEF1B62E}"/>
              </a:ext>
            </a:extLst>
          </p:cNvPr>
          <p:cNvSpPr/>
          <p:nvPr/>
        </p:nvSpPr>
        <p:spPr>
          <a:xfrm>
            <a:off x="0" y="6439614"/>
            <a:ext cx="12192001" cy="418385"/>
          </a:xfrm>
          <a:prstGeom prst="rect">
            <a:avLst/>
          </a:prstGeom>
          <a:solidFill>
            <a:srgbClr val="9FB0E6"/>
          </a:solidFill>
          <a:ln>
            <a:solidFill>
              <a:srgbClr val="85A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1CB69D-538E-C22D-B2D8-DB8211AA9DBE}"/>
              </a:ext>
            </a:extLst>
          </p:cNvPr>
          <p:cNvSpPr txBox="1"/>
          <p:nvPr/>
        </p:nvSpPr>
        <p:spPr>
          <a:xfrm>
            <a:off x="491614" y="491613"/>
            <a:ext cx="6638356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AU" sz="3200" b="1">
                <a:solidFill>
                  <a:srgbClr val="5654A6"/>
                </a:solidFill>
                <a:latin typeface="+mj-lt"/>
                <a:cs typeface="Times New Roman"/>
              </a:rPr>
              <a:t>Exploratory Data Analysis (EDA)</a:t>
            </a:r>
          </a:p>
        </p:txBody>
      </p:sp>
      <p:sp>
        <p:nvSpPr>
          <p:cNvPr id="28" name="Google Shape;146;p3">
            <a:extLst>
              <a:ext uri="{FF2B5EF4-FFF2-40B4-BE49-F238E27FC236}">
                <a16:creationId xmlns:a16="http://schemas.microsoft.com/office/drawing/2014/main" id="{08A5E553-44A4-0E58-4AC3-0AFB538689CD}"/>
              </a:ext>
            </a:extLst>
          </p:cNvPr>
          <p:cNvSpPr txBox="1"/>
          <p:nvPr/>
        </p:nvSpPr>
        <p:spPr>
          <a:xfrm>
            <a:off x="1332730" y="1228803"/>
            <a:ext cx="476327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7771C9"/>
                </a:solidFill>
              </a:rPr>
              <a:t>Class Distribution Analysis</a:t>
            </a:r>
          </a:p>
        </p:txBody>
      </p:sp>
      <p:pic>
        <p:nvPicPr>
          <p:cNvPr id="38" name="Picture 37" descr="A blue bar graph with white text&#10;&#10;AI-generated content may be incorrect.">
            <a:extLst>
              <a:ext uri="{FF2B5EF4-FFF2-40B4-BE49-F238E27FC236}">
                <a16:creationId xmlns:a16="http://schemas.microsoft.com/office/drawing/2014/main" id="{8C25B598-BC49-8E66-B3F8-9B7DB0A89B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4616" y="1098271"/>
            <a:ext cx="4320151" cy="309258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4736FB-E23D-AC24-7014-4DCE98A55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smtClean="0">
                <a:solidFill>
                  <a:schemeClr val="bg1"/>
                </a:solidFill>
              </a:rPr>
              <a:t>12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4" name="Google Shape;135;p3">
            <a:extLst>
              <a:ext uri="{FF2B5EF4-FFF2-40B4-BE49-F238E27FC236}">
                <a16:creationId xmlns:a16="http://schemas.microsoft.com/office/drawing/2014/main" id="{C43721B9-10BE-0460-9C2C-DD5F9EAAF939}"/>
              </a:ext>
            </a:extLst>
          </p:cNvPr>
          <p:cNvSpPr/>
          <p:nvPr/>
        </p:nvSpPr>
        <p:spPr>
          <a:xfrm>
            <a:off x="593639" y="1228803"/>
            <a:ext cx="565290" cy="530155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9A84E2"/>
          </a:solidFill>
          <a:ln>
            <a:solidFill>
              <a:srgbClr val="9A84E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0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6696432-DC14-41ED-77E4-4D336F2E0F05}"/>
              </a:ext>
            </a:extLst>
          </p:cNvPr>
          <p:cNvSpPr/>
          <p:nvPr/>
        </p:nvSpPr>
        <p:spPr>
          <a:xfrm>
            <a:off x="593639" y="2063412"/>
            <a:ext cx="3013161" cy="544947"/>
          </a:xfrm>
          <a:prstGeom prst="roundRect">
            <a:avLst/>
          </a:prstGeom>
          <a:solidFill>
            <a:srgbClr val="6C74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Chi-Squared Test</a:t>
            </a:r>
            <a:endParaRPr lang="en-AU" b="1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202BC22-D3D3-8E7D-38B3-F721FE3B7730}"/>
              </a:ext>
            </a:extLst>
          </p:cNvPr>
          <p:cNvSpPr/>
          <p:nvPr/>
        </p:nvSpPr>
        <p:spPr>
          <a:xfrm>
            <a:off x="593638" y="4026585"/>
            <a:ext cx="3013161" cy="544947"/>
          </a:xfrm>
          <a:prstGeom prst="roundRect">
            <a:avLst/>
          </a:prstGeom>
          <a:solidFill>
            <a:srgbClr val="6C74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Observation</a:t>
            </a:r>
            <a:endParaRPr lang="en-AU" b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6FE0F0-E910-1F77-C9F7-B6D0EEEB7493}"/>
              </a:ext>
            </a:extLst>
          </p:cNvPr>
          <p:cNvSpPr txBox="1"/>
          <p:nvPr/>
        </p:nvSpPr>
        <p:spPr>
          <a:xfrm>
            <a:off x="876284" y="2038614"/>
            <a:ext cx="61023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en-MY" sz="1200">
                <a:latin typeface="Bahnschrift" panose="020B0502040204020203" pitchFamily="34" charset="0"/>
              </a:rPr>
              <a:t>To assess the class balance of the dataset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89CD605-F241-0656-07AC-4FCC729B71F1}"/>
                  </a:ext>
                </a:extLst>
              </p:cNvPr>
              <p:cNvSpPr txBox="1"/>
              <p:nvPr/>
            </p:nvSpPr>
            <p:spPr>
              <a:xfrm>
                <a:off x="822250" y="2688525"/>
                <a:ext cx="57987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MY" sz="1600" b="1" i="1" smtClean="0">
                            <a:solidFill>
                              <a:srgbClr val="2C326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1600" b="1" i="1">
                            <a:solidFill>
                              <a:srgbClr val="2C3266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MY" sz="1600" b="1" i="1">
                            <a:solidFill>
                              <a:srgbClr val="2C3266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MY" sz="1600" b="1">
                    <a:solidFill>
                      <a:srgbClr val="2C3266"/>
                    </a:solidFill>
                    <a:latin typeface="Bahnschrift" panose="020B0502040204020203" pitchFamily="34" charset="0"/>
                  </a:rPr>
                  <a:t>: </a:t>
                </a:r>
                <a:r>
                  <a:rPr lang="en-US" sz="1600">
                    <a:solidFill>
                      <a:srgbClr val="2C3266"/>
                    </a:solidFill>
                    <a:latin typeface="Bahnschrift" panose="020B0502040204020203" pitchFamily="34" charset="0"/>
                    <a:ea typeface="+mn-lt"/>
                    <a:cs typeface="+mn-lt"/>
                  </a:rPr>
                  <a:t>The two classes occur with </a:t>
                </a:r>
                <a:r>
                  <a:rPr lang="en-US" sz="1600" b="1">
                    <a:solidFill>
                      <a:srgbClr val="2C3266"/>
                    </a:solidFill>
                    <a:latin typeface="Bahnschrift" panose="020B0502040204020203" pitchFamily="34" charset="0"/>
                    <a:ea typeface="+mn-lt"/>
                    <a:cs typeface="+mn-lt"/>
                  </a:rPr>
                  <a:t>equal frequency</a:t>
                </a:r>
                <a:r>
                  <a:rPr lang="en-US" sz="1600">
                    <a:solidFill>
                      <a:srgbClr val="2C3266"/>
                    </a:solidFill>
                    <a:latin typeface="Bahnschrift" panose="020B0502040204020203" pitchFamily="34" charset="0"/>
                    <a:ea typeface="+mn-lt"/>
                    <a:cs typeface="+mn-lt"/>
                  </a:rPr>
                  <a:t> (f₁ = f₂)</a:t>
                </a:r>
              </a:p>
              <a:p>
                <a:pPr algn="ctr"/>
                <a:r>
                  <a:rPr lang="en-MY" sz="1600">
                    <a:solidFill>
                      <a:srgbClr val="2C3266"/>
                    </a:solidFill>
                    <a:latin typeface="Bahnschrift" panose="020B0502040204020203" pitchFamily="34" charset="0"/>
                  </a:rPr>
                  <a:t>vs.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MY" sz="1600" b="1" i="1">
                            <a:solidFill>
                              <a:srgbClr val="2C326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1600" b="1" i="1">
                            <a:solidFill>
                              <a:srgbClr val="2C3266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MY" sz="1600" b="1" i="1">
                            <a:solidFill>
                              <a:srgbClr val="2C3266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MY" sz="1600" b="1">
                    <a:solidFill>
                      <a:srgbClr val="2C3266"/>
                    </a:solidFill>
                    <a:latin typeface="Bahnschrift" panose="020B0502040204020203" pitchFamily="34" charset="0"/>
                  </a:rPr>
                  <a:t>: </a:t>
                </a:r>
                <a:r>
                  <a:rPr lang="en-US" sz="1600">
                    <a:solidFill>
                      <a:srgbClr val="2C3266"/>
                    </a:solidFill>
                    <a:latin typeface="Bahnschrift" panose="020B0502040204020203" pitchFamily="34" charset="0"/>
                    <a:ea typeface="+mn-lt"/>
                    <a:cs typeface="+mn-lt"/>
                  </a:rPr>
                  <a:t>The two classes occur with </a:t>
                </a:r>
                <a:r>
                  <a:rPr lang="en-US" sz="1600" b="1">
                    <a:solidFill>
                      <a:srgbClr val="2C3266"/>
                    </a:solidFill>
                    <a:latin typeface="Bahnschrift" panose="020B0502040204020203" pitchFamily="34" charset="0"/>
                    <a:ea typeface="+mn-lt"/>
                    <a:cs typeface="+mn-lt"/>
                  </a:rPr>
                  <a:t>different frequencies </a:t>
                </a:r>
                <a:r>
                  <a:rPr lang="en-US" sz="1600">
                    <a:solidFill>
                      <a:srgbClr val="2C3266"/>
                    </a:solidFill>
                    <a:latin typeface="Bahnschrift" panose="020B0502040204020203" pitchFamily="34" charset="0"/>
                    <a:ea typeface="+mn-lt"/>
                    <a:cs typeface="+mn-lt"/>
                  </a:rPr>
                  <a:t>(f₁ ≠ f₂)</a:t>
                </a:r>
                <a:endParaRPr lang="en-MY" sz="1600" b="1">
                  <a:solidFill>
                    <a:srgbClr val="2C3266"/>
                  </a:solidFill>
                  <a:latin typeface="Bahnschrift" panose="020B0502040204020203" pitchFamily="34" charset="0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89CD605-F241-0656-07AC-4FCC729B7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250" y="2688525"/>
                <a:ext cx="5798735" cy="830997"/>
              </a:xfrm>
              <a:prstGeom prst="rect">
                <a:avLst/>
              </a:prstGeom>
              <a:blipFill>
                <a:blip r:embed="rId4"/>
                <a:stretch>
                  <a:fillRect t="-3676" r="-526" b="-8824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1">
            <a:extLst>
              <a:ext uri="{FF2B5EF4-FFF2-40B4-BE49-F238E27FC236}">
                <a16:creationId xmlns:a16="http://schemas.microsoft.com/office/drawing/2014/main" id="{3CDEA3E5-EFF5-A2FD-F630-720A8CB12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630" y="5030295"/>
            <a:ext cx="26931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MY" sz="2400" b="1">
                <a:solidFill>
                  <a:srgbClr val="535CB5"/>
                </a:solidFill>
                <a:latin typeface="Bahnschrift" panose="020B0502040204020203" pitchFamily="34" charset="0"/>
                <a:cs typeface="Arial"/>
              </a:rPr>
              <a:t>p-</a:t>
            </a:r>
            <a:r>
              <a:rPr lang="en-MY" sz="2400" b="1" err="1">
                <a:solidFill>
                  <a:srgbClr val="535CB5"/>
                </a:solidFill>
                <a:latin typeface="Bahnschrift" panose="020B0502040204020203" pitchFamily="34" charset="0"/>
                <a:cs typeface="Arial"/>
              </a:rPr>
              <a:t>val</a:t>
            </a:r>
            <a:r>
              <a:rPr lang="en-US" sz="2400" b="1" err="1">
                <a:solidFill>
                  <a:srgbClr val="535CB5"/>
                </a:solidFill>
                <a:latin typeface="Bahnschrift" panose="020B0502040204020203" pitchFamily="34" charset="0"/>
                <a:cs typeface="Arial"/>
              </a:rPr>
              <a:t>ue</a:t>
            </a:r>
            <a:r>
              <a:rPr lang="en-US" sz="2400" b="1">
                <a:solidFill>
                  <a:srgbClr val="535CB5"/>
                </a:solidFill>
                <a:latin typeface="Bahnschrift" panose="020B0502040204020203" pitchFamily="34" charset="0"/>
                <a:cs typeface="Arial"/>
              </a:rPr>
              <a:t> = 1.0</a:t>
            </a:r>
            <a:endParaRPr lang="en-US" sz="2000">
              <a:solidFill>
                <a:srgbClr val="535CB5"/>
              </a:solidFill>
              <a:latin typeface="Bahnschrift" panose="020B0502040204020203" pitchFamily="34" charset="0"/>
              <a:ea typeface="+mn-lt"/>
              <a:cs typeface="+mn-lt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5CBDBAC-524B-7C4D-4E89-38C660283A70}"/>
              </a:ext>
            </a:extLst>
          </p:cNvPr>
          <p:cNvCxnSpPr/>
          <p:nvPr/>
        </p:nvCxnSpPr>
        <p:spPr>
          <a:xfrm>
            <a:off x="3927459" y="4903715"/>
            <a:ext cx="0" cy="787400"/>
          </a:xfrm>
          <a:prstGeom prst="line">
            <a:avLst/>
          </a:prstGeom>
          <a:ln>
            <a:solidFill>
              <a:srgbClr val="535C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 1">
                <a:extLst>
                  <a:ext uri="{FF2B5EF4-FFF2-40B4-BE49-F238E27FC236}">
                    <a16:creationId xmlns:a16="http://schemas.microsoft.com/office/drawing/2014/main" id="{F5D6D3E0-5EB1-D0C7-8409-1C4A14501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8120" y="4464429"/>
                <a:ext cx="6500537" cy="15195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/>
                  <a:buChar char="•"/>
                </a:pPr>
                <a:r>
                  <a:rPr lang="en-US" sz="1600" b="1">
                    <a:solidFill>
                      <a:srgbClr val="2C3266"/>
                    </a:solidFill>
                    <a:latin typeface="Bahnschrift" panose="020B0502040204020203" pitchFamily="34" charset="0"/>
                    <a:ea typeface="+mn-lt"/>
                    <a:cs typeface="Arial"/>
                  </a:rPr>
                  <a:t>No evidence</a:t>
                </a:r>
                <a:r>
                  <a:rPr lang="en-US" sz="1600">
                    <a:solidFill>
                      <a:srgbClr val="2C3266"/>
                    </a:solidFill>
                    <a:latin typeface="Bahnschrift" panose="020B0502040204020203" pitchFamily="34" charset="0"/>
                    <a:ea typeface="+mn-lt"/>
                    <a:cs typeface="Arial"/>
                  </a:rPr>
                  <a:t> to reject 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1600" b="1" i="1">
                            <a:solidFill>
                              <a:srgbClr val="2C326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1600" b="1" i="1">
                            <a:solidFill>
                              <a:srgbClr val="2C3266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MY" sz="1600" b="1" i="1">
                            <a:solidFill>
                              <a:srgbClr val="2C3266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US" sz="1600">
                  <a:solidFill>
                    <a:srgbClr val="2C3266"/>
                  </a:solidFill>
                  <a:latin typeface="Bahnschrift" panose="020B0502040204020203" pitchFamily="34" charset="0"/>
                  <a:ea typeface="+mn-lt"/>
                  <a:cs typeface="Arial"/>
                </a:endParaRPr>
              </a:p>
              <a:p>
                <a:pPr marL="171450" indent="-171450">
                  <a:lnSpc>
                    <a:spcPct val="150000"/>
                  </a:lnSpc>
                  <a:buFont typeface="Arial"/>
                  <a:buChar char="•"/>
                </a:pPr>
                <a:r>
                  <a:rPr lang="en-US" sz="1600">
                    <a:solidFill>
                      <a:srgbClr val="2C3266"/>
                    </a:solidFill>
                    <a:latin typeface="Bahnschrift" panose="020B0502040204020203" pitchFamily="34" charset="0"/>
                    <a:ea typeface="+mn-lt"/>
                    <a:cs typeface="+mn-lt"/>
                  </a:rPr>
                  <a:t>Differences in class frequencies </a:t>
                </a:r>
                <a:r>
                  <a:rPr lang="en-US" sz="1600" b="1">
                    <a:solidFill>
                      <a:srgbClr val="2C3266"/>
                    </a:solidFill>
                    <a:latin typeface="Bahnschrift" panose="020B0502040204020203" pitchFamily="34" charset="0"/>
                    <a:ea typeface="+mn-lt"/>
                    <a:cs typeface="+mn-lt"/>
                  </a:rPr>
                  <a:t>not statistically significant</a:t>
                </a:r>
              </a:p>
              <a:p>
                <a:pPr marL="171450" indent="-171450">
                  <a:lnSpc>
                    <a:spcPct val="150000"/>
                  </a:lnSpc>
                  <a:buFont typeface="Arial"/>
                  <a:buChar char="•"/>
                </a:pPr>
                <a:r>
                  <a:rPr lang="en-US" sz="1600">
                    <a:solidFill>
                      <a:srgbClr val="2C3266"/>
                    </a:solidFill>
                    <a:latin typeface="Bahnschrift" panose="020B0502040204020203" pitchFamily="34" charset="0"/>
                  </a:rPr>
                  <a:t>Suggest that the model will </a:t>
                </a:r>
                <a:r>
                  <a:rPr lang="en-US" sz="1600" b="1">
                    <a:solidFill>
                      <a:srgbClr val="2C3266"/>
                    </a:solidFill>
                    <a:latin typeface="Bahnschrift" panose="020B0502040204020203" pitchFamily="34" charset="0"/>
                  </a:rPr>
                  <a:t>not tend to bias toward either class</a:t>
                </a:r>
              </a:p>
              <a:p>
                <a:pPr marL="171450" indent="-171450">
                  <a:lnSpc>
                    <a:spcPct val="150000"/>
                  </a:lnSpc>
                  <a:buFont typeface="Arial"/>
                  <a:buChar char="•"/>
                </a:pPr>
                <a:r>
                  <a:rPr lang="en-US" sz="1600">
                    <a:solidFill>
                      <a:srgbClr val="2C3266"/>
                    </a:solidFill>
                    <a:latin typeface="Bahnschrift" panose="020B0502040204020203" pitchFamily="34" charset="0"/>
                  </a:rPr>
                  <a:t>No resampling or adjustment of weight during the training needed</a:t>
                </a:r>
                <a:endParaRPr lang="en-US" sz="1600">
                  <a:solidFill>
                    <a:srgbClr val="2C3266"/>
                  </a:solidFill>
                  <a:latin typeface="Bahnschrift" panose="020B0502040204020203" pitchFamily="34" charset="0"/>
                  <a:ea typeface="+mn-lt"/>
                  <a:cs typeface="+mn-lt"/>
                </a:endParaRPr>
              </a:p>
            </p:txBody>
          </p:sp>
        </mc:Choice>
        <mc:Fallback>
          <p:sp>
            <p:nvSpPr>
              <p:cNvPr id="25" name="Rectangle 1">
                <a:extLst>
                  <a:ext uri="{FF2B5EF4-FFF2-40B4-BE49-F238E27FC236}">
                    <a16:creationId xmlns:a16="http://schemas.microsoft.com/office/drawing/2014/main" id="{F5D6D3E0-5EB1-D0C7-8409-1C4A145012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48120" y="4464429"/>
                <a:ext cx="6500537" cy="1519583"/>
              </a:xfrm>
              <a:prstGeom prst="rect">
                <a:avLst/>
              </a:prstGeom>
              <a:blipFill>
                <a:blip r:embed="rId5"/>
                <a:stretch>
                  <a:fillRect l="-375" b="-44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887CE84-FCB9-E0DD-E68C-04EB54B0BAB3}"/>
              </a:ext>
            </a:extLst>
          </p:cNvPr>
          <p:cNvSpPr txBox="1"/>
          <p:nvPr/>
        </p:nvSpPr>
        <p:spPr>
          <a:xfrm>
            <a:off x="3922821" y="4051630"/>
            <a:ext cx="30057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en-MY" sz="1200">
                <a:latin typeface="Bahnschrift" panose="020B0502040204020203" pitchFamily="34" charset="0"/>
              </a:rPr>
              <a:t>Significance level of 0.05.</a:t>
            </a:r>
          </a:p>
        </p:txBody>
      </p:sp>
    </p:spTree>
    <p:extLst>
      <p:ext uri="{BB962C8B-B14F-4D97-AF65-F5344CB8AC3E}">
        <p14:creationId xmlns:p14="http://schemas.microsoft.com/office/powerpoint/2010/main" val="2969084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1" grpId="0" animBg="1"/>
      <p:bldP spid="14" grpId="0" animBg="1"/>
      <p:bldP spid="13" grpId="0" animBg="1"/>
      <p:bldP spid="16" grpId="0" animBg="1"/>
      <p:bldP spid="19" grpId="0"/>
      <p:bldP spid="20" grpId="0"/>
      <p:bldP spid="22" grpId="0"/>
      <p:bldP spid="25" grpId="0" uiExpand="1" build="p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790E5-88BA-F9B2-891C-EBE6E86D7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06B96C9-9F96-9AF4-C070-9F1CAE08F7DF}"/>
              </a:ext>
            </a:extLst>
          </p:cNvPr>
          <p:cNvSpPr/>
          <p:nvPr/>
        </p:nvSpPr>
        <p:spPr>
          <a:xfrm>
            <a:off x="0" y="1911373"/>
            <a:ext cx="12192000" cy="4346552"/>
          </a:xfrm>
          <a:prstGeom prst="rect">
            <a:avLst/>
          </a:prstGeom>
          <a:solidFill>
            <a:srgbClr val="F3F5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F388F95-89C9-29B8-3F0D-A23FDF056A58}"/>
              </a:ext>
            </a:extLst>
          </p:cNvPr>
          <p:cNvSpPr/>
          <p:nvPr/>
        </p:nvSpPr>
        <p:spPr>
          <a:xfrm>
            <a:off x="552584" y="4451472"/>
            <a:ext cx="11045778" cy="1715667"/>
          </a:xfrm>
          <a:prstGeom prst="roundRect">
            <a:avLst>
              <a:gd name="adj" fmla="val 6016"/>
            </a:avLst>
          </a:prstGeom>
          <a:solidFill>
            <a:srgbClr val="F7F7FB"/>
          </a:solidFill>
          <a:ln w="28575">
            <a:solidFill>
              <a:srgbClr val="9A84E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6136A68-A03C-55B4-829D-ECF8C1EF8653}"/>
              </a:ext>
            </a:extLst>
          </p:cNvPr>
          <p:cNvSpPr/>
          <p:nvPr/>
        </p:nvSpPr>
        <p:spPr>
          <a:xfrm>
            <a:off x="559838" y="2335886"/>
            <a:ext cx="11072323" cy="1484142"/>
          </a:xfrm>
          <a:prstGeom prst="roundRect">
            <a:avLst>
              <a:gd name="adj" fmla="val 6016"/>
            </a:avLst>
          </a:prstGeom>
          <a:solidFill>
            <a:srgbClr val="F7F7FB"/>
          </a:solidFill>
          <a:ln w="28575">
            <a:solidFill>
              <a:srgbClr val="9A84E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DFEAB9-7CEE-D70F-0C05-68027689CA8C}"/>
              </a:ext>
            </a:extLst>
          </p:cNvPr>
          <p:cNvSpPr/>
          <p:nvPr/>
        </p:nvSpPr>
        <p:spPr>
          <a:xfrm>
            <a:off x="0" y="6439614"/>
            <a:ext cx="12192001" cy="418385"/>
          </a:xfrm>
          <a:prstGeom prst="rect">
            <a:avLst/>
          </a:prstGeom>
          <a:solidFill>
            <a:srgbClr val="9FB0E6"/>
          </a:solidFill>
          <a:ln>
            <a:solidFill>
              <a:srgbClr val="85A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339876-86F3-675D-A891-B1D694C42223}"/>
              </a:ext>
            </a:extLst>
          </p:cNvPr>
          <p:cNvSpPr txBox="1"/>
          <p:nvPr/>
        </p:nvSpPr>
        <p:spPr>
          <a:xfrm>
            <a:off x="491614" y="491613"/>
            <a:ext cx="6638356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AU" sz="3200" b="1">
                <a:solidFill>
                  <a:srgbClr val="5654A6"/>
                </a:solidFill>
                <a:latin typeface="+mj-lt"/>
                <a:cs typeface="Times New Roman"/>
              </a:rPr>
              <a:t>Exploratory Data Analysis (EDA)</a:t>
            </a:r>
          </a:p>
        </p:txBody>
      </p:sp>
      <p:sp>
        <p:nvSpPr>
          <p:cNvPr id="28" name="Google Shape;146;p3">
            <a:extLst>
              <a:ext uri="{FF2B5EF4-FFF2-40B4-BE49-F238E27FC236}">
                <a16:creationId xmlns:a16="http://schemas.microsoft.com/office/drawing/2014/main" id="{FED4C9D1-42DB-8A7C-3353-DFCB7A2DA492}"/>
              </a:ext>
            </a:extLst>
          </p:cNvPr>
          <p:cNvSpPr txBox="1"/>
          <p:nvPr/>
        </p:nvSpPr>
        <p:spPr>
          <a:xfrm>
            <a:off x="1332729" y="1228803"/>
            <a:ext cx="528825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400" b="1">
                <a:solidFill>
                  <a:srgbClr val="7771C9"/>
                </a:solidFill>
              </a:rPr>
              <a:t>Pixel Intensity Distribution Analysis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A3CCFB-A887-621B-225B-65061F816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smtClean="0">
                <a:solidFill>
                  <a:schemeClr val="bg1"/>
                </a:solidFill>
              </a:rPr>
              <a:t>13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4" name="Google Shape;135;p3">
            <a:extLst>
              <a:ext uri="{FF2B5EF4-FFF2-40B4-BE49-F238E27FC236}">
                <a16:creationId xmlns:a16="http://schemas.microsoft.com/office/drawing/2014/main" id="{07BCA80E-0990-B94A-4C17-B5E7A4B3D85E}"/>
              </a:ext>
            </a:extLst>
          </p:cNvPr>
          <p:cNvSpPr/>
          <p:nvPr/>
        </p:nvSpPr>
        <p:spPr>
          <a:xfrm>
            <a:off x="593639" y="1228803"/>
            <a:ext cx="565290" cy="530155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9A84E2"/>
          </a:solidFill>
          <a:ln>
            <a:solidFill>
              <a:srgbClr val="9A84E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0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BABC702-4B08-8E0C-3F25-F76AE85957E7}"/>
              </a:ext>
            </a:extLst>
          </p:cNvPr>
          <p:cNvSpPr/>
          <p:nvPr/>
        </p:nvSpPr>
        <p:spPr>
          <a:xfrm>
            <a:off x="593639" y="2063412"/>
            <a:ext cx="4054560" cy="544947"/>
          </a:xfrm>
          <a:prstGeom prst="roundRect">
            <a:avLst/>
          </a:prstGeom>
          <a:solidFill>
            <a:srgbClr val="6C74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Two Sample t-test</a:t>
            </a:r>
            <a:endParaRPr lang="en-AU" b="1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E915EDB-0630-708B-B790-A9CEF892B406}"/>
              </a:ext>
            </a:extLst>
          </p:cNvPr>
          <p:cNvSpPr/>
          <p:nvPr/>
        </p:nvSpPr>
        <p:spPr>
          <a:xfrm>
            <a:off x="593638" y="4191955"/>
            <a:ext cx="4054561" cy="544947"/>
          </a:xfrm>
          <a:prstGeom prst="roundRect">
            <a:avLst/>
          </a:prstGeom>
          <a:solidFill>
            <a:srgbClr val="6C74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err="1"/>
              <a:t>Kullback</a:t>
            </a:r>
            <a:r>
              <a:rPr lang="en-US" b="1"/>
              <a:t>–</a:t>
            </a:r>
            <a:r>
              <a:rPr lang="en-US" b="1" err="1"/>
              <a:t>Leibler</a:t>
            </a:r>
            <a:r>
              <a:rPr lang="en-US" b="1"/>
              <a:t> (KL) Divergence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E35B1A4-16B2-888D-356A-F6DD0EAFB8A9}"/>
                  </a:ext>
                </a:extLst>
              </p:cNvPr>
              <p:cNvSpPr txBox="1"/>
              <p:nvPr/>
            </p:nvSpPr>
            <p:spPr>
              <a:xfrm>
                <a:off x="822251" y="2688525"/>
                <a:ext cx="1056964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MY" sz="1600" b="1" i="1" smtClean="0">
                            <a:solidFill>
                              <a:srgbClr val="2C326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1600" b="1" i="1">
                            <a:solidFill>
                              <a:srgbClr val="2C3266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MY" sz="1600" b="1" i="1">
                            <a:solidFill>
                              <a:srgbClr val="2C3266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MY" sz="1600" b="1">
                    <a:solidFill>
                      <a:srgbClr val="2C3266"/>
                    </a:solidFill>
                    <a:latin typeface="Bahnschrift" panose="020B0502040204020203" pitchFamily="34" charset="0"/>
                  </a:rPr>
                  <a:t>: Mean pixel intensities of uninfected cells = parasitized cells (no difference)</a:t>
                </a:r>
              </a:p>
              <a:p>
                <a:pPr algn="ctr"/>
                <a:r>
                  <a:rPr lang="en-MY" sz="1600">
                    <a:solidFill>
                      <a:srgbClr val="2C3266"/>
                    </a:solidFill>
                    <a:latin typeface="Bahnschrift" panose="020B0502040204020203" pitchFamily="34" charset="0"/>
                  </a:rPr>
                  <a:t>vs.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MY" sz="1600" b="1" i="1">
                            <a:solidFill>
                              <a:srgbClr val="2C326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1600" b="1" i="1">
                            <a:solidFill>
                              <a:srgbClr val="2C3266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MY" sz="1600" b="1" i="1">
                            <a:solidFill>
                              <a:srgbClr val="2C3266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MY" sz="1600" b="1">
                    <a:solidFill>
                      <a:srgbClr val="2C3266"/>
                    </a:solidFill>
                    <a:latin typeface="Bahnschrift" panose="020B0502040204020203" pitchFamily="34" charset="0"/>
                  </a:rPr>
                  <a:t>: Mean pixel intensities of uninfected cells </a:t>
                </a:r>
                <a14:m>
                  <m:oMath xmlns:m="http://schemas.openxmlformats.org/officeDocument/2006/math">
                    <m:r>
                      <a:rPr lang="en-MY" sz="1600" b="1" i="1">
                        <a:solidFill>
                          <a:srgbClr val="2C326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MY" sz="1600" b="1">
                    <a:solidFill>
                      <a:srgbClr val="2C3266"/>
                    </a:solidFill>
                    <a:latin typeface="Bahnschrift" panose="020B0502040204020203" pitchFamily="34" charset="0"/>
                  </a:rPr>
                  <a:t> parasitized cells (there is a difference)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E35B1A4-16B2-888D-356A-F6DD0EAFB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251" y="2688525"/>
                <a:ext cx="10569649" cy="830997"/>
              </a:xfrm>
              <a:prstGeom prst="rect">
                <a:avLst/>
              </a:prstGeom>
              <a:blipFill>
                <a:blip r:embed="rId3"/>
                <a:stretch>
                  <a:fillRect t="-2206" b="-8824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6994C5E-4C22-2BF6-3FF6-3C095B7D4975}"/>
              </a:ext>
            </a:extLst>
          </p:cNvPr>
          <p:cNvSpPr txBox="1"/>
          <p:nvPr/>
        </p:nvSpPr>
        <p:spPr>
          <a:xfrm>
            <a:off x="4406900" y="2014259"/>
            <a:ext cx="71914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en-MY" sz="1200">
                <a:latin typeface="Bahnschrift" panose="020B0502040204020203" pitchFamily="34" charset="0"/>
              </a:rPr>
              <a:t>To </a:t>
            </a:r>
            <a:r>
              <a:rPr lang="en-MY" sz="1200" b="1">
                <a:latin typeface="Bahnschrift" panose="020B0502040204020203" pitchFamily="34" charset="0"/>
              </a:rPr>
              <a:t>compare the means of 2 independent groups</a:t>
            </a:r>
            <a:r>
              <a:rPr lang="en-MY" sz="1200">
                <a:latin typeface="Bahnschrift" panose="020B0502040204020203" pitchFamily="34" charset="0"/>
              </a:rPr>
              <a:t>, assuming the underlying distributions are normal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964549-58E8-A417-FD15-55CDAF2DC07D}"/>
              </a:ext>
            </a:extLst>
          </p:cNvPr>
          <p:cNvSpPr txBox="1"/>
          <p:nvPr/>
        </p:nvSpPr>
        <p:spPr>
          <a:xfrm>
            <a:off x="982662" y="5051910"/>
            <a:ext cx="104092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2000">
                <a:solidFill>
                  <a:srgbClr val="2C3266"/>
                </a:solidFill>
                <a:latin typeface="Bahnschrift" panose="020B0502040204020203" pitchFamily="34" charset="0"/>
              </a:rPr>
              <a:t>Quantify </a:t>
            </a:r>
            <a:r>
              <a:rPr lang="en-MY" sz="2000" b="1">
                <a:solidFill>
                  <a:srgbClr val="2C3266"/>
                </a:solidFill>
                <a:latin typeface="Bahnschrift" panose="020B0502040204020203" pitchFamily="34" charset="0"/>
              </a:rPr>
              <a:t>the degree of dissimilarity </a:t>
            </a:r>
            <a:r>
              <a:rPr lang="en-MY" sz="2000">
                <a:solidFill>
                  <a:srgbClr val="2C3266"/>
                </a:solidFill>
                <a:latin typeface="Bahnschrift" panose="020B0502040204020203" pitchFamily="34" charset="0"/>
              </a:rPr>
              <a:t>between the </a:t>
            </a:r>
            <a:r>
              <a:rPr lang="en-MY" sz="2000" b="1">
                <a:solidFill>
                  <a:srgbClr val="2C3266"/>
                </a:solidFill>
                <a:latin typeface="Bahnschrift" panose="020B0502040204020203" pitchFamily="34" charset="0"/>
              </a:rPr>
              <a:t>two pixel intensity distributions</a:t>
            </a:r>
            <a:endParaRPr lang="en-MY" sz="3200">
              <a:solidFill>
                <a:srgbClr val="2C3266"/>
              </a:solidFill>
              <a:latin typeface="Bahnschrif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EB1F2D-45C5-8420-8888-7E4512A9D162}"/>
              </a:ext>
            </a:extLst>
          </p:cNvPr>
          <p:cNvSpPr txBox="1"/>
          <p:nvPr/>
        </p:nvSpPr>
        <p:spPr>
          <a:xfrm>
            <a:off x="982662" y="5447496"/>
            <a:ext cx="9932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1200">
                <a:solidFill>
                  <a:srgbClr val="2C3266"/>
                </a:solidFill>
                <a:latin typeface="Bahnschrift" panose="020B0502040204020203" pitchFamily="34" charset="0"/>
              </a:rPr>
              <a:t>measured </a:t>
            </a:r>
            <a:r>
              <a:rPr lang="en-MY" sz="1200" b="1">
                <a:solidFill>
                  <a:srgbClr val="2C3266"/>
                </a:solidFill>
                <a:latin typeface="Bahnschrift" panose="020B0502040204020203" pitchFamily="34" charset="0"/>
              </a:rPr>
              <a:t>how much information is lost</a:t>
            </a:r>
            <a:r>
              <a:rPr lang="en-MY" sz="1200">
                <a:solidFill>
                  <a:srgbClr val="2C3266"/>
                </a:solidFill>
                <a:latin typeface="Bahnschrift" panose="020B0502040204020203" pitchFamily="34" charset="0"/>
              </a:rPr>
              <a:t> when one probability distribution is used to approximate another</a:t>
            </a:r>
            <a:endParaRPr lang="en-AU" sz="1200">
              <a:solidFill>
                <a:srgbClr val="2C32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910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4" grpId="0" animBg="1"/>
      <p:bldP spid="13" grpId="0" animBg="1"/>
      <p:bldP spid="16" grpId="0" animBg="1"/>
      <p:bldP spid="20" grpId="0"/>
      <p:bldP spid="6" grpId="0"/>
      <p:bldP spid="8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AFFF4-6574-76F7-C187-FD6B77F9E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391AB242-C658-DC74-B4C6-AF384F042F38}"/>
              </a:ext>
            </a:extLst>
          </p:cNvPr>
          <p:cNvSpPr/>
          <p:nvPr/>
        </p:nvSpPr>
        <p:spPr>
          <a:xfrm>
            <a:off x="0" y="1911373"/>
            <a:ext cx="12192000" cy="4346552"/>
          </a:xfrm>
          <a:prstGeom prst="rect">
            <a:avLst/>
          </a:prstGeom>
          <a:solidFill>
            <a:srgbClr val="F3F5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538E66A-43FD-0C01-8531-CF13399ECEDE}"/>
              </a:ext>
            </a:extLst>
          </p:cNvPr>
          <p:cNvSpPr/>
          <p:nvPr/>
        </p:nvSpPr>
        <p:spPr>
          <a:xfrm>
            <a:off x="6899201" y="1256854"/>
            <a:ext cx="4884830" cy="3091587"/>
          </a:xfrm>
          <a:prstGeom prst="roundRect">
            <a:avLst>
              <a:gd name="adj" fmla="val 6016"/>
            </a:avLst>
          </a:prstGeom>
          <a:solidFill>
            <a:srgbClr val="FFFFFF">
              <a:alpha val="90000"/>
            </a:srgbClr>
          </a:solidFill>
          <a:ln w="28575">
            <a:solidFill>
              <a:srgbClr val="9A84E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8BD75B1-7BE8-6E59-59C6-C57CD34C8388}"/>
              </a:ext>
            </a:extLst>
          </p:cNvPr>
          <p:cNvSpPr/>
          <p:nvPr/>
        </p:nvSpPr>
        <p:spPr>
          <a:xfrm>
            <a:off x="345236" y="4883602"/>
            <a:ext cx="11414966" cy="1326745"/>
          </a:xfrm>
          <a:prstGeom prst="roundRect">
            <a:avLst>
              <a:gd name="adj" fmla="val 6016"/>
            </a:avLst>
          </a:prstGeom>
          <a:solidFill>
            <a:srgbClr val="F7F7FB"/>
          </a:solidFill>
          <a:ln w="28575">
            <a:solidFill>
              <a:srgbClr val="9A84E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5301788-AB16-39D9-9709-9DD27DBD095F}"/>
              </a:ext>
            </a:extLst>
          </p:cNvPr>
          <p:cNvSpPr/>
          <p:nvPr/>
        </p:nvSpPr>
        <p:spPr>
          <a:xfrm>
            <a:off x="345236" y="2214343"/>
            <a:ext cx="6411164" cy="2097363"/>
          </a:xfrm>
          <a:prstGeom prst="roundRect">
            <a:avLst>
              <a:gd name="adj" fmla="val 6016"/>
            </a:avLst>
          </a:prstGeom>
          <a:solidFill>
            <a:srgbClr val="F7F7FB"/>
          </a:solidFill>
          <a:ln w="28575">
            <a:solidFill>
              <a:srgbClr val="9A84E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5E7877-2034-06E9-51EA-C5560E413742}"/>
              </a:ext>
            </a:extLst>
          </p:cNvPr>
          <p:cNvSpPr/>
          <p:nvPr/>
        </p:nvSpPr>
        <p:spPr>
          <a:xfrm>
            <a:off x="0" y="6439614"/>
            <a:ext cx="12192001" cy="418385"/>
          </a:xfrm>
          <a:prstGeom prst="rect">
            <a:avLst/>
          </a:prstGeom>
          <a:solidFill>
            <a:srgbClr val="9FB0E6"/>
          </a:solidFill>
          <a:ln>
            <a:solidFill>
              <a:srgbClr val="85A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E70547-9897-18E7-1E9A-F7A774ECA4B6}"/>
              </a:ext>
            </a:extLst>
          </p:cNvPr>
          <p:cNvSpPr txBox="1"/>
          <p:nvPr/>
        </p:nvSpPr>
        <p:spPr>
          <a:xfrm>
            <a:off x="491614" y="491613"/>
            <a:ext cx="6638356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AU" sz="3200" b="1">
                <a:solidFill>
                  <a:srgbClr val="5654A6"/>
                </a:solidFill>
                <a:latin typeface="+mj-lt"/>
                <a:cs typeface="Times New Roman"/>
              </a:rPr>
              <a:t>Exploratory Data Analysis (EDA)</a:t>
            </a:r>
          </a:p>
        </p:txBody>
      </p:sp>
      <p:sp>
        <p:nvSpPr>
          <p:cNvPr id="28" name="Google Shape;146;p3">
            <a:extLst>
              <a:ext uri="{FF2B5EF4-FFF2-40B4-BE49-F238E27FC236}">
                <a16:creationId xmlns:a16="http://schemas.microsoft.com/office/drawing/2014/main" id="{D4ECDE9F-0C87-F26D-8E7D-85A4009EFAA9}"/>
              </a:ext>
            </a:extLst>
          </p:cNvPr>
          <p:cNvSpPr txBox="1"/>
          <p:nvPr/>
        </p:nvSpPr>
        <p:spPr>
          <a:xfrm>
            <a:off x="1332729" y="1228803"/>
            <a:ext cx="528825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400" b="1">
                <a:solidFill>
                  <a:srgbClr val="7771C9"/>
                </a:solidFill>
              </a:rPr>
              <a:t>Pixel Intensity Distribution Analysis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4F44C6-B9A7-ED64-B079-F0392E817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smtClean="0">
                <a:solidFill>
                  <a:schemeClr val="bg1"/>
                </a:solidFill>
              </a:rPr>
              <a:t>14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4" name="Google Shape;135;p3">
            <a:extLst>
              <a:ext uri="{FF2B5EF4-FFF2-40B4-BE49-F238E27FC236}">
                <a16:creationId xmlns:a16="http://schemas.microsoft.com/office/drawing/2014/main" id="{C13F87D4-4532-3919-FB2B-6DABAE262F43}"/>
              </a:ext>
            </a:extLst>
          </p:cNvPr>
          <p:cNvSpPr/>
          <p:nvPr/>
        </p:nvSpPr>
        <p:spPr>
          <a:xfrm>
            <a:off x="593639" y="1228803"/>
            <a:ext cx="565290" cy="530155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9A84E2"/>
          </a:solidFill>
          <a:ln>
            <a:solidFill>
              <a:srgbClr val="9A84E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0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59403B2-ECC6-15A7-2727-6B1221A5916C}"/>
              </a:ext>
            </a:extLst>
          </p:cNvPr>
          <p:cNvSpPr/>
          <p:nvPr/>
        </p:nvSpPr>
        <p:spPr>
          <a:xfrm>
            <a:off x="431798" y="4481694"/>
            <a:ext cx="4054561" cy="544947"/>
          </a:xfrm>
          <a:prstGeom prst="roundRect">
            <a:avLst/>
          </a:prstGeom>
          <a:solidFill>
            <a:srgbClr val="6C74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err="1"/>
              <a:t>Kullback</a:t>
            </a:r>
            <a:r>
              <a:rPr lang="en-US" b="1"/>
              <a:t>–</a:t>
            </a:r>
            <a:r>
              <a:rPr lang="en-US" b="1" err="1"/>
              <a:t>Leibler</a:t>
            </a:r>
            <a:r>
              <a:rPr lang="en-US" b="1"/>
              <a:t> (KL) Divergence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1BA296C-5BC4-ACB4-08B3-AE8527AEC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077" y="2933755"/>
            <a:ext cx="163840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MY" sz="2400" b="1">
                <a:solidFill>
                  <a:srgbClr val="535CB5"/>
                </a:solidFill>
                <a:latin typeface="Bahnschrift" panose="020B0502040204020203" pitchFamily="34" charset="0"/>
                <a:cs typeface="Arial"/>
              </a:rPr>
              <a:t>p-</a:t>
            </a:r>
            <a:r>
              <a:rPr lang="en-MY" sz="2400" b="1" err="1">
                <a:solidFill>
                  <a:srgbClr val="535CB5"/>
                </a:solidFill>
                <a:latin typeface="Bahnschrift" panose="020B0502040204020203" pitchFamily="34" charset="0"/>
                <a:cs typeface="Arial"/>
              </a:rPr>
              <a:t>val</a:t>
            </a:r>
            <a:r>
              <a:rPr lang="en-US" sz="2400" b="1" err="1">
                <a:solidFill>
                  <a:srgbClr val="535CB5"/>
                </a:solidFill>
                <a:latin typeface="Bahnschrift" panose="020B0502040204020203" pitchFamily="34" charset="0"/>
                <a:cs typeface="Arial"/>
              </a:rPr>
              <a:t>ue</a:t>
            </a:r>
            <a:r>
              <a:rPr lang="en-US" sz="2400" b="1">
                <a:solidFill>
                  <a:srgbClr val="535CB5"/>
                </a:solidFill>
                <a:latin typeface="Bahnschrift" panose="020B0502040204020203" pitchFamily="34" charset="0"/>
                <a:cs typeface="Arial"/>
              </a:rPr>
              <a:t> = 0.0</a:t>
            </a:r>
            <a:endParaRPr lang="en-US" sz="2000">
              <a:solidFill>
                <a:srgbClr val="535CB5"/>
              </a:solidFill>
              <a:latin typeface="Bahnschrift" panose="020B0502040204020203" pitchFamily="34" charset="0"/>
              <a:ea typeface="+mn-lt"/>
              <a:cs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691C745-47CB-E2A9-7BE8-45F25133ACF7}"/>
                  </a:ext>
                </a:extLst>
              </p:cNvPr>
              <p:cNvSpPr txBox="1"/>
              <p:nvPr/>
            </p:nvSpPr>
            <p:spPr>
              <a:xfrm>
                <a:off x="2403319" y="2556059"/>
                <a:ext cx="4217664" cy="1526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MY" sz="1600">
                    <a:solidFill>
                      <a:srgbClr val="002060"/>
                    </a:solidFill>
                    <a:latin typeface="Bahnschrift" panose="020B0502040204020203" pitchFamily="34" charset="0"/>
                  </a:rPr>
                  <a:t>Suggests strong evidence </a:t>
                </a:r>
                <a:r>
                  <a:rPr lang="en-MY" sz="1600" b="1">
                    <a:solidFill>
                      <a:srgbClr val="002060"/>
                    </a:solidFill>
                    <a:latin typeface="Bahnschrift" panose="020B0502040204020203" pitchFamily="34" charset="0"/>
                  </a:rPr>
                  <a:t>against</a:t>
                </a:r>
                <a:r>
                  <a:rPr lang="en-MY" sz="1600">
                    <a:solidFill>
                      <a:srgbClr val="002060"/>
                    </a:solidFill>
                    <a:latin typeface="Bahnschrift" panose="020B0502040204020203" pitchFamily="34" charset="0"/>
                  </a:rPr>
                  <a:t> the 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MY" sz="16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MY" sz="1600">
                  <a:solidFill>
                    <a:srgbClr val="002060"/>
                  </a:solidFill>
                  <a:latin typeface="Bahnschrift" panose="020B0502040204020203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MY" sz="1600">
                    <a:solidFill>
                      <a:srgbClr val="002060"/>
                    </a:solidFill>
                    <a:latin typeface="Bahnschrift" panose="020B0502040204020203" pitchFamily="34" charset="0"/>
                  </a:rPr>
                  <a:t>There </a:t>
                </a:r>
                <a:r>
                  <a:rPr lang="en-MY" sz="1600" b="1">
                    <a:solidFill>
                      <a:srgbClr val="002060"/>
                    </a:solidFill>
                    <a:latin typeface="Bahnschrift" panose="020B0502040204020203" pitchFamily="34" charset="0"/>
                  </a:rPr>
                  <a:t>is difference in the mean pixel intensities of the two classes</a:t>
                </a:r>
                <a:r>
                  <a:rPr lang="en-MY" sz="1600">
                    <a:solidFill>
                      <a:srgbClr val="002060"/>
                    </a:solidFill>
                    <a:latin typeface="Bahnschrift" panose="020B0502040204020203" pitchFamily="34" charset="0"/>
                  </a:rPr>
                  <a:t>, 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691C745-47CB-E2A9-7BE8-45F25133A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319" y="2556059"/>
                <a:ext cx="4217664" cy="1526380"/>
              </a:xfrm>
              <a:prstGeom prst="rect">
                <a:avLst/>
              </a:prstGeom>
              <a:blipFill>
                <a:blip r:embed="rId3"/>
                <a:stretch>
                  <a:fillRect l="-578" b="-3984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8A64A95F-9D4E-21D8-D64A-53AAA949AF59}"/>
              </a:ext>
            </a:extLst>
          </p:cNvPr>
          <p:cNvSpPr txBox="1"/>
          <p:nvPr/>
        </p:nvSpPr>
        <p:spPr>
          <a:xfrm>
            <a:off x="3500912" y="1898283"/>
            <a:ext cx="30057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en-MY" sz="1200">
                <a:latin typeface="Bahnschrift" panose="020B0502040204020203" pitchFamily="34" charset="0"/>
              </a:rPr>
              <a:t>Significance level of 0.05.</a:t>
            </a: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A0FC8D38-DAC1-8829-A421-183C07592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6359" y="4971848"/>
            <a:ext cx="6804708" cy="1150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MY" sz="1600">
                <a:solidFill>
                  <a:srgbClr val="002060"/>
                </a:solidFill>
                <a:latin typeface="Bahnschrift" panose="020B0502040204020203" pitchFamily="34" charset="0"/>
              </a:rPr>
              <a:t>Suggests both distribution share a similar overall shape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MY" sz="1600">
                <a:solidFill>
                  <a:srgbClr val="002060"/>
                </a:solidFill>
                <a:latin typeface="Bahnschrift" panose="020B0502040204020203" pitchFamily="34" charset="0"/>
              </a:rPr>
              <a:t>Exist only subtle difference in pixel intensity </a:t>
            </a:r>
            <a:r>
              <a:rPr lang="en-MY" sz="1600" b="1">
                <a:solidFill>
                  <a:srgbClr val="002060"/>
                </a:solidFill>
                <a:latin typeface="Bahnschrift" panose="020B0502040204020203" pitchFamily="34" charset="0"/>
              </a:rPr>
              <a:t>patterns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002060"/>
                </a:solidFill>
                <a:latin typeface="Bahnschrift" panose="020B0502040204020203" pitchFamily="34" charset="0"/>
              </a:rPr>
              <a:t>Difficult to distinguish between each classes in modelling</a:t>
            </a:r>
            <a:endParaRPr lang="en-MY" sz="1600">
              <a:solidFill>
                <a:srgbClr val="002060"/>
              </a:solidFill>
              <a:latin typeface="Bahnschrift" panose="020B0502040204020203" pitchFamily="34" charset="0"/>
            </a:endParaRPr>
          </a:p>
        </p:txBody>
      </p:sp>
      <p:pic>
        <p:nvPicPr>
          <p:cNvPr id="24" name="Picture 23" descr="A graph of a person with a blue line&#10;&#10;AI-generated content may be incorrect.">
            <a:extLst>
              <a:ext uri="{FF2B5EF4-FFF2-40B4-BE49-F238E27FC236}">
                <a16:creationId xmlns:a16="http://schemas.microsoft.com/office/drawing/2014/main" id="{1683C253-F9C2-9309-8C32-0287082603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0200" y="1277791"/>
            <a:ext cx="4708741" cy="30915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450F8F5-34BD-A8DC-47AC-4B762DB3DEEF}"/>
              </a:ext>
            </a:extLst>
          </p:cNvPr>
          <p:cNvSpPr/>
          <p:nvPr/>
        </p:nvSpPr>
        <p:spPr>
          <a:xfrm>
            <a:off x="431799" y="1925345"/>
            <a:ext cx="4054560" cy="544947"/>
          </a:xfrm>
          <a:prstGeom prst="roundRect">
            <a:avLst/>
          </a:prstGeom>
          <a:solidFill>
            <a:srgbClr val="6C74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Two Sample t-test</a:t>
            </a:r>
            <a:endParaRPr lang="en-AU" b="1"/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24B78D2E-5C85-A2DF-3AD6-B48F24C44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56" y="5225945"/>
            <a:ext cx="269316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MY" sz="2000" b="1">
                <a:solidFill>
                  <a:srgbClr val="535CB5"/>
                </a:solidFill>
                <a:latin typeface="Bahnschrift" panose="020B0502040204020203" pitchFamily="34" charset="0"/>
                <a:cs typeface="Arial"/>
              </a:rPr>
              <a:t>KL-Divergence = 0.0594</a:t>
            </a:r>
            <a:endParaRPr lang="en-US">
              <a:solidFill>
                <a:srgbClr val="535CB5"/>
              </a:solidFill>
              <a:latin typeface="Bahnschrift" panose="020B0502040204020203" pitchFamily="34" charset="0"/>
              <a:ea typeface="+mn-lt"/>
              <a:cs typeface="+mn-lt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9D2BB35-A8DE-E9BD-7EA8-39F74E670A00}"/>
              </a:ext>
            </a:extLst>
          </p:cNvPr>
          <p:cNvCxnSpPr/>
          <p:nvPr/>
        </p:nvCxnSpPr>
        <p:spPr>
          <a:xfrm>
            <a:off x="3914760" y="5257295"/>
            <a:ext cx="0" cy="787400"/>
          </a:xfrm>
          <a:prstGeom prst="line">
            <a:avLst/>
          </a:prstGeom>
          <a:ln>
            <a:solidFill>
              <a:srgbClr val="535C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AFADD18-AE1D-9D27-1680-B4DAC6BAA7B5}"/>
              </a:ext>
            </a:extLst>
          </p:cNvPr>
          <p:cNvCxnSpPr/>
          <p:nvPr/>
        </p:nvCxnSpPr>
        <p:spPr>
          <a:xfrm>
            <a:off x="2247515" y="2966813"/>
            <a:ext cx="0" cy="787400"/>
          </a:xfrm>
          <a:prstGeom prst="line">
            <a:avLst/>
          </a:prstGeom>
          <a:ln>
            <a:solidFill>
              <a:srgbClr val="535C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05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21" grpId="0" animBg="1"/>
      <p:bldP spid="14" grpId="0" animBg="1"/>
      <p:bldP spid="16" grpId="0" animBg="1"/>
      <p:bldP spid="5" grpId="0"/>
      <p:bldP spid="9" grpId="0" build="p"/>
      <p:bldP spid="15" grpId="0"/>
      <p:bldP spid="18" grpId="0" build="p"/>
      <p:bldP spid="26" grpId="0" animBg="1"/>
      <p:bldP spid="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C3A9C-657A-6BBD-647C-4216878BA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4989BE6-F654-5FE2-8393-17EB999D5DEB}"/>
              </a:ext>
            </a:extLst>
          </p:cNvPr>
          <p:cNvSpPr/>
          <p:nvPr/>
        </p:nvSpPr>
        <p:spPr>
          <a:xfrm>
            <a:off x="-1" y="1911850"/>
            <a:ext cx="12192001" cy="4576840"/>
          </a:xfrm>
          <a:prstGeom prst="rect">
            <a:avLst/>
          </a:prstGeom>
          <a:solidFill>
            <a:srgbClr val="F3F5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93110F-8C36-F0AF-0BCE-FA2BE5CB123F}"/>
              </a:ext>
            </a:extLst>
          </p:cNvPr>
          <p:cNvSpPr/>
          <p:nvPr/>
        </p:nvSpPr>
        <p:spPr>
          <a:xfrm>
            <a:off x="-1" y="6439615"/>
            <a:ext cx="12192001" cy="418385"/>
          </a:xfrm>
          <a:prstGeom prst="rect">
            <a:avLst/>
          </a:prstGeom>
          <a:solidFill>
            <a:srgbClr val="9FB0E6"/>
          </a:solidFill>
          <a:ln>
            <a:solidFill>
              <a:srgbClr val="85A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MY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153AF3-4E2C-9E7D-8AE2-0ED2296AC306}"/>
              </a:ext>
            </a:extLst>
          </p:cNvPr>
          <p:cNvSpPr txBox="1"/>
          <p:nvPr/>
        </p:nvSpPr>
        <p:spPr>
          <a:xfrm>
            <a:off x="491614" y="491613"/>
            <a:ext cx="6638356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AU" sz="3200" b="1">
                <a:solidFill>
                  <a:srgbClr val="5654A6"/>
                </a:solidFill>
                <a:latin typeface="+mj-lt"/>
                <a:cs typeface="Times New Roman"/>
              </a:rPr>
              <a:t>Exploratory Data Analysis (EDA)</a:t>
            </a:r>
          </a:p>
        </p:txBody>
      </p:sp>
      <p:pic>
        <p:nvPicPr>
          <p:cNvPr id="2" name="Picture 1" descr="A red and blue dots&#10;&#10;AI-generated content may be incorrect.">
            <a:extLst>
              <a:ext uri="{FF2B5EF4-FFF2-40B4-BE49-F238E27FC236}">
                <a16:creationId xmlns:a16="http://schemas.microsoft.com/office/drawing/2014/main" id="{A3A56325-07FF-FC0C-FA67-D041347CF1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19" y="2161513"/>
            <a:ext cx="5014475" cy="412127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648ED-44D5-8682-75A2-DD5F10465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62099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z="1400" smtClean="0">
                <a:solidFill>
                  <a:schemeClr val="bg1"/>
                </a:solidFill>
              </a:rPr>
              <a:t>15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2" name="Google Shape;146;p3">
            <a:extLst>
              <a:ext uri="{FF2B5EF4-FFF2-40B4-BE49-F238E27FC236}">
                <a16:creationId xmlns:a16="http://schemas.microsoft.com/office/drawing/2014/main" id="{3B296157-3EFA-8416-281C-6FD6BD95CF12}"/>
              </a:ext>
            </a:extLst>
          </p:cNvPr>
          <p:cNvSpPr txBox="1"/>
          <p:nvPr/>
        </p:nvSpPr>
        <p:spPr>
          <a:xfrm>
            <a:off x="1362685" y="1212377"/>
            <a:ext cx="6748161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400" b="1">
                <a:solidFill>
                  <a:srgbClr val="7771C9"/>
                </a:solidFill>
              </a:rPr>
              <a:t>Principal Component Analysis (PCA)</a:t>
            </a:r>
          </a:p>
        </p:txBody>
      </p:sp>
      <p:sp>
        <p:nvSpPr>
          <p:cNvPr id="13" name="Google Shape;135;p3">
            <a:extLst>
              <a:ext uri="{FF2B5EF4-FFF2-40B4-BE49-F238E27FC236}">
                <a16:creationId xmlns:a16="http://schemas.microsoft.com/office/drawing/2014/main" id="{7FA798E9-B8C9-281F-896D-EF5096F62F73}"/>
              </a:ext>
            </a:extLst>
          </p:cNvPr>
          <p:cNvSpPr/>
          <p:nvPr/>
        </p:nvSpPr>
        <p:spPr>
          <a:xfrm>
            <a:off x="598493" y="1224865"/>
            <a:ext cx="565290" cy="530155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9A84E2"/>
          </a:solidFill>
          <a:ln>
            <a:solidFill>
              <a:srgbClr val="9A84E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0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08A9A23-64F7-C5D8-16E8-0DD96B59B9EC}"/>
              </a:ext>
            </a:extLst>
          </p:cNvPr>
          <p:cNvSpPr/>
          <p:nvPr/>
        </p:nvSpPr>
        <p:spPr>
          <a:xfrm>
            <a:off x="5869736" y="2343256"/>
            <a:ext cx="6055564" cy="1664431"/>
          </a:xfrm>
          <a:prstGeom prst="roundRect">
            <a:avLst>
              <a:gd name="adj" fmla="val 6016"/>
            </a:avLst>
          </a:prstGeom>
          <a:solidFill>
            <a:srgbClr val="F7F7FB"/>
          </a:solidFill>
          <a:ln w="28575">
            <a:solidFill>
              <a:srgbClr val="9A84E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1688C50-8ED3-7BA1-6B9D-2AA30EE9230C}"/>
              </a:ext>
            </a:extLst>
          </p:cNvPr>
          <p:cNvSpPr/>
          <p:nvPr/>
        </p:nvSpPr>
        <p:spPr>
          <a:xfrm>
            <a:off x="5956299" y="2037663"/>
            <a:ext cx="4356100" cy="544947"/>
          </a:xfrm>
          <a:prstGeom prst="roundRect">
            <a:avLst/>
          </a:prstGeom>
          <a:solidFill>
            <a:srgbClr val="6C74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Projection to 2D Space</a:t>
            </a:r>
            <a:endParaRPr lang="en-AU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D1DA77-79F5-A58E-6CA5-AB57A2E900ED}"/>
              </a:ext>
            </a:extLst>
          </p:cNvPr>
          <p:cNvSpPr txBox="1"/>
          <p:nvPr/>
        </p:nvSpPr>
        <p:spPr>
          <a:xfrm>
            <a:off x="6095999" y="3463035"/>
            <a:ext cx="5567883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MY" sz="1600">
                <a:solidFill>
                  <a:srgbClr val="002060"/>
                </a:solidFill>
                <a:latin typeface="Bahnschrift" panose="020B0502040204020203" pitchFamily="34" charset="0"/>
                <a:cs typeface="Arial"/>
              </a:rPr>
              <a:t>Suggests </a:t>
            </a:r>
            <a:r>
              <a:rPr lang="en-MY" sz="1600" b="1">
                <a:solidFill>
                  <a:srgbClr val="002060"/>
                </a:solidFill>
                <a:latin typeface="Bahnschrift" panose="020B0502040204020203" pitchFamily="34" charset="0"/>
                <a:cs typeface="Arial"/>
              </a:rPr>
              <a:t>subtle difference</a:t>
            </a:r>
            <a:r>
              <a:rPr lang="en-MY" sz="1600">
                <a:solidFill>
                  <a:srgbClr val="002060"/>
                </a:solidFill>
                <a:latin typeface="Bahnschrift" panose="020B0502040204020203" pitchFamily="34" charset="0"/>
                <a:cs typeface="Arial"/>
              </a:rPr>
              <a:t> in pixel-level features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7FD23C-F709-B03C-E05B-E97AE51DF7DA}"/>
              </a:ext>
            </a:extLst>
          </p:cNvPr>
          <p:cNvSpPr txBox="1"/>
          <p:nvPr/>
        </p:nvSpPr>
        <p:spPr>
          <a:xfrm>
            <a:off x="6095999" y="3060926"/>
            <a:ext cx="5829301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MY" sz="1600">
                <a:solidFill>
                  <a:srgbClr val="002060"/>
                </a:solidFill>
                <a:latin typeface="Bahnschrift" panose="020B0502040204020203" pitchFamily="34" charset="0"/>
                <a:cs typeface="Arial"/>
              </a:rPr>
              <a:t>There is a </a:t>
            </a:r>
            <a:r>
              <a:rPr lang="en-MY" sz="1600" b="1">
                <a:solidFill>
                  <a:srgbClr val="002060"/>
                </a:solidFill>
                <a:latin typeface="Bahnschrift" panose="020B0502040204020203" pitchFamily="34" charset="0"/>
                <a:cs typeface="Arial"/>
              </a:rPr>
              <a:t>high degree of overlap</a:t>
            </a:r>
            <a:r>
              <a:rPr lang="en-MY" sz="1600">
                <a:solidFill>
                  <a:srgbClr val="002060"/>
                </a:solidFill>
                <a:latin typeface="Bahnschrift" panose="020B0502040204020203" pitchFamily="34" charset="0"/>
                <a:cs typeface="Arial"/>
              </a:rPr>
              <a:t> between 2 classes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CDB0E3-3EDD-972F-7DB5-9D068D0C07E8}"/>
              </a:ext>
            </a:extLst>
          </p:cNvPr>
          <p:cNvSpPr txBox="1"/>
          <p:nvPr/>
        </p:nvSpPr>
        <p:spPr>
          <a:xfrm>
            <a:off x="6095999" y="2685149"/>
            <a:ext cx="5707582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MY" sz="1600">
                <a:solidFill>
                  <a:srgbClr val="002060"/>
                </a:solidFill>
                <a:latin typeface="Bahnschrift" panose="020B0502040204020203" pitchFamily="34" charset="0"/>
                <a:cs typeface="Arial"/>
              </a:rPr>
              <a:t>PCA shows </a:t>
            </a:r>
            <a:r>
              <a:rPr lang="en-MY" sz="1600" b="1">
                <a:solidFill>
                  <a:srgbClr val="002060"/>
                </a:solidFill>
                <a:latin typeface="Bahnschrift" panose="020B0502040204020203" pitchFamily="34" charset="0"/>
                <a:cs typeface="Arial"/>
              </a:rPr>
              <a:t>projection of the data in 2-dimensional space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5FAE120-012F-887F-8AD0-5E1824A64C48}"/>
              </a:ext>
            </a:extLst>
          </p:cNvPr>
          <p:cNvSpPr/>
          <p:nvPr/>
        </p:nvSpPr>
        <p:spPr>
          <a:xfrm>
            <a:off x="5869736" y="4522408"/>
            <a:ext cx="6055564" cy="1751393"/>
          </a:xfrm>
          <a:prstGeom prst="roundRect">
            <a:avLst>
              <a:gd name="adj" fmla="val 6016"/>
            </a:avLst>
          </a:prstGeom>
          <a:solidFill>
            <a:srgbClr val="F7F7FB"/>
          </a:solidFill>
          <a:ln w="28575">
            <a:solidFill>
              <a:srgbClr val="9A84E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F5F22ED-1C89-5194-4770-07F6CD85C009}"/>
              </a:ext>
            </a:extLst>
          </p:cNvPr>
          <p:cNvSpPr/>
          <p:nvPr/>
        </p:nvSpPr>
        <p:spPr>
          <a:xfrm>
            <a:off x="5956298" y="4214187"/>
            <a:ext cx="4356101" cy="544947"/>
          </a:xfrm>
          <a:prstGeom prst="roundRect">
            <a:avLst/>
          </a:prstGeom>
          <a:solidFill>
            <a:srgbClr val="6C74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Machine Learning or Deep Learning?</a:t>
            </a:r>
            <a:endParaRPr lang="en-AU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311626-4B31-1BA4-6D4A-8D9DC9A38F04}"/>
              </a:ext>
            </a:extLst>
          </p:cNvPr>
          <p:cNvSpPr txBox="1"/>
          <p:nvPr/>
        </p:nvSpPr>
        <p:spPr>
          <a:xfrm>
            <a:off x="6096000" y="4869005"/>
            <a:ext cx="5567883" cy="11587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MY" sz="1600" b="1">
                <a:solidFill>
                  <a:srgbClr val="002060"/>
                </a:solidFill>
                <a:latin typeface="Bahnschrift" panose="020B0502040204020203" pitchFamily="34" charset="0"/>
                <a:cs typeface="Arial"/>
              </a:rPr>
              <a:t>Not linearly separable</a:t>
            </a:r>
            <a:r>
              <a:rPr lang="en-MY" sz="1600">
                <a:solidFill>
                  <a:srgbClr val="002060"/>
                </a:solidFill>
                <a:latin typeface="Bahnschrift" panose="020B0502040204020203" pitchFamily="34" charset="0"/>
                <a:cs typeface="Arial"/>
              </a:rPr>
              <a:t> in low-dimensional space 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altLang="zh-CN" sz="1600" b="1">
                <a:solidFill>
                  <a:srgbClr val="002060"/>
                </a:solidFill>
                <a:latin typeface="Bahnschrift" panose="020B0502040204020203" pitchFamily="34" charset="0"/>
                <a:cs typeface="Arial"/>
              </a:rPr>
              <a:t>S</a:t>
            </a:r>
            <a:r>
              <a:rPr lang="en-MY" sz="1600" b="1" err="1">
                <a:solidFill>
                  <a:srgbClr val="002060"/>
                </a:solidFill>
                <a:latin typeface="Bahnschrift" panose="020B0502040204020203" pitchFamily="34" charset="0"/>
                <a:cs typeface="Arial"/>
              </a:rPr>
              <a:t>imple</a:t>
            </a:r>
            <a:r>
              <a:rPr lang="en-MY" sz="1600" b="1">
                <a:solidFill>
                  <a:srgbClr val="002060"/>
                </a:solidFill>
                <a:latin typeface="Bahnschrift" panose="020B0502040204020203" pitchFamily="34" charset="0"/>
                <a:cs typeface="Arial"/>
              </a:rPr>
              <a:t> linear models may struggle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MY" sz="1600" b="1">
              <a:solidFill>
                <a:srgbClr val="002060"/>
              </a:solidFill>
              <a:latin typeface="Bahnschrift" panose="020B0502040204020203" pitchFamily="34" charset="0"/>
              <a:cs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E652A8-FFA1-C428-A274-973EE1878D82}"/>
              </a:ext>
            </a:extLst>
          </p:cNvPr>
          <p:cNvSpPr txBox="1"/>
          <p:nvPr/>
        </p:nvSpPr>
        <p:spPr>
          <a:xfrm>
            <a:off x="6095999" y="5679739"/>
            <a:ext cx="5567883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MY" sz="1600">
                <a:solidFill>
                  <a:srgbClr val="2C3266"/>
                </a:solidFill>
                <a:latin typeface="Bahnschrift" panose="020B0502040204020203" pitchFamily="34" charset="0"/>
                <a:cs typeface="Arial"/>
              </a:rPr>
              <a:t>Non-linear or </a:t>
            </a:r>
            <a:r>
              <a:rPr lang="en-MY" sz="1600" b="1">
                <a:solidFill>
                  <a:srgbClr val="2C3266"/>
                </a:solidFill>
                <a:latin typeface="Bahnschrift" panose="020B0502040204020203" pitchFamily="34" charset="0"/>
                <a:cs typeface="Arial"/>
              </a:rPr>
              <a:t>deep learning approaches required</a:t>
            </a:r>
          </a:p>
        </p:txBody>
      </p:sp>
    </p:spTree>
    <p:extLst>
      <p:ext uri="{BB962C8B-B14F-4D97-AF65-F5344CB8AC3E}">
        <p14:creationId xmlns:p14="http://schemas.microsoft.com/office/powerpoint/2010/main" val="2662989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 animBg="1"/>
      <p:bldP spid="15" grpId="0"/>
      <p:bldP spid="16" grpId="0"/>
      <p:bldP spid="17" grpId="0"/>
      <p:bldP spid="18" grpId="0" animBg="1"/>
      <p:bldP spid="19" grpId="0" animBg="1"/>
      <p:bldP spid="20" grpId="0" build="p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B5C65-1BB8-FE09-1EDC-1EC7C0991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AD74D-8FE4-E7E3-2A67-6E86CB1875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8067" y="2747700"/>
            <a:ext cx="5980839" cy="1266131"/>
          </a:xfrm>
        </p:spPr>
        <p:txBody>
          <a:bodyPr/>
          <a:lstStyle/>
          <a:p>
            <a:pPr algn="r"/>
            <a:r>
              <a:rPr lang="en-US" altLang="zh-CN"/>
              <a:t>Modelling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EDE44-3F8B-2521-3E64-EFEF83FC25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3079" y="4037553"/>
            <a:ext cx="8305827" cy="1089798"/>
          </a:xfrm>
        </p:spPr>
        <p:txBody>
          <a:bodyPr>
            <a:normAutofit/>
          </a:bodyPr>
          <a:lstStyle/>
          <a:p>
            <a:pPr algn="r"/>
            <a:r>
              <a:rPr lang="en-MY" sz="2400"/>
              <a:t>Baseline CNN, Transfer Learning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0FB194-3451-7395-EA3F-4D4A0B5EC376}"/>
              </a:ext>
            </a:extLst>
          </p:cNvPr>
          <p:cNvSpPr/>
          <p:nvPr/>
        </p:nvSpPr>
        <p:spPr>
          <a:xfrm>
            <a:off x="11632163" y="0"/>
            <a:ext cx="559838" cy="6858000"/>
          </a:xfrm>
          <a:prstGeom prst="rect">
            <a:avLst/>
          </a:prstGeom>
          <a:solidFill>
            <a:srgbClr val="7C90D3"/>
          </a:solidFill>
          <a:ln>
            <a:solidFill>
              <a:srgbClr val="6C74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B1975-7BB1-795E-62B7-E32E900CA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smtClean="0">
                <a:solidFill>
                  <a:schemeClr val="bg1"/>
                </a:solidFill>
              </a:rPr>
              <a:t>16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6" name="Teardrop 5">
            <a:extLst>
              <a:ext uri="{FF2B5EF4-FFF2-40B4-BE49-F238E27FC236}">
                <a16:creationId xmlns:a16="http://schemas.microsoft.com/office/drawing/2014/main" id="{A42E4A9D-380F-4D81-0BED-5307BEEC1120}"/>
              </a:ext>
            </a:extLst>
          </p:cNvPr>
          <p:cNvSpPr/>
          <p:nvPr/>
        </p:nvSpPr>
        <p:spPr>
          <a:xfrm>
            <a:off x="9393564" y="1842071"/>
            <a:ext cx="1266131" cy="1266131"/>
          </a:xfrm>
          <a:prstGeom prst="teardrop">
            <a:avLst/>
          </a:prstGeom>
          <a:solidFill>
            <a:srgbClr val="7C90D3"/>
          </a:solidFill>
          <a:ln>
            <a:solidFill>
              <a:srgbClr val="6C74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3600" b="1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13146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>
            <a:extLst>
              <a:ext uri="{FF2B5EF4-FFF2-40B4-BE49-F238E27FC236}">
                <a16:creationId xmlns:a16="http://schemas.microsoft.com/office/drawing/2014/main" id="{30C61E06-0868-B263-D3CF-33F2378F7CD2}"/>
              </a:ext>
            </a:extLst>
          </p:cNvPr>
          <p:cNvSpPr/>
          <p:nvPr/>
        </p:nvSpPr>
        <p:spPr>
          <a:xfrm>
            <a:off x="0" y="1151255"/>
            <a:ext cx="12192000" cy="4653757"/>
          </a:xfrm>
          <a:prstGeom prst="rect">
            <a:avLst/>
          </a:prstGeom>
          <a:solidFill>
            <a:srgbClr val="F6F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BE93F4-DB03-E657-222B-AA5802A6514F}"/>
              </a:ext>
            </a:extLst>
          </p:cNvPr>
          <p:cNvSpPr txBox="1"/>
          <p:nvPr/>
        </p:nvSpPr>
        <p:spPr>
          <a:xfrm>
            <a:off x="471949" y="393291"/>
            <a:ext cx="2731838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AU" sz="3200" b="1">
                <a:solidFill>
                  <a:srgbClr val="5654A6"/>
                </a:solidFill>
                <a:latin typeface="Arial"/>
                <a:cs typeface="Times New Roman"/>
              </a:rPr>
              <a:t>Methodology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A4193F-EB78-A67F-B63C-3BC0CA6D4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56861" y="866311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17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6186E9-6888-1B64-A2C5-902D15356D63}"/>
              </a:ext>
            </a:extLst>
          </p:cNvPr>
          <p:cNvSpPr/>
          <p:nvPr/>
        </p:nvSpPr>
        <p:spPr>
          <a:xfrm>
            <a:off x="-1" y="6439615"/>
            <a:ext cx="12192001" cy="418385"/>
          </a:xfrm>
          <a:prstGeom prst="rect">
            <a:avLst/>
          </a:prstGeom>
          <a:solidFill>
            <a:srgbClr val="7C90D3"/>
          </a:solidFill>
          <a:ln>
            <a:solidFill>
              <a:srgbClr val="85A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MY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BC4223F7-B27E-C8C2-2534-6E40FB913AA7}"/>
              </a:ext>
            </a:extLst>
          </p:cNvPr>
          <p:cNvSpPr txBox="1">
            <a:spLocks/>
          </p:cNvSpPr>
          <p:nvPr/>
        </p:nvSpPr>
        <p:spPr>
          <a:xfrm>
            <a:off x="8156861" y="867221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057153-B650-4DEB-B370-79DDCFDCE934}" type="slidenum">
              <a:rPr lang="en-US" sz="1400" smtClean="0">
                <a:solidFill>
                  <a:schemeClr val="bg1"/>
                </a:solidFill>
              </a:rPr>
              <a:pPr/>
              <a:t>17</a:t>
            </a:fld>
            <a:endParaRPr lang="en-US" sz="1400">
              <a:solidFill>
                <a:schemeClr val="bg1"/>
              </a:solidFill>
            </a:endParaRPr>
          </a:p>
        </p:txBody>
      </p:sp>
      <p:grpSp>
        <p:nvGrpSpPr>
          <p:cNvPr id="39" name="Google Shape;638;p20">
            <a:extLst>
              <a:ext uri="{FF2B5EF4-FFF2-40B4-BE49-F238E27FC236}">
                <a16:creationId xmlns:a16="http://schemas.microsoft.com/office/drawing/2014/main" id="{F997C3A3-0125-E029-E72F-4A6C1FD6247F}"/>
              </a:ext>
            </a:extLst>
          </p:cNvPr>
          <p:cNvGrpSpPr/>
          <p:nvPr/>
        </p:nvGrpSpPr>
        <p:grpSpPr>
          <a:xfrm>
            <a:off x="1166714" y="1622202"/>
            <a:ext cx="4133130" cy="2014779"/>
            <a:chOff x="2093027" y="1689575"/>
            <a:chExt cx="4034675" cy="1990750"/>
          </a:xfrm>
        </p:grpSpPr>
        <p:sp>
          <p:nvSpPr>
            <p:cNvPr id="40" name="Google Shape;639;p20">
              <a:extLst>
                <a:ext uri="{FF2B5EF4-FFF2-40B4-BE49-F238E27FC236}">
                  <a16:creationId xmlns:a16="http://schemas.microsoft.com/office/drawing/2014/main" id="{2CE8F0F6-5F39-052C-AE77-523729678811}"/>
                </a:ext>
              </a:extLst>
            </p:cNvPr>
            <p:cNvSpPr/>
            <p:nvPr/>
          </p:nvSpPr>
          <p:spPr>
            <a:xfrm>
              <a:off x="2093077" y="2458150"/>
              <a:ext cx="476100" cy="464400"/>
            </a:xfrm>
            <a:prstGeom prst="ellipse">
              <a:avLst/>
            </a:prstGeom>
            <a:solidFill>
              <a:srgbClr val="5654A6"/>
            </a:solidFill>
            <a:ln>
              <a:noFill/>
            </a:ln>
          </p:spPr>
          <p:txBody>
            <a:bodyPr spcFirstLastPara="1" wrap="square" lIns="75100" tIns="75100" rIns="75100" bIns="751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42">
                <a:solidFill>
                  <a:schemeClr val="lt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endParaRPr>
            </a:p>
          </p:txBody>
        </p:sp>
        <p:sp>
          <p:nvSpPr>
            <p:cNvPr id="41" name="Google Shape;640;p20">
              <a:extLst>
                <a:ext uri="{FF2B5EF4-FFF2-40B4-BE49-F238E27FC236}">
                  <a16:creationId xmlns:a16="http://schemas.microsoft.com/office/drawing/2014/main" id="{57571F34-6210-6AD5-C8F0-73A4E76DFADB}"/>
                </a:ext>
              </a:extLst>
            </p:cNvPr>
            <p:cNvSpPr/>
            <p:nvPr/>
          </p:nvSpPr>
          <p:spPr>
            <a:xfrm>
              <a:off x="4047877" y="1689575"/>
              <a:ext cx="476100" cy="464400"/>
            </a:xfrm>
            <a:prstGeom prst="ellipse">
              <a:avLst/>
            </a:prstGeom>
            <a:solidFill>
              <a:srgbClr val="5654A6"/>
            </a:solidFill>
            <a:ln>
              <a:noFill/>
            </a:ln>
          </p:spPr>
          <p:txBody>
            <a:bodyPr spcFirstLastPara="1" wrap="square" lIns="75100" tIns="75100" rIns="75100" bIns="751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42">
                <a:solidFill>
                  <a:schemeClr val="lt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endParaRPr>
            </a:p>
          </p:txBody>
        </p:sp>
        <p:cxnSp>
          <p:nvCxnSpPr>
            <p:cNvPr id="42" name="Google Shape;641;p20">
              <a:extLst>
                <a:ext uri="{FF2B5EF4-FFF2-40B4-BE49-F238E27FC236}">
                  <a16:creationId xmlns:a16="http://schemas.microsoft.com/office/drawing/2014/main" id="{43C4DBE2-2B89-6C46-5B9A-5D1D21642F45}"/>
                </a:ext>
              </a:extLst>
            </p:cNvPr>
            <p:cNvCxnSpPr>
              <a:stCxn id="40" idx="6"/>
              <a:endCxn id="41" idx="2"/>
            </p:cNvCxnSpPr>
            <p:nvPr/>
          </p:nvCxnSpPr>
          <p:spPr>
            <a:xfrm rot="10800000" flipH="1">
              <a:off x="2569177" y="1921750"/>
              <a:ext cx="1478700" cy="768600"/>
            </a:xfrm>
            <a:prstGeom prst="straightConnector1">
              <a:avLst/>
            </a:prstGeom>
            <a:noFill/>
            <a:ln w="2347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3" name="Google Shape;642;p20">
              <a:extLst>
                <a:ext uri="{FF2B5EF4-FFF2-40B4-BE49-F238E27FC236}">
                  <a16:creationId xmlns:a16="http://schemas.microsoft.com/office/drawing/2014/main" id="{C437C8AD-7094-EBDF-465E-D9ADB19E86C1}"/>
                </a:ext>
              </a:extLst>
            </p:cNvPr>
            <p:cNvSpPr/>
            <p:nvPr/>
          </p:nvSpPr>
          <p:spPr>
            <a:xfrm>
              <a:off x="4047902" y="3215925"/>
              <a:ext cx="476100" cy="464400"/>
            </a:xfrm>
            <a:prstGeom prst="ellipse">
              <a:avLst/>
            </a:prstGeom>
            <a:solidFill>
              <a:srgbClr val="5654A6"/>
            </a:solidFill>
            <a:ln>
              <a:noFill/>
            </a:ln>
          </p:spPr>
          <p:txBody>
            <a:bodyPr spcFirstLastPara="1" wrap="square" lIns="75100" tIns="75100" rIns="75100" bIns="751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42">
                <a:solidFill>
                  <a:schemeClr val="lt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endParaRPr>
            </a:p>
          </p:txBody>
        </p:sp>
        <p:cxnSp>
          <p:nvCxnSpPr>
            <p:cNvPr id="44" name="Google Shape;643;p20">
              <a:extLst>
                <a:ext uri="{FF2B5EF4-FFF2-40B4-BE49-F238E27FC236}">
                  <a16:creationId xmlns:a16="http://schemas.microsoft.com/office/drawing/2014/main" id="{BDB62B9E-F1F7-0872-27B6-B747023D3048}"/>
                </a:ext>
              </a:extLst>
            </p:cNvPr>
            <p:cNvCxnSpPr>
              <a:stCxn id="40" idx="6"/>
              <a:endCxn id="43" idx="2"/>
            </p:cNvCxnSpPr>
            <p:nvPr/>
          </p:nvCxnSpPr>
          <p:spPr>
            <a:xfrm>
              <a:off x="2569177" y="2690350"/>
              <a:ext cx="1478700" cy="757800"/>
            </a:xfrm>
            <a:prstGeom prst="straightConnector1">
              <a:avLst/>
            </a:prstGeom>
            <a:noFill/>
            <a:ln w="2347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5" name="Google Shape;644;p20">
              <a:extLst>
                <a:ext uri="{FF2B5EF4-FFF2-40B4-BE49-F238E27FC236}">
                  <a16:creationId xmlns:a16="http://schemas.microsoft.com/office/drawing/2014/main" id="{DDCF55C0-F574-75F6-BC0E-DB31C3B33E5D}"/>
                </a:ext>
              </a:extLst>
            </p:cNvPr>
            <p:cNvSpPr/>
            <p:nvPr/>
          </p:nvSpPr>
          <p:spPr>
            <a:xfrm>
              <a:off x="4047902" y="2394700"/>
              <a:ext cx="476100" cy="464400"/>
            </a:xfrm>
            <a:prstGeom prst="ellipse">
              <a:avLst/>
            </a:prstGeom>
            <a:solidFill>
              <a:srgbClr val="5654A6"/>
            </a:solidFill>
            <a:ln>
              <a:noFill/>
            </a:ln>
          </p:spPr>
          <p:txBody>
            <a:bodyPr spcFirstLastPara="1" wrap="square" lIns="75100" tIns="75100" rIns="75100" bIns="751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42">
                <a:solidFill>
                  <a:schemeClr val="lt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endParaRPr>
            </a:p>
          </p:txBody>
        </p:sp>
        <p:cxnSp>
          <p:nvCxnSpPr>
            <p:cNvPr id="46" name="Google Shape;645;p20">
              <a:extLst>
                <a:ext uri="{FF2B5EF4-FFF2-40B4-BE49-F238E27FC236}">
                  <a16:creationId xmlns:a16="http://schemas.microsoft.com/office/drawing/2014/main" id="{FDF62F0E-46AB-4012-BF70-D9CFCAA053AB}"/>
                </a:ext>
              </a:extLst>
            </p:cNvPr>
            <p:cNvCxnSpPr>
              <a:stCxn id="40" idx="6"/>
              <a:endCxn id="45" idx="2"/>
            </p:cNvCxnSpPr>
            <p:nvPr/>
          </p:nvCxnSpPr>
          <p:spPr>
            <a:xfrm rot="10800000" flipH="1">
              <a:off x="2569177" y="2626750"/>
              <a:ext cx="1478700" cy="63600"/>
            </a:xfrm>
            <a:prstGeom prst="straightConnector1">
              <a:avLst/>
            </a:prstGeom>
            <a:noFill/>
            <a:ln w="2347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7" name="Google Shape;646;p20">
              <a:extLst>
                <a:ext uri="{FF2B5EF4-FFF2-40B4-BE49-F238E27FC236}">
                  <a16:creationId xmlns:a16="http://schemas.microsoft.com/office/drawing/2014/main" id="{1B904E4C-78FE-5748-B8C9-06D0097094F2}"/>
                </a:ext>
              </a:extLst>
            </p:cNvPr>
            <p:cNvSpPr/>
            <p:nvPr/>
          </p:nvSpPr>
          <p:spPr>
            <a:xfrm>
              <a:off x="2093027" y="1689575"/>
              <a:ext cx="476100" cy="464400"/>
            </a:xfrm>
            <a:prstGeom prst="ellipse">
              <a:avLst/>
            </a:prstGeom>
            <a:solidFill>
              <a:srgbClr val="5654A6"/>
            </a:solidFill>
            <a:ln>
              <a:noFill/>
            </a:ln>
          </p:spPr>
          <p:txBody>
            <a:bodyPr spcFirstLastPara="1" wrap="square" lIns="75100" tIns="75100" rIns="75100" bIns="751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42">
                <a:solidFill>
                  <a:schemeClr val="lt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endParaRPr>
            </a:p>
          </p:txBody>
        </p:sp>
        <p:sp>
          <p:nvSpPr>
            <p:cNvPr id="48" name="Google Shape;647;p20">
              <a:extLst>
                <a:ext uri="{FF2B5EF4-FFF2-40B4-BE49-F238E27FC236}">
                  <a16:creationId xmlns:a16="http://schemas.microsoft.com/office/drawing/2014/main" id="{182AED94-AB69-EE51-EFA3-F22EDF7CE8E7}"/>
                </a:ext>
              </a:extLst>
            </p:cNvPr>
            <p:cNvSpPr/>
            <p:nvPr/>
          </p:nvSpPr>
          <p:spPr>
            <a:xfrm>
              <a:off x="2093077" y="3199875"/>
              <a:ext cx="476100" cy="464400"/>
            </a:xfrm>
            <a:prstGeom prst="ellipse">
              <a:avLst/>
            </a:prstGeom>
            <a:solidFill>
              <a:srgbClr val="5654A6"/>
            </a:solidFill>
            <a:ln>
              <a:noFill/>
            </a:ln>
          </p:spPr>
          <p:txBody>
            <a:bodyPr spcFirstLastPara="1" wrap="square" lIns="75100" tIns="75100" rIns="75100" bIns="751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42">
                <a:solidFill>
                  <a:schemeClr val="lt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endParaRPr>
            </a:p>
          </p:txBody>
        </p:sp>
        <p:cxnSp>
          <p:nvCxnSpPr>
            <p:cNvPr id="49" name="Google Shape;648;p20">
              <a:extLst>
                <a:ext uri="{FF2B5EF4-FFF2-40B4-BE49-F238E27FC236}">
                  <a16:creationId xmlns:a16="http://schemas.microsoft.com/office/drawing/2014/main" id="{5D16365E-DFB6-340F-5825-C466B16BA529}"/>
                </a:ext>
              </a:extLst>
            </p:cNvPr>
            <p:cNvCxnSpPr>
              <a:stCxn id="48" idx="6"/>
              <a:endCxn id="45" idx="2"/>
            </p:cNvCxnSpPr>
            <p:nvPr/>
          </p:nvCxnSpPr>
          <p:spPr>
            <a:xfrm rot="10800000" flipH="1">
              <a:off x="2569177" y="2626875"/>
              <a:ext cx="1478700" cy="805200"/>
            </a:xfrm>
            <a:prstGeom prst="straightConnector1">
              <a:avLst/>
            </a:prstGeom>
            <a:noFill/>
            <a:ln w="2347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0" name="Google Shape;649;p20">
              <a:extLst>
                <a:ext uri="{FF2B5EF4-FFF2-40B4-BE49-F238E27FC236}">
                  <a16:creationId xmlns:a16="http://schemas.microsoft.com/office/drawing/2014/main" id="{89A73DEE-BBC4-EB99-0FFA-ADD760630760}"/>
                </a:ext>
              </a:extLst>
            </p:cNvPr>
            <p:cNvCxnSpPr>
              <a:stCxn id="48" idx="6"/>
              <a:endCxn id="41" idx="2"/>
            </p:cNvCxnSpPr>
            <p:nvPr/>
          </p:nvCxnSpPr>
          <p:spPr>
            <a:xfrm rot="10800000" flipH="1">
              <a:off x="2569177" y="1921875"/>
              <a:ext cx="1478700" cy="1510200"/>
            </a:xfrm>
            <a:prstGeom prst="straightConnector1">
              <a:avLst/>
            </a:prstGeom>
            <a:noFill/>
            <a:ln w="2347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1" name="Google Shape;650;p20">
              <a:extLst>
                <a:ext uri="{FF2B5EF4-FFF2-40B4-BE49-F238E27FC236}">
                  <a16:creationId xmlns:a16="http://schemas.microsoft.com/office/drawing/2014/main" id="{D898C475-CAD0-B36E-1398-66E3BB457DA7}"/>
                </a:ext>
              </a:extLst>
            </p:cNvPr>
            <p:cNvCxnSpPr>
              <a:stCxn id="48" idx="6"/>
              <a:endCxn id="43" idx="2"/>
            </p:cNvCxnSpPr>
            <p:nvPr/>
          </p:nvCxnSpPr>
          <p:spPr>
            <a:xfrm>
              <a:off x="2569177" y="3432075"/>
              <a:ext cx="1478700" cy="16200"/>
            </a:xfrm>
            <a:prstGeom prst="straightConnector1">
              <a:avLst/>
            </a:prstGeom>
            <a:noFill/>
            <a:ln w="2347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2" name="Google Shape;651;p20">
              <a:extLst>
                <a:ext uri="{FF2B5EF4-FFF2-40B4-BE49-F238E27FC236}">
                  <a16:creationId xmlns:a16="http://schemas.microsoft.com/office/drawing/2014/main" id="{367B2998-B9B2-7189-CB19-6B78631ADDBA}"/>
                </a:ext>
              </a:extLst>
            </p:cNvPr>
            <p:cNvCxnSpPr>
              <a:stCxn id="47" idx="6"/>
              <a:endCxn id="45" idx="2"/>
            </p:cNvCxnSpPr>
            <p:nvPr/>
          </p:nvCxnSpPr>
          <p:spPr>
            <a:xfrm>
              <a:off x="2569127" y="1921775"/>
              <a:ext cx="1478700" cy="705000"/>
            </a:xfrm>
            <a:prstGeom prst="straightConnector1">
              <a:avLst/>
            </a:prstGeom>
            <a:noFill/>
            <a:ln w="2347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3" name="Google Shape;652;p20">
              <a:extLst>
                <a:ext uri="{FF2B5EF4-FFF2-40B4-BE49-F238E27FC236}">
                  <a16:creationId xmlns:a16="http://schemas.microsoft.com/office/drawing/2014/main" id="{C5B37728-377A-F1B7-070F-1DA0BA84A417}"/>
                </a:ext>
              </a:extLst>
            </p:cNvPr>
            <p:cNvCxnSpPr>
              <a:stCxn id="47" idx="6"/>
              <a:endCxn id="41" idx="2"/>
            </p:cNvCxnSpPr>
            <p:nvPr/>
          </p:nvCxnSpPr>
          <p:spPr>
            <a:xfrm>
              <a:off x="2569127" y="1921775"/>
              <a:ext cx="1478700" cy="0"/>
            </a:xfrm>
            <a:prstGeom prst="straightConnector1">
              <a:avLst/>
            </a:prstGeom>
            <a:noFill/>
            <a:ln w="2347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4" name="Google Shape;653;p20">
              <a:extLst>
                <a:ext uri="{FF2B5EF4-FFF2-40B4-BE49-F238E27FC236}">
                  <a16:creationId xmlns:a16="http://schemas.microsoft.com/office/drawing/2014/main" id="{FD4D9C11-02EA-B60C-359A-4D1EA51D45DC}"/>
                </a:ext>
              </a:extLst>
            </p:cNvPr>
            <p:cNvCxnSpPr>
              <a:stCxn id="47" idx="6"/>
              <a:endCxn id="43" idx="2"/>
            </p:cNvCxnSpPr>
            <p:nvPr/>
          </p:nvCxnSpPr>
          <p:spPr>
            <a:xfrm>
              <a:off x="2569127" y="1921775"/>
              <a:ext cx="1478700" cy="1526400"/>
            </a:xfrm>
            <a:prstGeom prst="straightConnector1">
              <a:avLst/>
            </a:prstGeom>
            <a:noFill/>
            <a:ln w="2347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5" name="Google Shape;654;p20">
              <a:extLst>
                <a:ext uri="{FF2B5EF4-FFF2-40B4-BE49-F238E27FC236}">
                  <a16:creationId xmlns:a16="http://schemas.microsoft.com/office/drawing/2014/main" id="{13B75FB8-BAA5-CB98-1A57-3242F578140A}"/>
                </a:ext>
              </a:extLst>
            </p:cNvPr>
            <p:cNvSpPr/>
            <p:nvPr/>
          </p:nvSpPr>
          <p:spPr>
            <a:xfrm>
              <a:off x="5651602" y="1921875"/>
              <a:ext cx="476100" cy="464400"/>
            </a:xfrm>
            <a:prstGeom prst="ellipse">
              <a:avLst/>
            </a:prstGeom>
            <a:solidFill>
              <a:srgbClr val="5654A6"/>
            </a:solidFill>
            <a:ln>
              <a:noFill/>
            </a:ln>
          </p:spPr>
          <p:txBody>
            <a:bodyPr spcFirstLastPara="1" wrap="square" lIns="75100" tIns="75100" rIns="75100" bIns="751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42">
                <a:solidFill>
                  <a:schemeClr val="lt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endParaRPr>
            </a:p>
          </p:txBody>
        </p:sp>
        <p:sp>
          <p:nvSpPr>
            <p:cNvPr id="56" name="Google Shape;655;p20">
              <a:extLst>
                <a:ext uri="{FF2B5EF4-FFF2-40B4-BE49-F238E27FC236}">
                  <a16:creationId xmlns:a16="http://schemas.microsoft.com/office/drawing/2014/main" id="{0AD5B85C-C3CA-7F8B-4445-6579F9DD05C5}"/>
                </a:ext>
              </a:extLst>
            </p:cNvPr>
            <p:cNvSpPr/>
            <p:nvPr/>
          </p:nvSpPr>
          <p:spPr>
            <a:xfrm>
              <a:off x="5651602" y="2837050"/>
              <a:ext cx="476100" cy="464400"/>
            </a:xfrm>
            <a:prstGeom prst="ellipse">
              <a:avLst/>
            </a:prstGeom>
            <a:solidFill>
              <a:srgbClr val="5654A6"/>
            </a:solidFill>
            <a:ln>
              <a:noFill/>
            </a:ln>
          </p:spPr>
          <p:txBody>
            <a:bodyPr spcFirstLastPara="1" wrap="square" lIns="75100" tIns="75100" rIns="75100" bIns="751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42">
                <a:solidFill>
                  <a:schemeClr val="lt1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endParaRPr>
            </a:p>
          </p:txBody>
        </p:sp>
        <p:cxnSp>
          <p:nvCxnSpPr>
            <p:cNvPr id="57" name="Google Shape;656;p20">
              <a:extLst>
                <a:ext uri="{FF2B5EF4-FFF2-40B4-BE49-F238E27FC236}">
                  <a16:creationId xmlns:a16="http://schemas.microsoft.com/office/drawing/2014/main" id="{CBB48F69-77CC-47AD-2852-B2D244ACD4E6}"/>
                </a:ext>
              </a:extLst>
            </p:cNvPr>
            <p:cNvCxnSpPr>
              <a:stCxn id="45" idx="6"/>
              <a:endCxn id="55" idx="2"/>
            </p:cNvCxnSpPr>
            <p:nvPr/>
          </p:nvCxnSpPr>
          <p:spPr>
            <a:xfrm rot="10800000" flipH="1">
              <a:off x="4524002" y="2154100"/>
              <a:ext cx="1127700" cy="472800"/>
            </a:xfrm>
            <a:prstGeom prst="straightConnector1">
              <a:avLst/>
            </a:prstGeom>
            <a:noFill/>
            <a:ln w="2347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657;p20">
              <a:extLst>
                <a:ext uri="{FF2B5EF4-FFF2-40B4-BE49-F238E27FC236}">
                  <a16:creationId xmlns:a16="http://schemas.microsoft.com/office/drawing/2014/main" id="{08635A8E-3938-9511-BAE7-658B5BA10D8A}"/>
                </a:ext>
              </a:extLst>
            </p:cNvPr>
            <p:cNvCxnSpPr>
              <a:stCxn id="43" idx="6"/>
              <a:endCxn id="56" idx="2"/>
            </p:cNvCxnSpPr>
            <p:nvPr/>
          </p:nvCxnSpPr>
          <p:spPr>
            <a:xfrm rot="10800000" flipH="1">
              <a:off x="4524002" y="3069225"/>
              <a:ext cx="1127700" cy="378900"/>
            </a:xfrm>
            <a:prstGeom prst="straightConnector1">
              <a:avLst/>
            </a:prstGeom>
            <a:noFill/>
            <a:ln w="2347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658;p20">
              <a:extLst>
                <a:ext uri="{FF2B5EF4-FFF2-40B4-BE49-F238E27FC236}">
                  <a16:creationId xmlns:a16="http://schemas.microsoft.com/office/drawing/2014/main" id="{E64B80AC-D26F-5B65-6137-3863A6C58BC9}"/>
                </a:ext>
              </a:extLst>
            </p:cNvPr>
            <p:cNvCxnSpPr>
              <a:stCxn id="41" idx="6"/>
              <a:endCxn id="55" idx="2"/>
            </p:cNvCxnSpPr>
            <p:nvPr/>
          </p:nvCxnSpPr>
          <p:spPr>
            <a:xfrm>
              <a:off x="4523977" y="1921775"/>
              <a:ext cx="1127700" cy="232200"/>
            </a:xfrm>
            <a:prstGeom prst="straightConnector1">
              <a:avLst/>
            </a:prstGeom>
            <a:noFill/>
            <a:ln w="2347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0" name="Google Shape;659;p20">
              <a:extLst>
                <a:ext uri="{FF2B5EF4-FFF2-40B4-BE49-F238E27FC236}">
                  <a16:creationId xmlns:a16="http://schemas.microsoft.com/office/drawing/2014/main" id="{6DA08E1B-4E1D-1A5C-F4C3-BC71F9407059}"/>
                </a:ext>
              </a:extLst>
            </p:cNvPr>
            <p:cNvCxnSpPr>
              <a:stCxn id="43" idx="6"/>
              <a:endCxn id="55" idx="2"/>
            </p:cNvCxnSpPr>
            <p:nvPr/>
          </p:nvCxnSpPr>
          <p:spPr>
            <a:xfrm rot="10800000" flipH="1">
              <a:off x="4524002" y="2153925"/>
              <a:ext cx="1127700" cy="1294200"/>
            </a:xfrm>
            <a:prstGeom prst="straightConnector1">
              <a:avLst/>
            </a:prstGeom>
            <a:noFill/>
            <a:ln w="2347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1" name="Google Shape;660;p20">
              <a:extLst>
                <a:ext uri="{FF2B5EF4-FFF2-40B4-BE49-F238E27FC236}">
                  <a16:creationId xmlns:a16="http://schemas.microsoft.com/office/drawing/2014/main" id="{1D5C2EF0-B2DE-30E3-408F-798C8D2334CC}"/>
                </a:ext>
              </a:extLst>
            </p:cNvPr>
            <p:cNvCxnSpPr>
              <a:stCxn id="45" idx="6"/>
              <a:endCxn id="56" idx="2"/>
            </p:cNvCxnSpPr>
            <p:nvPr/>
          </p:nvCxnSpPr>
          <p:spPr>
            <a:xfrm>
              <a:off x="4524002" y="2626900"/>
              <a:ext cx="1127700" cy="442500"/>
            </a:xfrm>
            <a:prstGeom prst="straightConnector1">
              <a:avLst/>
            </a:prstGeom>
            <a:noFill/>
            <a:ln w="2347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2" name="Google Shape;661;p20">
              <a:extLst>
                <a:ext uri="{FF2B5EF4-FFF2-40B4-BE49-F238E27FC236}">
                  <a16:creationId xmlns:a16="http://schemas.microsoft.com/office/drawing/2014/main" id="{05689A02-9BA5-331C-6329-4E2E256B9FA1}"/>
                </a:ext>
              </a:extLst>
            </p:cNvPr>
            <p:cNvCxnSpPr>
              <a:stCxn id="41" idx="6"/>
              <a:endCxn id="56" idx="2"/>
            </p:cNvCxnSpPr>
            <p:nvPr/>
          </p:nvCxnSpPr>
          <p:spPr>
            <a:xfrm>
              <a:off x="4523977" y="1921775"/>
              <a:ext cx="1127700" cy="1147500"/>
            </a:xfrm>
            <a:prstGeom prst="straightConnector1">
              <a:avLst/>
            </a:prstGeom>
            <a:noFill/>
            <a:ln w="2347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91" name="Google Shape;599;p20">
            <a:extLst>
              <a:ext uri="{FF2B5EF4-FFF2-40B4-BE49-F238E27FC236}">
                <a16:creationId xmlns:a16="http://schemas.microsoft.com/office/drawing/2014/main" id="{E2636A82-4A35-9DA8-1C7E-80AD83562AEB}"/>
              </a:ext>
            </a:extLst>
          </p:cNvPr>
          <p:cNvSpPr/>
          <p:nvPr/>
        </p:nvSpPr>
        <p:spPr>
          <a:xfrm>
            <a:off x="6212228" y="1017584"/>
            <a:ext cx="5643723" cy="626933"/>
          </a:xfrm>
          <a:prstGeom prst="roundRect">
            <a:avLst>
              <a:gd name="adj" fmla="val 29264"/>
            </a:avLst>
          </a:prstGeom>
          <a:solidFill>
            <a:srgbClr val="AD2C35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600" b="1">
                <a:solidFill>
                  <a:schemeClr val="lt1"/>
                </a:solidFill>
                <a:latin typeface="Bahnschrift" panose="020B0502040204020203" pitchFamily="34" charset="0"/>
                <a:ea typeface="Fira Sans Condensed"/>
                <a:cs typeface="Arial" panose="020B0604020202020204" pitchFamily="34" charset="0"/>
                <a:sym typeface="Fira Sans Condensed"/>
              </a:rPr>
              <a:t>    Baseline Model</a:t>
            </a:r>
          </a:p>
        </p:txBody>
      </p:sp>
      <p:sp>
        <p:nvSpPr>
          <p:cNvPr id="92" name="Google Shape;600;p20">
            <a:extLst>
              <a:ext uri="{FF2B5EF4-FFF2-40B4-BE49-F238E27FC236}">
                <a16:creationId xmlns:a16="http://schemas.microsoft.com/office/drawing/2014/main" id="{8991C515-1745-2E72-A927-7B08F75EC440}"/>
              </a:ext>
            </a:extLst>
          </p:cNvPr>
          <p:cNvSpPr/>
          <p:nvPr/>
        </p:nvSpPr>
        <p:spPr>
          <a:xfrm>
            <a:off x="6221945" y="1891179"/>
            <a:ext cx="5626148" cy="1221393"/>
          </a:xfrm>
          <a:prstGeom prst="rect">
            <a:avLst/>
          </a:prstGeom>
          <a:solidFill>
            <a:srgbClr val="F7C9BD"/>
          </a:solidFill>
          <a:ln w="9525" cap="flat" cmpd="sng">
            <a:solidFill>
              <a:srgbClr val="AD2C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Bahnschrift" panose="020B0502040204020203" pitchFamily="34" charset="0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601;p20">
            <a:extLst>
              <a:ext uri="{FF2B5EF4-FFF2-40B4-BE49-F238E27FC236}">
                <a16:creationId xmlns:a16="http://schemas.microsoft.com/office/drawing/2014/main" id="{384FDA74-8375-CDD2-F87F-21429E87A7B3}"/>
              </a:ext>
            </a:extLst>
          </p:cNvPr>
          <p:cNvSpPr/>
          <p:nvPr/>
        </p:nvSpPr>
        <p:spPr>
          <a:xfrm>
            <a:off x="6344265" y="1073032"/>
            <a:ext cx="504600" cy="492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6850" tIns="96850" rIns="96850" bIns="96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18">
              <a:solidFill>
                <a:schemeClr val="lt1"/>
              </a:solidFill>
              <a:latin typeface="Fira Sans Condensed SemiBold"/>
              <a:ea typeface="Fira Sans Condensed SemiBold"/>
              <a:cs typeface="Fira Sans Condensed SemiBold"/>
              <a:sym typeface="Fira Sans Condensed SemiBold"/>
            </a:endParaRPr>
          </a:p>
        </p:txBody>
      </p:sp>
      <p:pic>
        <p:nvPicPr>
          <p:cNvPr id="94" name="Google Shape;602;p20">
            <a:extLst>
              <a:ext uri="{FF2B5EF4-FFF2-40B4-BE49-F238E27FC236}">
                <a16:creationId xmlns:a16="http://schemas.microsoft.com/office/drawing/2014/main" id="{1F3C17BF-53ED-397C-27F4-643689CB1A1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4886" y="1107444"/>
            <a:ext cx="423320" cy="42332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146;p3">
            <a:extLst>
              <a:ext uri="{FF2B5EF4-FFF2-40B4-BE49-F238E27FC236}">
                <a16:creationId xmlns:a16="http://schemas.microsoft.com/office/drawing/2014/main" id="{CA4D0A31-F323-5EF5-808D-8FC253A63C22}"/>
              </a:ext>
            </a:extLst>
          </p:cNvPr>
          <p:cNvSpPr txBox="1"/>
          <p:nvPr/>
        </p:nvSpPr>
        <p:spPr>
          <a:xfrm>
            <a:off x="6543107" y="2311934"/>
            <a:ext cx="5158143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accent3">
                    <a:lumMod val="50000"/>
                  </a:schemeClr>
                </a:solidFill>
                <a:latin typeface="Bahnschrift" panose="020B0502040204020203" pitchFamily="34" charset="0"/>
              </a:rPr>
              <a:t>Convolutional Neural Network (CNN)</a:t>
            </a:r>
          </a:p>
        </p:txBody>
      </p:sp>
      <p:sp>
        <p:nvSpPr>
          <p:cNvPr id="73" name="Google Shape;604;p20">
            <a:extLst>
              <a:ext uri="{FF2B5EF4-FFF2-40B4-BE49-F238E27FC236}">
                <a16:creationId xmlns:a16="http://schemas.microsoft.com/office/drawing/2014/main" id="{8E04908F-F1A1-0CB3-9D4F-59FBD04E71F5}"/>
              </a:ext>
            </a:extLst>
          </p:cNvPr>
          <p:cNvSpPr/>
          <p:nvPr/>
        </p:nvSpPr>
        <p:spPr>
          <a:xfrm>
            <a:off x="6204369" y="3661359"/>
            <a:ext cx="5643724" cy="585000"/>
          </a:xfrm>
          <a:prstGeom prst="roundRect">
            <a:avLst>
              <a:gd name="adj" fmla="val 29264"/>
            </a:avLst>
          </a:prstGeom>
          <a:solidFill>
            <a:schemeClr val="accent2">
              <a:lumMod val="75000"/>
            </a:schemeClr>
          </a:solidFill>
          <a:ln w="847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275" tIns="81275" rIns="81275" bIns="81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Bahnschrift" panose="020B0502040204020203" pitchFamily="34" charset="0"/>
                <a:ea typeface="Fira Sans Condensed"/>
                <a:cs typeface="Fira Sans Condensed"/>
                <a:sym typeface="Fira Sans Condensed"/>
              </a:rPr>
              <a:t>         </a:t>
            </a:r>
            <a:r>
              <a:rPr lang="en" sz="1600" b="1">
                <a:solidFill>
                  <a:schemeClr val="lt1"/>
                </a:solidFill>
                <a:latin typeface="Bahnschrift" panose="020B0502040204020203" pitchFamily="34" charset="0"/>
                <a:ea typeface="Fira Sans Condensed"/>
                <a:cs typeface="Arial" panose="020B0604020202020204" pitchFamily="34" charset="0"/>
                <a:sym typeface="Fira Sans Condensed"/>
              </a:rPr>
              <a:t>Performance Metrics</a:t>
            </a:r>
            <a:endParaRPr sz="1600" b="1">
              <a:solidFill>
                <a:schemeClr val="lt1"/>
              </a:solidFill>
              <a:latin typeface="Bahnschrift" panose="020B0502040204020203" pitchFamily="34" charset="0"/>
              <a:ea typeface="Fira Sans Condensed"/>
              <a:cs typeface="Arial" panose="020B0604020202020204" pitchFamily="34" charset="0"/>
              <a:sym typeface="Fira Sans Condensed"/>
            </a:endParaRPr>
          </a:p>
        </p:txBody>
      </p:sp>
      <p:sp>
        <p:nvSpPr>
          <p:cNvPr id="74" name="Google Shape;605;p20">
            <a:extLst>
              <a:ext uri="{FF2B5EF4-FFF2-40B4-BE49-F238E27FC236}">
                <a16:creationId xmlns:a16="http://schemas.microsoft.com/office/drawing/2014/main" id="{A48B510A-6273-69A1-C95D-B15CA96CB3D3}"/>
              </a:ext>
            </a:extLst>
          </p:cNvPr>
          <p:cNvSpPr/>
          <p:nvPr/>
        </p:nvSpPr>
        <p:spPr>
          <a:xfrm>
            <a:off x="6414957" y="3722206"/>
            <a:ext cx="474239" cy="437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6100" tIns="86100" rIns="86100" bIns="86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83">
              <a:solidFill>
                <a:schemeClr val="lt1"/>
              </a:solidFill>
              <a:latin typeface="Fira Sans Condensed SemiBold"/>
              <a:ea typeface="Fira Sans Condensed SemiBold"/>
              <a:cs typeface="Fira Sans Condensed SemiBold"/>
              <a:sym typeface="Fira Sans Condensed SemiBold"/>
            </a:endParaRPr>
          </a:p>
        </p:txBody>
      </p:sp>
      <p:sp>
        <p:nvSpPr>
          <p:cNvPr id="76" name="Google Shape;607;p20">
            <a:extLst>
              <a:ext uri="{FF2B5EF4-FFF2-40B4-BE49-F238E27FC236}">
                <a16:creationId xmlns:a16="http://schemas.microsoft.com/office/drawing/2014/main" id="{4B8C215B-76A8-9D6F-6FED-2B6F57C1B672}"/>
              </a:ext>
            </a:extLst>
          </p:cNvPr>
          <p:cNvSpPr/>
          <p:nvPr/>
        </p:nvSpPr>
        <p:spPr>
          <a:xfrm>
            <a:off x="6212229" y="4355424"/>
            <a:ext cx="5624391" cy="16275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>
            <a:solidFill>
              <a:srgbClr val="E772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MY">
              <a:latin typeface="Bahnschrift" panose="020B0502040204020203" pitchFamily="34" charset="0"/>
              <a:cs typeface="Arial"/>
            </a:endParaRPr>
          </a:p>
        </p:txBody>
      </p:sp>
      <p:pic>
        <p:nvPicPr>
          <p:cNvPr id="80" name="Graphic 79" descr="Magnifying glass with solid fill">
            <a:extLst>
              <a:ext uri="{FF2B5EF4-FFF2-40B4-BE49-F238E27FC236}">
                <a16:creationId xmlns:a16="http://schemas.microsoft.com/office/drawing/2014/main" id="{8A53C22A-E599-C661-4558-444A2BAFC9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63239" y="3754708"/>
            <a:ext cx="369375" cy="369375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37262136-D55C-C12A-3B3C-989C65520ABE}"/>
              </a:ext>
            </a:extLst>
          </p:cNvPr>
          <p:cNvGrpSpPr/>
          <p:nvPr/>
        </p:nvGrpSpPr>
        <p:grpSpPr>
          <a:xfrm>
            <a:off x="6359931" y="4572662"/>
            <a:ext cx="1141063" cy="1152508"/>
            <a:chOff x="5958897" y="3847115"/>
            <a:chExt cx="1141063" cy="1152508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03D7501-EF02-D0C5-8788-5DC3B528F31E}"/>
                </a:ext>
              </a:extLst>
            </p:cNvPr>
            <p:cNvGrpSpPr/>
            <p:nvPr/>
          </p:nvGrpSpPr>
          <p:grpSpPr>
            <a:xfrm>
              <a:off x="6134934" y="4207623"/>
              <a:ext cx="792000" cy="792000"/>
              <a:chOff x="6169864" y="3865149"/>
              <a:chExt cx="792000" cy="792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DC0ED9C-A39F-0CDF-4C34-0C6B2EC56CE3}"/>
                  </a:ext>
                </a:extLst>
              </p:cNvPr>
              <p:cNvSpPr/>
              <p:nvPr/>
            </p:nvSpPr>
            <p:spPr>
              <a:xfrm>
                <a:off x="6169864" y="3865149"/>
                <a:ext cx="792000" cy="792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E7720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>
                  <a:solidFill>
                    <a:schemeClr val="accent4">
                      <a:lumMod val="50000"/>
                    </a:schemeClr>
                  </a:solidFill>
                  <a:latin typeface="Bahnschrift" panose="020B0502040204020203" pitchFamily="34" charset="0"/>
                </a:endParaRPr>
              </a:p>
            </p:txBody>
          </p:sp>
          <p:pic>
            <p:nvPicPr>
              <p:cNvPr id="84" name="Picture 83">
                <a:extLst>
                  <a:ext uri="{FF2B5EF4-FFF2-40B4-BE49-F238E27FC236}">
                    <a16:creationId xmlns:a16="http://schemas.microsoft.com/office/drawing/2014/main" id="{2F7F1D9A-47B9-1EB8-F04F-6BB37F9563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56556" y="4019415"/>
                <a:ext cx="486447" cy="483468"/>
              </a:xfrm>
              <a:prstGeom prst="rect">
                <a:avLst/>
              </a:prstGeom>
            </p:spPr>
          </p:pic>
        </p:grpSp>
        <p:sp>
          <p:nvSpPr>
            <p:cNvPr id="87" name="Google Shape;146;p3">
              <a:extLst>
                <a:ext uri="{FF2B5EF4-FFF2-40B4-BE49-F238E27FC236}">
                  <a16:creationId xmlns:a16="http://schemas.microsoft.com/office/drawing/2014/main" id="{EB12094F-BDCB-ED76-F180-9D8C29ECA2D0}"/>
                </a:ext>
              </a:extLst>
            </p:cNvPr>
            <p:cNvSpPr txBox="1"/>
            <p:nvPr/>
          </p:nvSpPr>
          <p:spPr>
            <a:xfrm>
              <a:off x="5958897" y="3847115"/>
              <a:ext cx="1141063" cy="3016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400" b="1">
                  <a:solidFill>
                    <a:schemeClr val="accent4">
                      <a:lumMod val="50000"/>
                    </a:schemeClr>
                  </a:solidFill>
                  <a:latin typeface="Bahnschrift" panose="020B0502040204020203" pitchFamily="34" charset="0"/>
                </a:rPr>
                <a:t>ROC-AUC</a:t>
              </a:r>
              <a:endParaRPr lang="en-US" sz="1400" b="1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DCAC26C-DC7B-E88B-3403-F6B85D66C861}"/>
              </a:ext>
            </a:extLst>
          </p:cNvPr>
          <p:cNvGrpSpPr/>
          <p:nvPr/>
        </p:nvGrpSpPr>
        <p:grpSpPr>
          <a:xfrm>
            <a:off x="7425780" y="4563967"/>
            <a:ext cx="1141063" cy="1145998"/>
            <a:chOff x="7024746" y="3857325"/>
            <a:chExt cx="1141063" cy="11459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067794D-8761-4DFA-7645-F3C72E497AE9}"/>
                </a:ext>
              </a:extLst>
            </p:cNvPr>
            <p:cNvGrpSpPr/>
            <p:nvPr/>
          </p:nvGrpSpPr>
          <p:grpSpPr>
            <a:xfrm>
              <a:off x="7200628" y="4211323"/>
              <a:ext cx="821348" cy="792000"/>
              <a:chOff x="7163520" y="3886228"/>
              <a:chExt cx="821348" cy="792000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BFF4CE0E-52B9-A7A7-9FBF-E39AD471DAC5}"/>
                  </a:ext>
                </a:extLst>
              </p:cNvPr>
              <p:cNvSpPr/>
              <p:nvPr/>
            </p:nvSpPr>
            <p:spPr>
              <a:xfrm>
                <a:off x="7165528" y="3886228"/>
                <a:ext cx="792000" cy="792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E7720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>
                  <a:solidFill>
                    <a:schemeClr val="accent4">
                      <a:lumMod val="50000"/>
                    </a:schemeClr>
                  </a:solidFill>
                  <a:latin typeface="Bahnschrift" panose="020B0502040204020203" pitchFamily="34" charset="0"/>
                </a:endParaRPr>
              </a:p>
            </p:txBody>
          </p:sp>
          <p:pic>
            <p:nvPicPr>
              <p:cNvPr id="81" name="Picture 18" descr="Difference Between Accuracy and Precision (with Comparison Chart) - Key  Differences">
                <a:extLst>
                  <a:ext uri="{FF2B5EF4-FFF2-40B4-BE49-F238E27FC236}">
                    <a16:creationId xmlns:a16="http://schemas.microsoft.com/office/drawing/2014/main" id="{A8CC3648-37F9-81A3-696E-C8BAE0069A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8000" b="72000" l="9630" r="90000">
                            <a14:foregroundMark x1="9630" y1="33333" x2="9630" y2="33333"/>
                            <a14:foregroundMark x1="14444" y1="22667" x2="14444" y2="22667"/>
                            <a14:foregroundMark x1="19074" y1="20444" x2="19074" y2="20444"/>
                            <a14:foregroundMark x1="37963" y1="16444" x2="37963" y2="16444"/>
                            <a14:foregroundMark x1="39630" y1="54667" x2="39630" y2="54667"/>
                            <a14:foregroundMark x1="27593" y1="68889" x2="27593" y2="68889"/>
                            <a14:foregroundMark x1="18333" y1="55111" x2="18333" y2="55111"/>
                            <a14:foregroundMark x1="20000" y1="48000" x2="20000" y2="48000"/>
                            <a14:foregroundMark x1="22407" y1="39556" x2="22407" y2="39556"/>
                            <a14:foregroundMark x1="24074" y1="23111" x2="24074" y2="23111"/>
                            <a14:foregroundMark x1="29074" y1="33778" x2="29074" y2="33778"/>
                            <a14:foregroundMark x1="27407" y1="41333" x2="27407" y2="41333"/>
                            <a14:foregroundMark x1="33148" y1="35111" x2="33148" y2="35111"/>
                            <a14:foregroundMark x1="30556" y1="48444" x2="30556" y2="48444"/>
                            <a14:foregroundMark x1="31852" y1="56000" x2="31852" y2="56000"/>
                            <a14:foregroundMark x1="36852" y1="36889" x2="36852" y2="36889"/>
                            <a14:foregroundMark x1="70370" y1="40444" x2="70370" y2="40444"/>
                            <a14:foregroundMark x1="81111" y1="44000" x2="81111" y2="44000"/>
                            <a14:foregroundMark x1="84815" y1="24889" x2="84815" y2="24889"/>
                            <a14:foregroundMark x1="79259" y1="30222" x2="79259" y2="30222"/>
                            <a14:foregroundMark x1="78704" y1="22667" x2="78704" y2="22667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06" r="53716" b="19789"/>
              <a:stretch>
                <a:fillRect/>
              </a:stretch>
            </p:blipFill>
            <p:spPr bwMode="auto">
              <a:xfrm>
                <a:off x="7163520" y="4007040"/>
                <a:ext cx="821348" cy="66843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88" name="Google Shape;146;p3">
              <a:extLst>
                <a:ext uri="{FF2B5EF4-FFF2-40B4-BE49-F238E27FC236}">
                  <a16:creationId xmlns:a16="http://schemas.microsoft.com/office/drawing/2014/main" id="{17887398-5DEF-FDBB-0440-5FDB43BC2286}"/>
                </a:ext>
              </a:extLst>
            </p:cNvPr>
            <p:cNvSpPr txBox="1"/>
            <p:nvPr/>
          </p:nvSpPr>
          <p:spPr>
            <a:xfrm>
              <a:off x="7024746" y="3857325"/>
              <a:ext cx="1141063" cy="3016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400" b="1">
                  <a:solidFill>
                    <a:schemeClr val="accent4">
                      <a:lumMod val="50000"/>
                    </a:schemeClr>
                  </a:solidFill>
                  <a:latin typeface="Bahnschrift" panose="020B0502040204020203" pitchFamily="34" charset="0"/>
                </a:rPr>
                <a:t>Accuracy</a:t>
              </a:r>
              <a:endParaRPr lang="en-US" sz="1400" b="1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D539C00-FA04-C546-C3B0-43BC4AB77F84}"/>
              </a:ext>
            </a:extLst>
          </p:cNvPr>
          <p:cNvGrpSpPr/>
          <p:nvPr/>
        </p:nvGrpSpPr>
        <p:grpSpPr>
          <a:xfrm>
            <a:off x="8491629" y="4563967"/>
            <a:ext cx="1141063" cy="1143837"/>
            <a:chOff x="8090595" y="3857325"/>
            <a:chExt cx="1141063" cy="114383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19114BA-A976-C99C-21A1-87A9DE7F6E68}"/>
                </a:ext>
              </a:extLst>
            </p:cNvPr>
            <p:cNvGrpSpPr/>
            <p:nvPr/>
          </p:nvGrpSpPr>
          <p:grpSpPr>
            <a:xfrm>
              <a:off x="8295670" y="4209162"/>
              <a:ext cx="800565" cy="792000"/>
              <a:chOff x="8163986" y="3910193"/>
              <a:chExt cx="800565" cy="7920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34E075A-6E41-C202-CC69-9716C9370CEF}"/>
                  </a:ext>
                </a:extLst>
              </p:cNvPr>
              <p:cNvSpPr/>
              <p:nvPr/>
            </p:nvSpPr>
            <p:spPr>
              <a:xfrm>
                <a:off x="8163986" y="3910193"/>
                <a:ext cx="792000" cy="792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E7720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>
                  <a:solidFill>
                    <a:schemeClr val="accent4">
                      <a:lumMod val="50000"/>
                    </a:schemeClr>
                  </a:solidFill>
                  <a:latin typeface="Bahnschrift" panose="020B0502040204020203" pitchFamily="34" charset="0"/>
                </a:endParaRPr>
              </a:p>
            </p:txBody>
          </p:sp>
          <p:pic>
            <p:nvPicPr>
              <p:cNvPr id="82" name="Picture 18" descr="Difference Between Accuracy and Precision (with Comparison Chart) - Key  Differences">
                <a:extLst>
                  <a:ext uri="{FF2B5EF4-FFF2-40B4-BE49-F238E27FC236}">
                    <a16:creationId xmlns:a16="http://schemas.microsoft.com/office/drawing/2014/main" id="{CB7DC501-836B-AA06-9001-8902C8BDF2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8000" b="72000" l="9630" r="90000">
                            <a14:foregroundMark x1="9630" y1="33333" x2="9630" y2="33333"/>
                            <a14:foregroundMark x1="14444" y1="22667" x2="14444" y2="22667"/>
                            <a14:foregroundMark x1="19074" y1="20444" x2="19074" y2="20444"/>
                            <a14:foregroundMark x1="37963" y1="16444" x2="37963" y2="16444"/>
                            <a14:foregroundMark x1="39630" y1="54667" x2="39630" y2="54667"/>
                            <a14:foregroundMark x1="27593" y1="68889" x2="27593" y2="68889"/>
                            <a14:foregroundMark x1="18333" y1="55111" x2="18333" y2="55111"/>
                            <a14:foregroundMark x1="20000" y1="48000" x2="20000" y2="48000"/>
                            <a14:foregroundMark x1="22407" y1="39556" x2="22407" y2="39556"/>
                            <a14:foregroundMark x1="24074" y1="23111" x2="24074" y2="23111"/>
                            <a14:foregroundMark x1="29074" y1="33778" x2="29074" y2="33778"/>
                            <a14:foregroundMark x1="27407" y1="41333" x2="27407" y2="41333"/>
                            <a14:foregroundMark x1="33148" y1="35111" x2="33148" y2="35111"/>
                            <a14:foregroundMark x1="30556" y1="48444" x2="30556" y2="48444"/>
                            <a14:foregroundMark x1="31852" y1="56000" x2="31852" y2="56000"/>
                            <a14:foregroundMark x1="36852" y1="36889" x2="36852" y2="36889"/>
                            <a14:foregroundMark x1="70370" y1="40444" x2="70370" y2="40444"/>
                            <a14:foregroundMark x1="81111" y1="44000" x2="81111" y2="44000"/>
                            <a14:foregroundMark x1="84815" y1="24889" x2="84815" y2="24889"/>
                            <a14:foregroundMark x1="79259" y1="30222" x2="79259" y2="30222"/>
                            <a14:foregroundMark x1="78704" y1="22667" x2="78704" y2="22667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732" r="11947" b="32439"/>
              <a:stretch>
                <a:fillRect/>
              </a:stretch>
            </p:blipFill>
            <p:spPr bwMode="auto">
              <a:xfrm>
                <a:off x="8214371" y="4050486"/>
                <a:ext cx="750180" cy="5815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89" name="Google Shape;146;p3">
              <a:extLst>
                <a:ext uri="{FF2B5EF4-FFF2-40B4-BE49-F238E27FC236}">
                  <a16:creationId xmlns:a16="http://schemas.microsoft.com/office/drawing/2014/main" id="{B4233AFD-7927-F496-5F22-A681F9FD2DDD}"/>
                </a:ext>
              </a:extLst>
            </p:cNvPr>
            <p:cNvSpPr txBox="1"/>
            <p:nvPr/>
          </p:nvSpPr>
          <p:spPr>
            <a:xfrm>
              <a:off x="8090595" y="3857325"/>
              <a:ext cx="1141063" cy="3016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400" b="1">
                  <a:solidFill>
                    <a:schemeClr val="accent4">
                      <a:lumMod val="50000"/>
                    </a:schemeClr>
                  </a:solidFill>
                  <a:latin typeface="Bahnschrift" panose="020B0502040204020203" pitchFamily="34" charset="0"/>
                </a:rPr>
                <a:t>Precision</a:t>
              </a:r>
              <a:endParaRPr lang="en-US" sz="1400" b="1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9455513-48DE-4012-333E-9865EB24554D}"/>
              </a:ext>
            </a:extLst>
          </p:cNvPr>
          <p:cNvGrpSpPr/>
          <p:nvPr/>
        </p:nvGrpSpPr>
        <p:grpSpPr>
          <a:xfrm>
            <a:off x="9557478" y="4557569"/>
            <a:ext cx="1141063" cy="1146370"/>
            <a:chOff x="9156444" y="3850927"/>
            <a:chExt cx="1141063" cy="114637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A0BC87E-215A-957F-C092-390EDF82A10C}"/>
                </a:ext>
              </a:extLst>
            </p:cNvPr>
            <p:cNvGrpSpPr/>
            <p:nvPr/>
          </p:nvGrpSpPr>
          <p:grpSpPr>
            <a:xfrm>
              <a:off x="9358985" y="4205297"/>
              <a:ext cx="792000" cy="792000"/>
              <a:chOff x="9136733" y="3917188"/>
              <a:chExt cx="792000" cy="792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08175FC-3548-52A9-586F-7DF0644CCDCC}"/>
                  </a:ext>
                </a:extLst>
              </p:cNvPr>
              <p:cNvSpPr/>
              <p:nvPr/>
            </p:nvSpPr>
            <p:spPr>
              <a:xfrm>
                <a:off x="9136733" y="3917188"/>
                <a:ext cx="792000" cy="792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E7720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>
                  <a:solidFill>
                    <a:schemeClr val="accent4">
                      <a:lumMod val="50000"/>
                    </a:schemeClr>
                  </a:solidFill>
                  <a:latin typeface="Bahnschrift" panose="020B0502040204020203" pitchFamily="34" charset="0"/>
                </a:endParaRPr>
              </a:p>
            </p:txBody>
          </p:sp>
          <p:pic>
            <p:nvPicPr>
              <p:cNvPr id="83" name="Picture 20" descr="Memory recall - Free people icons">
                <a:extLst>
                  <a:ext uri="{FF2B5EF4-FFF2-40B4-BE49-F238E27FC236}">
                    <a16:creationId xmlns:a16="http://schemas.microsoft.com/office/drawing/2014/main" id="{C1B7A919-BC64-AAAD-D5D3-8E73777309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328770" y="4052375"/>
                <a:ext cx="510099" cy="51009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90" name="Google Shape;146;p3">
              <a:extLst>
                <a:ext uri="{FF2B5EF4-FFF2-40B4-BE49-F238E27FC236}">
                  <a16:creationId xmlns:a16="http://schemas.microsoft.com/office/drawing/2014/main" id="{2A1F9FB3-E03A-FF2C-7691-3791184189AF}"/>
                </a:ext>
              </a:extLst>
            </p:cNvPr>
            <p:cNvSpPr txBox="1"/>
            <p:nvPr/>
          </p:nvSpPr>
          <p:spPr>
            <a:xfrm>
              <a:off x="9156444" y="3850927"/>
              <a:ext cx="1141063" cy="3016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400" b="1">
                  <a:solidFill>
                    <a:schemeClr val="accent4">
                      <a:lumMod val="50000"/>
                    </a:schemeClr>
                  </a:solidFill>
                  <a:latin typeface="Bahnschrift" panose="020B0502040204020203" pitchFamily="34" charset="0"/>
                </a:rPr>
                <a:t>Recall</a:t>
              </a:r>
              <a:endParaRPr lang="en-US" sz="1400" b="1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ABCB352-8F79-96D8-450A-15349C39A576}"/>
              </a:ext>
            </a:extLst>
          </p:cNvPr>
          <p:cNvGrpSpPr/>
          <p:nvPr/>
        </p:nvGrpSpPr>
        <p:grpSpPr>
          <a:xfrm>
            <a:off x="10707030" y="4560404"/>
            <a:ext cx="1141063" cy="1143535"/>
            <a:chOff x="10305996" y="3853762"/>
            <a:chExt cx="1141063" cy="1143535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2072973-9639-A22F-9C0C-B0C371304824}"/>
                </a:ext>
              </a:extLst>
            </p:cNvPr>
            <p:cNvGrpSpPr/>
            <p:nvPr/>
          </p:nvGrpSpPr>
          <p:grpSpPr>
            <a:xfrm>
              <a:off x="10460584" y="4205297"/>
              <a:ext cx="792000" cy="792000"/>
              <a:chOff x="10063375" y="3937121"/>
              <a:chExt cx="792000" cy="792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4A96043-E2AE-8DB5-0155-F5EAD5D0512E}"/>
                  </a:ext>
                </a:extLst>
              </p:cNvPr>
              <p:cNvSpPr/>
              <p:nvPr/>
            </p:nvSpPr>
            <p:spPr>
              <a:xfrm>
                <a:off x="10063375" y="3937121"/>
                <a:ext cx="792000" cy="792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E7720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>
                  <a:solidFill>
                    <a:schemeClr val="accent4">
                      <a:lumMod val="50000"/>
                    </a:schemeClr>
                  </a:solidFill>
                  <a:latin typeface="Bahnschrift" panose="020B0502040204020203" pitchFamily="34" charset="0"/>
                </a:endParaRPr>
              </a:p>
            </p:txBody>
          </p:sp>
          <p:pic>
            <p:nvPicPr>
              <p:cNvPr id="14" name="Graphic 13" descr="Race Car outline">
                <a:extLst>
                  <a:ext uri="{FF2B5EF4-FFF2-40B4-BE49-F238E27FC236}">
                    <a16:creationId xmlns:a16="http://schemas.microsoft.com/office/drawing/2014/main" id="{5E7A8E99-4AA0-0517-9171-DDEAC8F9F2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0159914" y="3937121"/>
                <a:ext cx="638810" cy="792000"/>
              </a:xfrm>
              <a:prstGeom prst="rect">
                <a:avLst/>
              </a:prstGeom>
            </p:spPr>
          </p:pic>
        </p:grpSp>
        <p:sp>
          <p:nvSpPr>
            <p:cNvPr id="25" name="Google Shape;146;p3">
              <a:extLst>
                <a:ext uri="{FF2B5EF4-FFF2-40B4-BE49-F238E27FC236}">
                  <a16:creationId xmlns:a16="http://schemas.microsoft.com/office/drawing/2014/main" id="{7571AC91-941C-5775-304A-64C343536434}"/>
                </a:ext>
              </a:extLst>
            </p:cNvPr>
            <p:cNvSpPr txBox="1"/>
            <p:nvPr/>
          </p:nvSpPr>
          <p:spPr>
            <a:xfrm>
              <a:off x="10305996" y="3853762"/>
              <a:ext cx="1141063" cy="3016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CN" sz="1400" b="1">
                  <a:solidFill>
                    <a:schemeClr val="accent4">
                      <a:lumMod val="50000"/>
                    </a:schemeClr>
                  </a:solidFill>
                  <a:latin typeface="Bahnschrift" panose="020B0502040204020203" pitchFamily="34" charset="0"/>
                </a:rPr>
                <a:t>F1 Score</a:t>
              </a:r>
              <a:endParaRPr lang="en-US" sz="1400" b="1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endParaRPr>
            </a:p>
          </p:txBody>
        </p:sp>
      </p:grpSp>
      <p:sp>
        <p:nvSpPr>
          <p:cNvPr id="63" name="Google Shape;604;p20">
            <a:extLst>
              <a:ext uri="{FF2B5EF4-FFF2-40B4-BE49-F238E27FC236}">
                <a16:creationId xmlns:a16="http://schemas.microsoft.com/office/drawing/2014/main" id="{F022FC65-1E0C-D31F-BF61-F28A9086A4A9}"/>
              </a:ext>
            </a:extLst>
          </p:cNvPr>
          <p:cNvSpPr/>
          <p:nvPr/>
        </p:nvSpPr>
        <p:spPr>
          <a:xfrm>
            <a:off x="460384" y="4088134"/>
            <a:ext cx="5507537" cy="585000"/>
          </a:xfrm>
          <a:prstGeom prst="roundRect">
            <a:avLst>
              <a:gd name="adj" fmla="val 29264"/>
            </a:avLst>
          </a:prstGeom>
          <a:solidFill>
            <a:schemeClr val="tx2">
              <a:lumMod val="75000"/>
              <a:lumOff val="25000"/>
            </a:schemeClr>
          </a:solidFill>
          <a:ln w="847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275" tIns="81275" rIns="81275" bIns="81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  <a:latin typeface="Bahnschrift" panose="020B0502040204020203" pitchFamily="34" charset="0"/>
                <a:ea typeface="Fira Sans Condensed"/>
                <a:cs typeface="Fira Sans Condensed"/>
                <a:sym typeface="Fira Sans Condensed"/>
              </a:rPr>
              <a:t>         Model </a:t>
            </a:r>
            <a:r>
              <a:rPr lang="en-US" altLang="zh-CN" sz="1600" b="1">
                <a:solidFill>
                  <a:schemeClr val="lt1"/>
                </a:solidFill>
                <a:latin typeface="Bahnschrift" panose="020B0502040204020203" pitchFamily="34" charset="0"/>
                <a:ea typeface="Fira Sans Condensed"/>
                <a:cs typeface="Fira Sans Condensed"/>
                <a:sym typeface="Fira Sans Condensed"/>
              </a:rPr>
              <a:t>Settings</a:t>
            </a:r>
            <a:endParaRPr sz="1600" b="1">
              <a:solidFill>
                <a:schemeClr val="lt1"/>
              </a:solidFill>
              <a:latin typeface="Bahnschrift" panose="020B0502040204020203" pitchFamily="34" charset="0"/>
              <a:ea typeface="Fira Sans Condensed"/>
              <a:cs typeface="Arial" panose="020B0604020202020204" pitchFamily="34" charset="0"/>
              <a:sym typeface="Fira Sans Condensed"/>
            </a:endParaRPr>
          </a:p>
        </p:txBody>
      </p:sp>
      <p:sp>
        <p:nvSpPr>
          <p:cNvPr id="64" name="Google Shape;605;p20">
            <a:extLst>
              <a:ext uri="{FF2B5EF4-FFF2-40B4-BE49-F238E27FC236}">
                <a16:creationId xmlns:a16="http://schemas.microsoft.com/office/drawing/2014/main" id="{62F613FB-7215-E928-7075-188E07D4795D}"/>
              </a:ext>
            </a:extLst>
          </p:cNvPr>
          <p:cNvSpPr/>
          <p:nvPr/>
        </p:nvSpPr>
        <p:spPr>
          <a:xfrm>
            <a:off x="615945" y="4161867"/>
            <a:ext cx="448500" cy="437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6100" tIns="86100" rIns="86100" bIns="86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83">
              <a:solidFill>
                <a:schemeClr val="lt1"/>
              </a:solidFill>
              <a:latin typeface="Fira Sans Condensed SemiBold"/>
              <a:ea typeface="Fira Sans Condensed SemiBold"/>
              <a:cs typeface="Fira Sans Condensed SemiBold"/>
              <a:sym typeface="Fira Sans Condensed SemiBold"/>
            </a:endParaRPr>
          </a:p>
        </p:txBody>
      </p:sp>
      <p:pic>
        <p:nvPicPr>
          <p:cNvPr id="65" name="Google Shape;606;p20">
            <a:extLst>
              <a:ext uri="{FF2B5EF4-FFF2-40B4-BE49-F238E27FC236}">
                <a16:creationId xmlns:a16="http://schemas.microsoft.com/office/drawing/2014/main" id="{1E64293A-C0EF-7024-108A-3C1BEF46B0FF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85098" y="4225622"/>
            <a:ext cx="310175" cy="3101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07;p20">
            <a:extLst>
              <a:ext uri="{FF2B5EF4-FFF2-40B4-BE49-F238E27FC236}">
                <a16:creationId xmlns:a16="http://schemas.microsoft.com/office/drawing/2014/main" id="{40BAFCEB-9223-16AE-A07B-49771599D092}"/>
              </a:ext>
            </a:extLst>
          </p:cNvPr>
          <p:cNvSpPr/>
          <p:nvPr/>
        </p:nvSpPr>
        <p:spPr>
          <a:xfrm>
            <a:off x="480095" y="4828323"/>
            <a:ext cx="5506368" cy="115467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9525" cap="flat" cmpd="sng">
            <a:solidFill>
              <a:srgbClr val="59736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MY">
              <a:latin typeface="Bahnschrift" panose="020B0502040204020203" pitchFamily="34" charset="0"/>
              <a:cs typeface="Arial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A35111A-D5F6-F087-6735-79FBD531D85C}"/>
              </a:ext>
            </a:extLst>
          </p:cNvPr>
          <p:cNvSpPr/>
          <p:nvPr/>
        </p:nvSpPr>
        <p:spPr>
          <a:xfrm>
            <a:off x="644198" y="5028337"/>
            <a:ext cx="1367938" cy="375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5973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200">
                <a:solidFill>
                  <a:schemeClr val="accent6">
                    <a:lumMod val="50000"/>
                  </a:schemeClr>
                </a:solidFill>
              </a:rPr>
              <a:t>25 Epochs</a:t>
            </a:r>
            <a:endParaRPr lang="en-AU" sz="120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FB7B060-CDB8-6611-547F-9D95C9BA2A67}"/>
              </a:ext>
            </a:extLst>
          </p:cNvPr>
          <p:cNvSpPr/>
          <p:nvPr/>
        </p:nvSpPr>
        <p:spPr>
          <a:xfrm>
            <a:off x="2083210" y="5028337"/>
            <a:ext cx="1807671" cy="375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5973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200">
                <a:solidFill>
                  <a:schemeClr val="accent6">
                    <a:lumMod val="50000"/>
                  </a:schemeClr>
                </a:solidFill>
              </a:rPr>
              <a:t>Adam Optimizer</a:t>
            </a:r>
            <a:endParaRPr lang="en-AU" sz="120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CEADD07-A59D-21AB-39F7-A8472FCF3951}"/>
              </a:ext>
            </a:extLst>
          </p:cNvPr>
          <p:cNvSpPr/>
          <p:nvPr/>
        </p:nvSpPr>
        <p:spPr>
          <a:xfrm>
            <a:off x="3961955" y="5005640"/>
            <a:ext cx="1962997" cy="375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5973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200">
                <a:solidFill>
                  <a:schemeClr val="accent6">
                    <a:lumMod val="50000"/>
                  </a:schemeClr>
                </a:solidFill>
              </a:rPr>
              <a:t>Cross-entropy Loss</a:t>
            </a:r>
            <a:endParaRPr lang="en-AU" sz="120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A22547D-2F6E-FD8B-21D3-F21505829849}"/>
              </a:ext>
            </a:extLst>
          </p:cNvPr>
          <p:cNvSpPr/>
          <p:nvPr/>
        </p:nvSpPr>
        <p:spPr>
          <a:xfrm>
            <a:off x="647787" y="5472459"/>
            <a:ext cx="2124656" cy="375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5973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200">
                <a:solidFill>
                  <a:schemeClr val="accent6">
                    <a:lumMod val="50000"/>
                  </a:schemeClr>
                </a:solidFill>
              </a:rPr>
              <a:t>70/20/10 Set Splits</a:t>
            </a:r>
            <a:endParaRPr lang="en-AU" sz="120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FB7BD58-EA49-531D-2675-1626D6CFA6A7}"/>
              </a:ext>
            </a:extLst>
          </p:cNvPr>
          <p:cNvSpPr/>
          <p:nvPr/>
        </p:nvSpPr>
        <p:spPr>
          <a:xfrm>
            <a:off x="2959135" y="5456843"/>
            <a:ext cx="2124656" cy="375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5973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200">
                <a:solidFill>
                  <a:schemeClr val="accent6">
                    <a:lumMod val="50000"/>
                  </a:schemeClr>
                </a:solidFill>
              </a:rPr>
              <a:t>No Resampling</a:t>
            </a:r>
            <a:endParaRPr lang="en-AU" sz="120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5B236F59-8F25-5A88-D983-63C9C8553C11}"/>
              </a:ext>
            </a:extLst>
          </p:cNvPr>
          <p:cNvSpPr txBox="1">
            <a:spLocks/>
          </p:cNvSpPr>
          <p:nvPr/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057153-B650-4DEB-B370-79DDCFDCE934}" type="slidenum">
              <a:rPr lang="en-US" sz="1400" smtClean="0">
                <a:solidFill>
                  <a:schemeClr val="bg1"/>
                </a:solidFill>
              </a:rPr>
              <a:pPr/>
              <a:t>17</a:t>
            </a:fld>
            <a:endParaRPr lang="en-GB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651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AB7CC-4900-8748-BAFC-D23B647D7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4CC3035-C4FF-AC7C-F1FE-DB94F5AC4670}"/>
              </a:ext>
            </a:extLst>
          </p:cNvPr>
          <p:cNvSpPr/>
          <p:nvPr/>
        </p:nvSpPr>
        <p:spPr>
          <a:xfrm>
            <a:off x="370030" y="2362300"/>
            <a:ext cx="1150196" cy="10688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E33C8B-51A3-A5A2-8A62-81962E908C1C}"/>
              </a:ext>
            </a:extLst>
          </p:cNvPr>
          <p:cNvSpPr/>
          <p:nvPr/>
        </p:nvSpPr>
        <p:spPr>
          <a:xfrm>
            <a:off x="2131145" y="2285660"/>
            <a:ext cx="1150196" cy="1068856"/>
          </a:xfrm>
          <a:prstGeom prst="rect">
            <a:avLst/>
          </a:prstGeom>
          <a:solidFill>
            <a:srgbClr val="D3DAF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AA45E9-B9AC-3FFB-9623-892A0214D105}"/>
              </a:ext>
            </a:extLst>
          </p:cNvPr>
          <p:cNvSpPr/>
          <p:nvPr/>
        </p:nvSpPr>
        <p:spPr>
          <a:xfrm>
            <a:off x="2283545" y="2438060"/>
            <a:ext cx="1150196" cy="1068856"/>
          </a:xfrm>
          <a:prstGeom prst="rect">
            <a:avLst/>
          </a:prstGeom>
          <a:solidFill>
            <a:srgbClr val="D3DAF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2CE788F-C886-31BB-1AAF-482B37A3FD08}"/>
              </a:ext>
            </a:extLst>
          </p:cNvPr>
          <p:cNvSpPr/>
          <p:nvPr/>
        </p:nvSpPr>
        <p:spPr>
          <a:xfrm>
            <a:off x="2435945" y="2590460"/>
            <a:ext cx="1150196" cy="1068856"/>
          </a:xfrm>
          <a:prstGeom prst="rect">
            <a:avLst/>
          </a:prstGeom>
          <a:solidFill>
            <a:srgbClr val="D3DAF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21420C-ED3F-2D0C-7EED-E5BF3BF4BE4C}"/>
              </a:ext>
            </a:extLst>
          </p:cNvPr>
          <p:cNvSpPr/>
          <p:nvPr/>
        </p:nvSpPr>
        <p:spPr>
          <a:xfrm>
            <a:off x="4233402" y="2535523"/>
            <a:ext cx="884406" cy="818993"/>
          </a:xfrm>
          <a:prstGeom prst="rect">
            <a:avLst/>
          </a:prstGeom>
          <a:solidFill>
            <a:srgbClr val="7C90D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39BB01-200E-200A-0CE3-5F448751C51A}"/>
              </a:ext>
            </a:extLst>
          </p:cNvPr>
          <p:cNvSpPr/>
          <p:nvPr/>
        </p:nvSpPr>
        <p:spPr>
          <a:xfrm>
            <a:off x="4385802" y="2687923"/>
            <a:ext cx="884406" cy="818993"/>
          </a:xfrm>
          <a:prstGeom prst="rect">
            <a:avLst/>
          </a:prstGeom>
          <a:solidFill>
            <a:srgbClr val="7C90D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3C85406-E07F-B259-F1CD-6F39DDCBCB43}"/>
              </a:ext>
            </a:extLst>
          </p:cNvPr>
          <p:cNvSpPr/>
          <p:nvPr/>
        </p:nvSpPr>
        <p:spPr>
          <a:xfrm>
            <a:off x="9517625" y="1554781"/>
            <a:ext cx="321752" cy="305388"/>
          </a:xfrm>
          <a:prstGeom prst="ellipse">
            <a:avLst/>
          </a:prstGeom>
          <a:gradFill flip="none" rotWithShape="1">
            <a:gsLst>
              <a:gs pos="0">
                <a:srgbClr val="002060"/>
              </a:gs>
              <a:gs pos="50000">
                <a:srgbClr val="7C90D3"/>
              </a:gs>
              <a:gs pos="100000">
                <a:srgbClr val="D3DAF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3FA69FA-D7C2-5403-5A9F-4CDBFFB98A11}"/>
              </a:ext>
            </a:extLst>
          </p:cNvPr>
          <p:cNvSpPr/>
          <p:nvPr/>
        </p:nvSpPr>
        <p:spPr>
          <a:xfrm>
            <a:off x="9517626" y="2021658"/>
            <a:ext cx="321752" cy="305388"/>
          </a:xfrm>
          <a:prstGeom prst="ellipse">
            <a:avLst/>
          </a:prstGeom>
          <a:gradFill flip="none" rotWithShape="1">
            <a:gsLst>
              <a:gs pos="0">
                <a:srgbClr val="002060"/>
              </a:gs>
              <a:gs pos="50000">
                <a:srgbClr val="7C90D3"/>
              </a:gs>
              <a:gs pos="100000">
                <a:srgbClr val="D3DAF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8432F0A-89A7-3757-5744-5F85ED843DB6}"/>
              </a:ext>
            </a:extLst>
          </p:cNvPr>
          <p:cNvSpPr/>
          <p:nvPr/>
        </p:nvSpPr>
        <p:spPr>
          <a:xfrm>
            <a:off x="9517626" y="2469025"/>
            <a:ext cx="321752" cy="305388"/>
          </a:xfrm>
          <a:prstGeom prst="ellipse">
            <a:avLst/>
          </a:prstGeom>
          <a:gradFill flip="none" rotWithShape="1">
            <a:gsLst>
              <a:gs pos="0">
                <a:srgbClr val="002060"/>
              </a:gs>
              <a:gs pos="50000">
                <a:srgbClr val="7C90D3"/>
              </a:gs>
              <a:gs pos="100000">
                <a:srgbClr val="D3DAF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D951E6E-3DC2-B018-1AFA-99DB5D0E2902}"/>
              </a:ext>
            </a:extLst>
          </p:cNvPr>
          <p:cNvSpPr/>
          <p:nvPr/>
        </p:nvSpPr>
        <p:spPr>
          <a:xfrm>
            <a:off x="9517625" y="2896728"/>
            <a:ext cx="321752" cy="305388"/>
          </a:xfrm>
          <a:prstGeom prst="ellipse">
            <a:avLst/>
          </a:prstGeom>
          <a:gradFill flip="none" rotWithShape="1">
            <a:gsLst>
              <a:gs pos="0">
                <a:srgbClr val="002060"/>
              </a:gs>
              <a:gs pos="50000">
                <a:srgbClr val="7C90D3"/>
              </a:gs>
              <a:gs pos="100000">
                <a:srgbClr val="D3DAF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21374C0-E803-3653-BB46-1B4913FC86A2}"/>
              </a:ext>
            </a:extLst>
          </p:cNvPr>
          <p:cNvSpPr/>
          <p:nvPr/>
        </p:nvSpPr>
        <p:spPr>
          <a:xfrm>
            <a:off x="9517627" y="3354238"/>
            <a:ext cx="321752" cy="305388"/>
          </a:xfrm>
          <a:prstGeom prst="ellipse">
            <a:avLst/>
          </a:prstGeom>
          <a:gradFill flip="none" rotWithShape="1">
            <a:gsLst>
              <a:gs pos="0">
                <a:srgbClr val="002060"/>
              </a:gs>
              <a:gs pos="50000">
                <a:srgbClr val="7C90D3"/>
              </a:gs>
              <a:gs pos="100000">
                <a:srgbClr val="D3DAF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1C66176-FE82-FD7E-7121-BD38C119B47D}"/>
              </a:ext>
            </a:extLst>
          </p:cNvPr>
          <p:cNvSpPr/>
          <p:nvPr/>
        </p:nvSpPr>
        <p:spPr>
          <a:xfrm>
            <a:off x="9517623" y="4735363"/>
            <a:ext cx="321752" cy="305388"/>
          </a:xfrm>
          <a:prstGeom prst="ellipse">
            <a:avLst/>
          </a:prstGeom>
          <a:gradFill flip="none" rotWithShape="1">
            <a:gsLst>
              <a:gs pos="0">
                <a:srgbClr val="002060"/>
              </a:gs>
              <a:gs pos="50000">
                <a:srgbClr val="7C90D3"/>
              </a:gs>
              <a:gs pos="100000">
                <a:srgbClr val="D3DAF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47DCD60-FBD3-5B7C-E6A2-9559BF5DE229}"/>
              </a:ext>
            </a:extLst>
          </p:cNvPr>
          <p:cNvSpPr/>
          <p:nvPr/>
        </p:nvSpPr>
        <p:spPr>
          <a:xfrm>
            <a:off x="9517623" y="4307660"/>
            <a:ext cx="321752" cy="305388"/>
          </a:xfrm>
          <a:prstGeom prst="ellipse">
            <a:avLst/>
          </a:prstGeom>
          <a:gradFill flip="none" rotWithShape="1">
            <a:gsLst>
              <a:gs pos="0">
                <a:srgbClr val="002060"/>
              </a:gs>
              <a:gs pos="50000">
                <a:srgbClr val="7C90D3"/>
              </a:gs>
              <a:gs pos="100000">
                <a:srgbClr val="D3DAF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F52E1CD-9408-869A-DC00-9CEADA25B53C}"/>
              </a:ext>
            </a:extLst>
          </p:cNvPr>
          <p:cNvSpPr/>
          <p:nvPr/>
        </p:nvSpPr>
        <p:spPr>
          <a:xfrm>
            <a:off x="9517624" y="3830949"/>
            <a:ext cx="321752" cy="305388"/>
          </a:xfrm>
          <a:prstGeom prst="ellipse">
            <a:avLst/>
          </a:prstGeom>
          <a:gradFill flip="none" rotWithShape="1">
            <a:gsLst>
              <a:gs pos="0">
                <a:srgbClr val="002060"/>
              </a:gs>
              <a:gs pos="50000">
                <a:srgbClr val="7C90D3"/>
              </a:gs>
              <a:gs pos="100000">
                <a:srgbClr val="D3DAF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53" name="Picture 52" descr="A close up of a blob&#10;&#10;AI-generated content may be incorrect.">
            <a:extLst>
              <a:ext uri="{FF2B5EF4-FFF2-40B4-BE49-F238E27FC236}">
                <a16:creationId xmlns:a16="http://schemas.microsoft.com/office/drawing/2014/main" id="{43515AF8-DE8E-F9BF-D4EE-52686BB8B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823" y="1658734"/>
            <a:ext cx="1236297" cy="13996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4" name="Picture 53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2360BC6A-FA36-E910-3E78-48E887E2B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8744" y="3682947"/>
            <a:ext cx="1217234" cy="13981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963224F5-5F11-1C19-4C64-BCC50160F5BC}"/>
              </a:ext>
            </a:extLst>
          </p:cNvPr>
          <p:cNvSpPr/>
          <p:nvPr/>
        </p:nvSpPr>
        <p:spPr>
          <a:xfrm>
            <a:off x="370029" y="2362300"/>
            <a:ext cx="342240" cy="306607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B7C1A69-7CCE-D212-F9B5-F3B7355DAC05}"/>
              </a:ext>
            </a:extLst>
          </p:cNvPr>
          <p:cNvSpPr/>
          <p:nvPr/>
        </p:nvSpPr>
        <p:spPr>
          <a:xfrm>
            <a:off x="2435945" y="2591663"/>
            <a:ext cx="256379" cy="226119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3AE77CF-9779-F4E8-9DF4-6B4560C57BAB}"/>
              </a:ext>
            </a:extLst>
          </p:cNvPr>
          <p:cNvSpPr/>
          <p:nvPr/>
        </p:nvSpPr>
        <p:spPr>
          <a:xfrm>
            <a:off x="4384400" y="2687923"/>
            <a:ext cx="165197" cy="163167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73FC887D-D4F8-5FCF-990E-61B1F32867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082757"/>
              </p:ext>
            </p:extLst>
          </p:nvPr>
        </p:nvGraphicFramePr>
        <p:xfrm>
          <a:off x="5700576" y="2413849"/>
          <a:ext cx="1583874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958">
                  <a:extLst>
                    <a:ext uri="{9D8B030D-6E8A-4147-A177-3AD203B41FA5}">
                      <a16:colId xmlns:a16="http://schemas.microsoft.com/office/drawing/2014/main" val="2170701385"/>
                    </a:ext>
                  </a:extLst>
                </a:gridCol>
                <a:gridCol w="527958">
                  <a:extLst>
                    <a:ext uri="{9D8B030D-6E8A-4147-A177-3AD203B41FA5}">
                      <a16:colId xmlns:a16="http://schemas.microsoft.com/office/drawing/2014/main" val="449854877"/>
                    </a:ext>
                  </a:extLst>
                </a:gridCol>
                <a:gridCol w="527958">
                  <a:extLst>
                    <a:ext uri="{9D8B030D-6E8A-4147-A177-3AD203B41FA5}">
                      <a16:colId xmlns:a16="http://schemas.microsoft.com/office/drawing/2014/main" val="764471512"/>
                    </a:ext>
                  </a:extLst>
                </a:gridCol>
              </a:tblGrid>
              <a:tr h="344255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350215"/>
                  </a:ext>
                </a:extLst>
              </a:tr>
              <a:tr h="344255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340446"/>
                  </a:ext>
                </a:extLst>
              </a:tr>
              <a:tr h="344255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038328"/>
                  </a:ext>
                </a:extLst>
              </a:tr>
            </a:tbl>
          </a:graphicData>
        </a:graphic>
      </p:graphicFrame>
      <p:pic>
        <p:nvPicPr>
          <p:cNvPr id="2052" name="Picture 4" descr="4: The ReLU activation function. | Download Scientific Diagram">
            <a:extLst>
              <a:ext uri="{FF2B5EF4-FFF2-40B4-BE49-F238E27FC236}">
                <a16:creationId xmlns:a16="http://schemas.microsoft.com/office/drawing/2014/main" id="{4B02D225-A78C-563D-B5CD-F04968472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9443" y="2174352"/>
            <a:ext cx="1582853" cy="1399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C93CD76-10A6-E3EE-57D4-3B399368C944}"/>
              </a:ext>
            </a:extLst>
          </p:cNvPr>
          <p:cNvCxnSpPr>
            <a:cxnSpLocks/>
          </p:cNvCxnSpPr>
          <p:nvPr/>
        </p:nvCxnSpPr>
        <p:spPr>
          <a:xfrm>
            <a:off x="386736" y="2362160"/>
            <a:ext cx="2049209" cy="2283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8" name="Straight Connector 2047">
            <a:extLst>
              <a:ext uri="{FF2B5EF4-FFF2-40B4-BE49-F238E27FC236}">
                <a16:creationId xmlns:a16="http://schemas.microsoft.com/office/drawing/2014/main" id="{5750B969-5EBF-8C6E-FCD9-C43FFD87C339}"/>
              </a:ext>
            </a:extLst>
          </p:cNvPr>
          <p:cNvCxnSpPr>
            <a:cxnSpLocks/>
          </p:cNvCxnSpPr>
          <p:nvPr/>
        </p:nvCxnSpPr>
        <p:spPr>
          <a:xfrm>
            <a:off x="386736" y="2670110"/>
            <a:ext cx="2040693" cy="1476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6" name="Straight Connector 2055">
            <a:extLst>
              <a:ext uri="{FF2B5EF4-FFF2-40B4-BE49-F238E27FC236}">
                <a16:creationId xmlns:a16="http://schemas.microsoft.com/office/drawing/2014/main" id="{D1A5D8E3-230D-644D-91E6-ACD8A7C3CC6F}"/>
              </a:ext>
            </a:extLst>
          </p:cNvPr>
          <p:cNvCxnSpPr>
            <a:cxnSpLocks/>
            <a:endCxn id="56" idx="0"/>
          </p:cNvCxnSpPr>
          <p:nvPr/>
        </p:nvCxnSpPr>
        <p:spPr>
          <a:xfrm>
            <a:off x="699650" y="2368151"/>
            <a:ext cx="1864485" cy="2235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9" name="Straight Connector 2058">
            <a:extLst>
              <a:ext uri="{FF2B5EF4-FFF2-40B4-BE49-F238E27FC236}">
                <a16:creationId xmlns:a16="http://schemas.microsoft.com/office/drawing/2014/main" id="{4D8E8D11-F5C6-26F6-D1E3-B83981243156}"/>
              </a:ext>
            </a:extLst>
          </p:cNvPr>
          <p:cNvCxnSpPr>
            <a:cxnSpLocks/>
            <a:endCxn id="56" idx="2"/>
          </p:cNvCxnSpPr>
          <p:nvPr/>
        </p:nvCxnSpPr>
        <p:spPr>
          <a:xfrm>
            <a:off x="720785" y="2666660"/>
            <a:ext cx="1843350" cy="1511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705E7EB4-C654-852E-2BA4-6DC365DA5AF5}"/>
              </a:ext>
            </a:extLst>
          </p:cNvPr>
          <p:cNvSpPr/>
          <p:nvPr/>
        </p:nvSpPr>
        <p:spPr>
          <a:xfrm>
            <a:off x="3328360" y="2591663"/>
            <a:ext cx="256379" cy="226119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cxnSp>
        <p:nvCxnSpPr>
          <p:cNvPr id="2061" name="Straight Connector 2060">
            <a:extLst>
              <a:ext uri="{FF2B5EF4-FFF2-40B4-BE49-F238E27FC236}">
                <a16:creationId xmlns:a16="http://schemas.microsoft.com/office/drawing/2014/main" id="{6D1AC676-C501-681D-D09C-29C8745A372E}"/>
              </a:ext>
            </a:extLst>
          </p:cNvPr>
          <p:cNvCxnSpPr>
            <a:cxnSpLocks/>
          </p:cNvCxnSpPr>
          <p:nvPr/>
        </p:nvCxnSpPr>
        <p:spPr>
          <a:xfrm>
            <a:off x="3325927" y="2605948"/>
            <a:ext cx="1058473" cy="819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7" name="Straight Connector 2066">
            <a:extLst>
              <a:ext uri="{FF2B5EF4-FFF2-40B4-BE49-F238E27FC236}">
                <a16:creationId xmlns:a16="http://schemas.microsoft.com/office/drawing/2014/main" id="{F04E6F31-E13B-F658-D83C-92A39929C1B9}"/>
              </a:ext>
            </a:extLst>
          </p:cNvPr>
          <p:cNvCxnSpPr>
            <a:cxnSpLocks/>
          </p:cNvCxnSpPr>
          <p:nvPr/>
        </p:nvCxnSpPr>
        <p:spPr>
          <a:xfrm>
            <a:off x="3321939" y="2817390"/>
            <a:ext cx="1062461" cy="409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0" name="Straight Connector 2069">
            <a:extLst>
              <a:ext uri="{FF2B5EF4-FFF2-40B4-BE49-F238E27FC236}">
                <a16:creationId xmlns:a16="http://schemas.microsoft.com/office/drawing/2014/main" id="{340DDDC7-0D66-4B1A-AC84-E0EE9F51F63E}"/>
              </a:ext>
            </a:extLst>
          </p:cNvPr>
          <p:cNvCxnSpPr>
            <a:cxnSpLocks/>
            <a:endCxn id="57" idx="0"/>
          </p:cNvCxnSpPr>
          <p:nvPr/>
        </p:nvCxnSpPr>
        <p:spPr>
          <a:xfrm>
            <a:off x="3584739" y="2591229"/>
            <a:ext cx="882260" cy="966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2" name="Straight Connector 2071">
            <a:extLst>
              <a:ext uri="{FF2B5EF4-FFF2-40B4-BE49-F238E27FC236}">
                <a16:creationId xmlns:a16="http://schemas.microsoft.com/office/drawing/2014/main" id="{BE61E410-D79D-E6B6-3BAB-BF0143C6192F}"/>
              </a:ext>
            </a:extLst>
          </p:cNvPr>
          <p:cNvCxnSpPr>
            <a:cxnSpLocks/>
          </p:cNvCxnSpPr>
          <p:nvPr/>
        </p:nvCxnSpPr>
        <p:spPr>
          <a:xfrm>
            <a:off x="3591160" y="2817390"/>
            <a:ext cx="950704" cy="409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CDD9DA4D-451A-0CB8-D4F5-8D786322A3CB}"/>
              </a:ext>
            </a:extLst>
          </p:cNvPr>
          <p:cNvSpPr/>
          <p:nvPr/>
        </p:nvSpPr>
        <p:spPr>
          <a:xfrm>
            <a:off x="343559" y="3981897"/>
            <a:ext cx="116089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cap="none" spc="0">
                <a:ln/>
                <a:solidFill>
                  <a:schemeClr val="tx2"/>
                </a:solidFill>
                <a:effectLst/>
                <a:latin typeface="Bahnschrift" panose="020B0502040204020203" pitchFamily="34" charset="0"/>
                <a:cs typeface="Arial" panose="020B0604020202020204" pitchFamily="34" charset="0"/>
              </a:rPr>
              <a:t>Input layer</a:t>
            </a:r>
          </a:p>
        </p:txBody>
      </p:sp>
      <p:sp>
        <p:nvSpPr>
          <p:cNvPr id="2077" name="Rectangle 2076">
            <a:extLst>
              <a:ext uri="{FF2B5EF4-FFF2-40B4-BE49-F238E27FC236}">
                <a16:creationId xmlns:a16="http://schemas.microsoft.com/office/drawing/2014/main" id="{6B0F1D38-2F94-FF33-FFFC-E201A2A4171B}"/>
              </a:ext>
            </a:extLst>
          </p:cNvPr>
          <p:cNvSpPr/>
          <p:nvPr/>
        </p:nvSpPr>
        <p:spPr>
          <a:xfrm>
            <a:off x="1895747" y="3970322"/>
            <a:ext cx="21123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cap="none" spc="0">
                <a:ln/>
                <a:solidFill>
                  <a:schemeClr val="tx2"/>
                </a:solidFill>
                <a:effectLst/>
                <a:latin typeface="Bahnschrift" panose="020B0502040204020203" pitchFamily="34" charset="0"/>
                <a:cs typeface="Arial" panose="020B0604020202020204" pitchFamily="34" charset="0"/>
              </a:rPr>
              <a:t>Convolutional (filter) layer</a:t>
            </a:r>
          </a:p>
        </p:txBody>
      </p:sp>
      <p:sp>
        <p:nvSpPr>
          <p:cNvPr id="2080" name="Rectangle 2079">
            <a:extLst>
              <a:ext uri="{FF2B5EF4-FFF2-40B4-BE49-F238E27FC236}">
                <a16:creationId xmlns:a16="http://schemas.microsoft.com/office/drawing/2014/main" id="{AF4453D2-9506-C721-F571-D3A74826D603}"/>
              </a:ext>
            </a:extLst>
          </p:cNvPr>
          <p:cNvSpPr/>
          <p:nvPr/>
        </p:nvSpPr>
        <p:spPr>
          <a:xfrm>
            <a:off x="4273293" y="3924155"/>
            <a:ext cx="101662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cap="none" spc="0">
                <a:ln/>
                <a:solidFill>
                  <a:schemeClr val="tx2"/>
                </a:solidFill>
                <a:effectLst/>
                <a:latin typeface="Bahnschrift" panose="020B0502040204020203" pitchFamily="34" charset="0"/>
                <a:cs typeface="Arial" panose="020B0604020202020204" pitchFamily="34" charset="0"/>
              </a:rPr>
              <a:t>Max Pool</a:t>
            </a:r>
          </a:p>
        </p:txBody>
      </p:sp>
      <p:sp>
        <p:nvSpPr>
          <p:cNvPr id="2081" name="Rectangle 2080">
            <a:extLst>
              <a:ext uri="{FF2B5EF4-FFF2-40B4-BE49-F238E27FC236}">
                <a16:creationId xmlns:a16="http://schemas.microsoft.com/office/drawing/2014/main" id="{2DCDBF85-3B29-11F1-53CA-11341B78D6F0}"/>
              </a:ext>
            </a:extLst>
          </p:cNvPr>
          <p:cNvSpPr/>
          <p:nvPr/>
        </p:nvSpPr>
        <p:spPr>
          <a:xfrm>
            <a:off x="5848747" y="3967060"/>
            <a:ext cx="1287532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cap="none" spc="0">
                <a:ln/>
                <a:solidFill>
                  <a:schemeClr val="tx2"/>
                </a:solidFill>
                <a:effectLst/>
                <a:latin typeface="Bahnschrift" panose="020B0502040204020203" pitchFamily="34" charset="0"/>
                <a:cs typeface="Arial" panose="020B0604020202020204" pitchFamily="34" charset="0"/>
              </a:rPr>
              <a:t>Batch Norm</a:t>
            </a:r>
          </a:p>
        </p:txBody>
      </p:sp>
      <p:sp>
        <p:nvSpPr>
          <p:cNvPr id="2082" name="Rectangle 2081">
            <a:extLst>
              <a:ext uri="{FF2B5EF4-FFF2-40B4-BE49-F238E27FC236}">
                <a16:creationId xmlns:a16="http://schemas.microsoft.com/office/drawing/2014/main" id="{E8C38DE7-25B3-1025-C22D-53828DF19457}"/>
              </a:ext>
            </a:extLst>
          </p:cNvPr>
          <p:cNvSpPr/>
          <p:nvPr/>
        </p:nvSpPr>
        <p:spPr>
          <a:xfrm>
            <a:off x="7703044" y="3830949"/>
            <a:ext cx="1531188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err="1">
                <a:ln/>
                <a:solidFill>
                  <a:schemeClr val="tx2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ReLu</a:t>
            </a:r>
            <a:r>
              <a:rPr lang="en-US" sz="1600" b="1">
                <a:ln/>
                <a:solidFill>
                  <a:schemeClr val="tx2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Activation Function</a:t>
            </a:r>
            <a:endParaRPr lang="en-US" sz="1600" b="1" cap="none" spc="0">
              <a:ln/>
              <a:solidFill>
                <a:schemeClr val="tx2"/>
              </a:solidFill>
              <a:effectLst/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2083" name="Rectangle 2082">
            <a:extLst>
              <a:ext uri="{FF2B5EF4-FFF2-40B4-BE49-F238E27FC236}">
                <a16:creationId xmlns:a16="http://schemas.microsoft.com/office/drawing/2014/main" id="{D2B3E288-3E74-E522-161D-ABEF5252E05F}"/>
              </a:ext>
            </a:extLst>
          </p:cNvPr>
          <p:cNvSpPr/>
          <p:nvPr/>
        </p:nvSpPr>
        <p:spPr>
          <a:xfrm>
            <a:off x="8863962" y="5146589"/>
            <a:ext cx="1531188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>
                <a:ln/>
                <a:solidFill>
                  <a:schemeClr val="tx2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Fully connected layers (neurons)</a:t>
            </a:r>
            <a:endParaRPr lang="en-US" sz="1600" b="1" cap="none" spc="0">
              <a:ln/>
              <a:solidFill>
                <a:schemeClr val="tx2"/>
              </a:solidFill>
              <a:effectLst/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2085" name="Rectangle 2084">
            <a:extLst>
              <a:ext uri="{FF2B5EF4-FFF2-40B4-BE49-F238E27FC236}">
                <a16:creationId xmlns:a16="http://schemas.microsoft.com/office/drawing/2014/main" id="{C7C99B2E-B9E7-1652-665E-D9EE9711E50E}"/>
              </a:ext>
            </a:extLst>
          </p:cNvPr>
          <p:cNvSpPr/>
          <p:nvPr/>
        </p:nvSpPr>
        <p:spPr>
          <a:xfrm>
            <a:off x="10381767" y="5204690"/>
            <a:ext cx="1531188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>
                <a:ln/>
                <a:solidFill>
                  <a:schemeClr val="tx2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Output</a:t>
            </a:r>
            <a:endParaRPr lang="en-US" sz="1600" b="1" cap="none" spc="0">
              <a:ln/>
              <a:solidFill>
                <a:schemeClr val="tx2"/>
              </a:solidFill>
              <a:effectLst/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2088" name="Arrow: Right 2087">
            <a:extLst>
              <a:ext uri="{FF2B5EF4-FFF2-40B4-BE49-F238E27FC236}">
                <a16:creationId xmlns:a16="http://schemas.microsoft.com/office/drawing/2014/main" id="{F133A702-84CF-A012-3A45-FB1E91F02388}"/>
              </a:ext>
            </a:extLst>
          </p:cNvPr>
          <p:cNvSpPr/>
          <p:nvPr/>
        </p:nvSpPr>
        <p:spPr>
          <a:xfrm>
            <a:off x="1645920" y="3058386"/>
            <a:ext cx="359657" cy="1511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2089" name="Arrow: Right 2088">
            <a:extLst>
              <a:ext uri="{FF2B5EF4-FFF2-40B4-BE49-F238E27FC236}">
                <a16:creationId xmlns:a16="http://schemas.microsoft.com/office/drawing/2014/main" id="{5F55D41C-E0B2-A50B-66F3-3547C9BEADFD}"/>
              </a:ext>
            </a:extLst>
          </p:cNvPr>
          <p:cNvSpPr/>
          <p:nvPr/>
        </p:nvSpPr>
        <p:spPr>
          <a:xfrm>
            <a:off x="3759632" y="3077976"/>
            <a:ext cx="359657" cy="1511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2090" name="Arrow: Right 2089">
            <a:extLst>
              <a:ext uri="{FF2B5EF4-FFF2-40B4-BE49-F238E27FC236}">
                <a16:creationId xmlns:a16="http://schemas.microsoft.com/office/drawing/2014/main" id="{EDCB2108-F0CE-454B-3CA3-5525A86B30A7}"/>
              </a:ext>
            </a:extLst>
          </p:cNvPr>
          <p:cNvSpPr/>
          <p:nvPr/>
        </p:nvSpPr>
        <p:spPr>
          <a:xfrm>
            <a:off x="5321008" y="3097419"/>
            <a:ext cx="359657" cy="1511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2091" name="Arrow: Right 2090">
            <a:extLst>
              <a:ext uri="{FF2B5EF4-FFF2-40B4-BE49-F238E27FC236}">
                <a16:creationId xmlns:a16="http://schemas.microsoft.com/office/drawing/2014/main" id="{58756FC1-CE62-3D81-DA0A-B2784DC73748}"/>
              </a:ext>
            </a:extLst>
          </p:cNvPr>
          <p:cNvSpPr/>
          <p:nvPr/>
        </p:nvSpPr>
        <p:spPr>
          <a:xfrm>
            <a:off x="7355476" y="3058386"/>
            <a:ext cx="359657" cy="1511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2092" name="Arrow: Right 2091">
            <a:extLst>
              <a:ext uri="{FF2B5EF4-FFF2-40B4-BE49-F238E27FC236}">
                <a16:creationId xmlns:a16="http://schemas.microsoft.com/office/drawing/2014/main" id="{21A6AAEC-200A-6482-7456-4DF8C70278A3}"/>
              </a:ext>
            </a:extLst>
          </p:cNvPr>
          <p:cNvSpPr/>
          <p:nvPr/>
        </p:nvSpPr>
        <p:spPr>
          <a:xfrm>
            <a:off x="8658350" y="3213539"/>
            <a:ext cx="359657" cy="1511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2094" name="Arrow: Right 2093">
            <a:extLst>
              <a:ext uri="{FF2B5EF4-FFF2-40B4-BE49-F238E27FC236}">
                <a16:creationId xmlns:a16="http://schemas.microsoft.com/office/drawing/2014/main" id="{29379A86-1CA5-60FF-3848-0943A4E327BF}"/>
              </a:ext>
            </a:extLst>
          </p:cNvPr>
          <p:cNvSpPr/>
          <p:nvPr/>
        </p:nvSpPr>
        <p:spPr>
          <a:xfrm>
            <a:off x="10060855" y="3291716"/>
            <a:ext cx="359657" cy="1511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2095" name="Rectangle 2094">
            <a:extLst>
              <a:ext uri="{FF2B5EF4-FFF2-40B4-BE49-F238E27FC236}">
                <a16:creationId xmlns:a16="http://schemas.microsoft.com/office/drawing/2014/main" id="{939143CA-5C21-8AFB-5297-633453F7B888}"/>
              </a:ext>
            </a:extLst>
          </p:cNvPr>
          <p:cNvSpPr/>
          <p:nvPr/>
        </p:nvSpPr>
        <p:spPr>
          <a:xfrm>
            <a:off x="8167105" y="1193874"/>
            <a:ext cx="117051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000" b="1" cap="none" spc="0">
                <a:ln/>
                <a:solidFill>
                  <a:srgbClr val="7C90D3"/>
                </a:solidFill>
                <a:effectLst/>
                <a:latin typeface="Bahnschrift" panose="020B0502040204020203" pitchFamily="34" charset="0"/>
                <a:cs typeface="Arial" panose="020B0604020202020204" pitchFamily="34" charset="0"/>
              </a:rPr>
              <a:t>Drop out</a:t>
            </a:r>
          </a:p>
        </p:txBody>
      </p:sp>
      <p:sp>
        <p:nvSpPr>
          <p:cNvPr id="2096" name="Right Brace 2095">
            <a:extLst>
              <a:ext uri="{FF2B5EF4-FFF2-40B4-BE49-F238E27FC236}">
                <a16:creationId xmlns:a16="http://schemas.microsoft.com/office/drawing/2014/main" id="{27FA83FB-240B-472C-927B-CA57B573D80E}"/>
              </a:ext>
            </a:extLst>
          </p:cNvPr>
          <p:cNvSpPr/>
          <p:nvPr/>
        </p:nvSpPr>
        <p:spPr>
          <a:xfrm rot="5400000">
            <a:off x="3374336" y="1451104"/>
            <a:ext cx="586846" cy="6659622"/>
          </a:xfrm>
          <a:prstGeom prst="rightBrace">
            <a:avLst/>
          </a:prstGeom>
          <a:ln w="38100">
            <a:solidFill>
              <a:srgbClr val="7C90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2097" name="Rectangle: Rounded Corners 2096">
            <a:extLst>
              <a:ext uri="{FF2B5EF4-FFF2-40B4-BE49-F238E27FC236}">
                <a16:creationId xmlns:a16="http://schemas.microsoft.com/office/drawing/2014/main" id="{2CA26D2F-1231-22E7-7BC1-997B09D6D26B}"/>
              </a:ext>
            </a:extLst>
          </p:cNvPr>
          <p:cNvSpPr/>
          <p:nvPr/>
        </p:nvSpPr>
        <p:spPr>
          <a:xfrm>
            <a:off x="1790691" y="5146589"/>
            <a:ext cx="3797339" cy="578882"/>
          </a:xfrm>
          <a:prstGeom prst="round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>
                <a:ln w="0"/>
                <a:solidFill>
                  <a:schemeClr val="tx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Train</a:t>
            </a:r>
            <a:r>
              <a:rPr lang="en-US" altLang="zh-CN" sz="2800" b="0" cap="none" spc="0">
                <a:ln w="0"/>
                <a:solidFill>
                  <a:schemeClr val="tx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ed</a:t>
            </a:r>
            <a:r>
              <a:rPr lang="en-US" sz="2800" b="0" cap="none" spc="0">
                <a:ln w="0"/>
                <a:solidFill>
                  <a:schemeClr val="tx1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 multiple times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AE559B-6A46-8223-A3E8-BB8A61C479EE}"/>
              </a:ext>
            </a:extLst>
          </p:cNvPr>
          <p:cNvSpPr/>
          <p:nvPr/>
        </p:nvSpPr>
        <p:spPr>
          <a:xfrm>
            <a:off x="-1" y="6439615"/>
            <a:ext cx="12192001" cy="418385"/>
          </a:xfrm>
          <a:prstGeom prst="rect">
            <a:avLst/>
          </a:prstGeom>
          <a:solidFill>
            <a:srgbClr val="7C90D3"/>
          </a:solidFill>
          <a:ln>
            <a:solidFill>
              <a:srgbClr val="85A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6B845E-54AB-8B7D-2731-76F615FEDB0C}"/>
              </a:ext>
            </a:extLst>
          </p:cNvPr>
          <p:cNvSpPr txBox="1">
            <a:spLocks/>
          </p:cNvSpPr>
          <p:nvPr/>
        </p:nvSpPr>
        <p:spPr>
          <a:xfrm>
            <a:off x="11632162" y="6462099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057153-B650-4DEB-B370-79DDCFDCE934}" type="slidenum">
              <a:rPr lang="en-US" sz="1400" smtClean="0">
                <a:solidFill>
                  <a:schemeClr val="bg1"/>
                </a:solidFill>
              </a:rPr>
              <a:pPr/>
              <a:t>18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2E0EB4-5C35-61EE-E2A1-34EFC64D54E8}"/>
              </a:ext>
            </a:extLst>
          </p:cNvPr>
          <p:cNvSpPr txBox="1"/>
          <p:nvPr/>
        </p:nvSpPr>
        <p:spPr>
          <a:xfrm>
            <a:off x="471949" y="393291"/>
            <a:ext cx="3166251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AU" sz="3200" b="1">
                <a:solidFill>
                  <a:srgbClr val="5654A6"/>
                </a:solidFill>
                <a:latin typeface="Arial"/>
                <a:cs typeface="Times New Roman"/>
              </a:rPr>
              <a:t>Baseline Model</a:t>
            </a:r>
          </a:p>
        </p:txBody>
      </p:sp>
    </p:spTree>
    <p:extLst>
      <p:ext uri="{BB962C8B-B14F-4D97-AF65-F5344CB8AC3E}">
        <p14:creationId xmlns:p14="http://schemas.microsoft.com/office/powerpoint/2010/main" val="12832945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2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2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2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2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2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2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22" grpId="0" animBg="1"/>
      <p:bldP spid="23" grpId="0" animBg="1"/>
      <p:bldP spid="24" grpId="0" animBg="1"/>
      <p:bldP spid="26" grpId="0" animBg="1"/>
      <p:bldP spid="32" grpId="0" animBg="1"/>
      <p:bldP spid="32" grpId="1" animBg="1"/>
      <p:bldP spid="44" grpId="0" animBg="1"/>
      <p:bldP spid="45" grpId="0" animBg="1"/>
      <p:bldP spid="45" grpId="1" animBg="1"/>
      <p:bldP spid="46" grpId="0" animBg="1"/>
      <p:bldP spid="47" grpId="0" animBg="1"/>
      <p:bldP spid="47" grpId="1" animBg="1"/>
      <p:bldP spid="50" grpId="0" animBg="1"/>
      <p:bldP spid="51" grpId="0" animBg="1"/>
      <p:bldP spid="51" grpId="1" animBg="1"/>
      <p:bldP spid="52" grpId="0" animBg="1"/>
      <p:bldP spid="55" grpId="0" animBg="1"/>
      <p:bldP spid="56" grpId="0" animBg="1"/>
      <p:bldP spid="57" grpId="0" animBg="1"/>
      <p:bldP spid="2063" grpId="0" animBg="1"/>
      <p:bldP spid="2076" grpId="0"/>
      <p:bldP spid="2077" grpId="0"/>
      <p:bldP spid="2080" grpId="0"/>
      <p:bldP spid="2081" grpId="0"/>
      <p:bldP spid="2082" grpId="0"/>
      <p:bldP spid="2083" grpId="0"/>
      <p:bldP spid="2085" grpId="0"/>
      <p:bldP spid="2088" grpId="0" animBg="1"/>
      <p:bldP spid="2089" grpId="0" animBg="1"/>
      <p:bldP spid="2090" grpId="0" animBg="1"/>
      <p:bldP spid="2091" grpId="0" animBg="1"/>
      <p:bldP spid="2092" grpId="0" animBg="1"/>
      <p:bldP spid="2094" grpId="0" animBg="1"/>
      <p:bldP spid="2095" grpId="0"/>
      <p:bldP spid="2096" grpId="0" animBg="1"/>
      <p:bldP spid="209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C8907-DE71-9335-EC1A-9A3C342A7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20F447-1585-187F-A501-5ACF02225CBF}"/>
              </a:ext>
            </a:extLst>
          </p:cNvPr>
          <p:cNvSpPr/>
          <p:nvPr/>
        </p:nvSpPr>
        <p:spPr>
          <a:xfrm>
            <a:off x="-2" y="1908595"/>
            <a:ext cx="12192000" cy="2600506"/>
          </a:xfrm>
          <a:prstGeom prst="rect">
            <a:avLst/>
          </a:prstGeom>
          <a:solidFill>
            <a:srgbClr val="F6F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BD4A77-AFF2-CA69-1749-35B6533D8279}"/>
              </a:ext>
            </a:extLst>
          </p:cNvPr>
          <p:cNvSpPr/>
          <p:nvPr/>
        </p:nvSpPr>
        <p:spPr>
          <a:xfrm>
            <a:off x="-1" y="6439615"/>
            <a:ext cx="12192001" cy="418385"/>
          </a:xfrm>
          <a:prstGeom prst="rect">
            <a:avLst/>
          </a:prstGeom>
          <a:solidFill>
            <a:srgbClr val="7C90D3"/>
          </a:solidFill>
          <a:ln>
            <a:solidFill>
              <a:srgbClr val="85A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MY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7AA487-EC34-6570-E27B-77859026D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276" y="1272394"/>
            <a:ext cx="4065847" cy="2833526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41150E-28C1-EEC8-B39B-3F26913E7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004" y="1272394"/>
            <a:ext cx="4065847" cy="2833526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1AC0302-F62A-93D7-3975-4C0D9DDCD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dirty="0">
                <a:solidFill>
                  <a:schemeClr val="bg1"/>
                </a:solidFill>
              </a:rPr>
              <a:t>19</a:t>
            </a:fld>
            <a:endParaRPr lang="en-GB" sz="140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A1BB52-F1C1-A548-56C1-7CCD0A7319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822464"/>
              </p:ext>
            </p:extLst>
          </p:nvPr>
        </p:nvGraphicFramePr>
        <p:xfrm>
          <a:off x="609724" y="5036448"/>
          <a:ext cx="10972549" cy="11758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85947">
                  <a:extLst>
                    <a:ext uri="{9D8B030D-6E8A-4147-A177-3AD203B41FA5}">
                      <a16:colId xmlns:a16="http://schemas.microsoft.com/office/drawing/2014/main" val="1347840180"/>
                    </a:ext>
                  </a:extLst>
                </a:gridCol>
                <a:gridCol w="1157191">
                  <a:extLst>
                    <a:ext uri="{9D8B030D-6E8A-4147-A177-3AD203B41FA5}">
                      <a16:colId xmlns:a16="http://schemas.microsoft.com/office/drawing/2014/main" val="1064028955"/>
                    </a:ext>
                  </a:extLst>
                </a:gridCol>
                <a:gridCol w="1371569">
                  <a:extLst>
                    <a:ext uri="{9D8B030D-6E8A-4147-A177-3AD203B41FA5}">
                      <a16:colId xmlns:a16="http://schemas.microsoft.com/office/drawing/2014/main" val="2202609632"/>
                    </a:ext>
                  </a:extLst>
                </a:gridCol>
                <a:gridCol w="1371569">
                  <a:extLst>
                    <a:ext uri="{9D8B030D-6E8A-4147-A177-3AD203B41FA5}">
                      <a16:colId xmlns:a16="http://schemas.microsoft.com/office/drawing/2014/main" val="2589298277"/>
                    </a:ext>
                  </a:extLst>
                </a:gridCol>
                <a:gridCol w="1371569">
                  <a:extLst>
                    <a:ext uri="{9D8B030D-6E8A-4147-A177-3AD203B41FA5}">
                      <a16:colId xmlns:a16="http://schemas.microsoft.com/office/drawing/2014/main" val="208290538"/>
                    </a:ext>
                  </a:extLst>
                </a:gridCol>
                <a:gridCol w="1092091">
                  <a:extLst>
                    <a:ext uri="{9D8B030D-6E8A-4147-A177-3AD203B41FA5}">
                      <a16:colId xmlns:a16="http://schemas.microsoft.com/office/drawing/2014/main" val="2477730584"/>
                    </a:ext>
                  </a:extLst>
                </a:gridCol>
                <a:gridCol w="1432177">
                  <a:extLst>
                    <a:ext uri="{9D8B030D-6E8A-4147-A177-3AD203B41FA5}">
                      <a16:colId xmlns:a16="http://schemas.microsoft.com/office/drawing/2014/main" val="1015089906"/>
                    </a:ext>
                  </a:extLst>
                </a:gridCol>
                <a:gridCol w="1590436">
                  <a:extLst>
                    <a:ext uri="{9D8B030D-6E8A-4147-A177-3AD203B41FA5}">
                      <a16:colId xmlns:a16="http://schemas.microsoft.com/office/drawing/2014/main" val="1413428797"/>
                    </a:ext>
                  </a:extLst>
                </a:gridCol>
              </a:tblGrid>
              <a:tr h="3919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MY" sz="1600" kern="100">
                          <a:effectLst/>
                          <a:latin typeface="Bahnschrift" panose="020B0502040204020203" pitchFamily="34" charset="0"/>
                        </a:rPr>
                        <a:t>Set</a:t>
                      </a:r>
                      <a:endParaRPr lang="en-MY" sz="1600" kern="100">
                        <a:effectLst/>
                        <a:latin typeface="Bahnschrift" panose="020B0502040204020203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6F86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MY" sz="1600" kern="100">
                          <a:effectLst/>
                          <a:latin typeface="Bahnschrift" panose="020B0502040204020203" pitchFamily="34" charset="0"/>
                        </a:rPr>
                        <a:t>Epochs</a:t>
                      </a:r>
                      <a:endParaRPr lang="en-MY" sz="1600" kern="100">
                        <a:effectLst/>
                        <a:latin typeface="Bahnschrift" panose="020B0502040204020203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6F86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MY" sz="1600" kern="100">
                          <a:effectLst/>
                          <a:latin typeface="Bahnschrift" panose="020B0502040204020203" pitchFamily="34" charset="0"/>
                        </a:rPr>
                        <a:t>Loss</a:t>
                      </a:r>
                      <a:endParaRPr lang="en-MY" sz="1600" kern="100">
                        <a:effectLst/>
                        <a:latin typeface="Bahnschrift" panose="020B0502040204020203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6F86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MY" sz="1600" kern="100">
                          <a:effectLst/>
                          <a:latin typeface="Bahnschrift" panose="020B0502040204020203" pitchFamily="34" charset="0"/>
                        </a:rPr>
                        <a:t>Accuracy</a:t>
                      </a:r>
                      <a:endParaRPr lang="en-MY" sz="1600" kern="100">
                        <a:effectLst/>
                        <a:latin typeface="Bahnschrift" panose="020B0502040204020203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6F86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MY" sz="1600" kern="100">
                          <a:effectLst/>
                          <a:latin typeface="Bahnschrift" panose="020B0502040204020203" pitchFamily="34" charset="0"/>
                        </a:rPr>
                        <a:t>Precision</a:t>
                      </a:r>
                      <a:endParaRPr lang="en-MY" sz="1600" kern="100">
                        <a:effectLst/>
                        <a:latin typeface="Bahnschrift" panose="020B0502040204020203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6F86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MY" sz="1600" kern="100">
                          <a:effectLst/>
                          <a:latin typeface="Bahnschrift" panose="020B0502040204020203" pitchFamily="34" charset="0"/>
                        </a:rPr>
                        <a:t>Recall</a:t>
                      </a:r>
                      <a:endParaRPr lang="en-MY" sz="1600" kern="100">
                        <a:effectLst/>
                        <a:latin typeface="Bahnschrift" panose="020B0502040204020203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6F86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MY" sz="1600" kern="100">
                          <a:effectLst/>
                          <a:latin typeface="Bahnschrift" panose="020B0502040204020203" pitchFamily="34" charset="0"/>
                        </a:rPr>
                        <a:t>F1 Score</a:t>
                      </a:r>
                      <a:endParaRPr lang="en-MY" sz="1600" kern="100">
                        <a:effectLst/>
                        <a:latin typeface="Bahnschrift" panose="020B0502040204020203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6F86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MY" sz="1600" kern="100">
                          <a:effectLst/>
                          <a:latin typeface="Bahnschrift" panose="020B0502040204020203" pitchFamily="34" charset="0"/>
                        </a:rPr>
                        <a:t>ROC-AUC</a:t>
                      </a:r>
                      <a:endParaRPr lang="en-MY" sz="1600" kern="100">
                        <a:effectLst/>
                        <a:latin typeface="Bahnschrift" panose="020B0502040204020203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6F86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277519"/>
                  </a:ext>
                </a:extLst>
              </a:tr>
              <a:tr h="3919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MY" sz="1600" kern="100">
                          <a:effectLst/>
                          <a:latin typeface="Bahnschrift" panose="020B0502040204020203" pitchFamily="34" charset="0"/>
                        </a:rPr>
                        <a:t>Training</a:t>
                      </a:r>
                      <a:endParaRPr lang="en-MY" sz="1600" kern="100">
                        <a:effectLst/>
                        <a:latin typeface="Bahnschrift" panose="020B0502040204020203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6F86C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MY" sz="1600" kern="100">
                          <a:effectLst/>
                          <a:latin typeface="Bahnschrift" panose="020B0502040204020203" pitchFamily="34" charset="0"/>
                        </a:rPr>
                        <a:t>25</a:t>
                      </a:r>
                      <a:endParaRPr lang="en-MY" sz="1600" kern="100">
                        <a:effectLst/>
                        <a:latin typeface="Bahnschrift" panose="020B0502040204020203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3D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MY" sz="1600" kern="100">
                          <a:effectLst/>
                          <a:latin typeface="Bahnschrift" panose="020B0502040204020203" pitchFamily="34" charset="0"/>
                        </a:rPr>
                        <a:t>0.0610</a:t>
                      </a:r>
                      <a:endParaRPr lang="en-MY" sz="1600" kern="100">
                        <a:effectLst/>
                        <a:latin typeface="Bahnschrift" panose="020B0502040204020203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3D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MY" sz="1600" kern="100">
                          <a:effectLst/>
                          <a:latin typeface="Bahnschrift" panose="020B0502040204020203" pitchFamily="34" charset="0"/>
                        </a:rPr>
                        <a:t>0.9977</a:t>
                      </a:r>
                      <a:endParaRPr lang="en-MY" sz="1600" kern="100">
                        <a:effectLst/>
                        <a:latin typeface="Bahnschrift" panose="020B0502040204020203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3D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MY" sz="1600" kern="100">
                          <a:effectLst/>
                          <a:latin typeface="Bahnschrift" panose="020B0502040204020203" pitchFamily="34" charset="0"/>
                        </a:rPr>
                        <a:t>0.9966</a:t>
                      </a:r>
                      <a:endParaRPr lang="en-MY" sz="1600" kern="100">
                        <a:effectLst/>
                        <a:latin typeface="Bahnschrift" panose="020B0502040204020203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3D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MY" sz="1600" kern="100">
                          <a:effectLst/>
                          <a:latin typeface="Bahnschrift" panose="020B0502040204020203" pitchFamily="34" charset="0"/>
                        </a:rPr>
                        <a:t>0.9987</a:t>
                      </a:r>
                      <a:endParaRPr lang="en-MY" sz="1600" kern="100">
                        <a:effectLst/>
                        <a:latin typeface="Bahnschrift" panose="020B0502040204020203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3D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MY" sz="1600" kern="100">
                          <a:effectLst/>
                          <a:latin typeface="Bahnschrift" panose="020B0502040204020203" pitchFamily="34" charset="0"/>
                        </a:rPr>
                        <a:t>0.9976</a:t>
                      </a:r>
                      <a:endParaRPr lang="en-MY" sz="1600" kern="100">
                        <a:effectLst/>
                        <a:latin typeface="Bahnschrift" panose="020B0502040204020203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3D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MY" sz="1600" kern="100">
                          <a:effectLst/>
                          <a:latin typeface="Bahnschrift" panose="020B0502040204020203" pitchFamily="34" charset="0"/>
                        </a:rPr>
                        <a:t>0.9997</a:t>
                      </a:r>
                      <a:endParaRPr lang="en-MY" sz="1600" kern="100">
                        <a:effectLst/>
                        <a:latin typeface="Bahnschrift" panose="020B0502040204020203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3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16504"/>
                  </a:ext>
                </a:extLst>
              </a:tr>
              <a:tr h="3919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MY" sz="1600" kern="100">
                          <a:effectLst/>
                          <a:latin typeface="Bahnschrift" panose="020B0502040204020203" pitchFamily="34" charset="0"/>
                        </a:rPr>
                        <a:t>Validation</a:t>
                      </a:r>
                      <a:endParaRPr lang="en-MY" sz="1600" kern="100">
                        <a:effectLst/>
                        <a:latin typeface="Bahnschrift" panose="020B0502040204020203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6F86C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MY" sz="1600" kern="100">
                          <a:effectLst/>
                          <a:latin typeface="Bahnschrift" panose="020B0502040204020203" pitchFamily="34" charset="0"/>
                        </a:rPr>
                        <a:t>0.0862</a:t>
                      </a:r>
                      <a:endParaRPr lang="en-MY" sz="1600" kern="100">
                        <a:effectLst/>
                        <a:latin typeface="Bahnschrift" panose="020B0502040204020203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3D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MY" sz="1600" kern="100">
                          <a:effectLst/>
                          <a:latin typeface="Bahnschrift" panose="020B0502040204020203" pitchFamily="34" charset="0"/>
                        </a:rPr>
                        <a:t>0.9885</a:t>
                      </a:r>
                      <a:endParaRPr lang="en-MY" sz="1600" kern="100">
                        <a:effectLst/>
                        <a:latin typeface="Bahnschrift" panose="020B0502040204020203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3D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MY" sz="1600" kern="100">
                          <a:effectLst/>
                          <a:latin typeface="Bahnschrift" panose="020B0502040204020203" pitchFamily="34" charset="0"/>
                        </a:rPr>
                        <a:t>0.9864</a:t>
                      </a:r>
                      <a:endParaRPr lang="en-MY" sz="1600" kern="100">
                        <a:effectLst/>
                        <a:latin typeface="Bahnschrift" panose="020B0502040204020203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3D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MY" sz="1600" kern="100">
                          <a:effectLst/>
                          <a:latin typeface="Bahnschrift" panose="020B0502040204020203" pitchFamily="34" charset="0"/>
                        </a:rPr>
                        <a:t>0.9909</a:t>
                      </a:r>
                      <a:endParaRPr lang="en-MY" sz="1600" kern="100">
                        <a:effectLst/>
                        <a:latin typeface="Bahnschrift" panose="020B0502040204020203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3D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MY" sz="1600" kern="100">
                          <a:effectLst/>
                          <a:latin typeface="Bahnschrift" panose="020B0502040204020203" pitchFamily="34" charset="0"/>
                        </a:rPr>
                        <a:t>0.9886</a:t>
                      </a:r>
                      <a:endParaRPr lang="en-MY" sz="1600" kern="100">
                        <a:effectLst/>
                        <a:latin typeface="Bahnschrift" panose="020B0502040204020203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3D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MY" sz="1600" kern="100">
                          <a:effectLst/>
                          <a:latin typeface="Bahnschrift" panose="020B0502040204020203" pitchFamily="34" charset="0"/>
                        </a:rPr>
                        <a:t>0.9970</a:t>
                      </a:r>
                      <a:endParaRPr lang="en-MY" sz="1600" kern="100">
                        <a:effectLst/>
                        <a:latin typeface="Bahnschrift" panose="020B0502040204020203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3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44682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4F80444-5C7C-273A-AB10-E1E0C76FE950}"/>
              </a:ext>
            </a:extLst>
          </p:cNvPr>
          <p:cNvSpPr txBox="1"/>
          <p:nvPr/>
        </p:nvSpPr>
        <p:spPr>
          <a:xfrm>
            <a:off x="471949" y="393291"/>
            <a:ext cx="3166251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AU" sz="3200" b="1">
                <a:solidFill>
                  <a:srgbClr val="5654A6"/>
                </a:solidFill>
                <a:latin typeface="Arial"/>
                <a:cs typeface="Times New Roman"/>
              </a:rPr>
              <a:t>Baseline Model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27E1A92-4599-ECDC-6FA2-0390C0F91CEF}"/>
              </a:ext>
            </a:extLst>
          </p:cNvPr>
          <p:cNvSpPr/>
          <p:nvPr/>
        </p:nvSpPr>
        <p:spPr>
          <a:xfrm>
            <a:off x="1933575" y="4333282"/>
            <a:ext cx="3409950" cy="581025"/>
          </a:xfrm>
          <a:prstGeom prst="roundRect">
            <a:avLst/>
          </a:prstGeom>
          <a:solidFill>
            <a:srgbClr val="6F86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2000" b="1"/>
              <a:t>Model Accuracy</a:t>
            </a:r>
            <a:endParaRPr lang="en-AU" sz="2000" b="1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5DDDDF3-05D5-8F41-0383-4C329DF1F676}"/>
              </a:ext>
            </a:extLst>
          </p:cNvPr>
          <p:cNvSpPr/>
          <p:nvPr/>
        </p:nvSpPr>
        <p:spPr>
          <a:xfrm>
            <a:off x="7348952" y="4332269"/>
            <a:ext cx="3409950" cy="581025"/>
          </a:xfrm>
          <a:prstGeom prst="roundRect">
            <a:avLst/>
          </a:prstGeom>
          <a:solidFill>
            <a:srgbClr val="6F86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2000" b="1"/>
              <a:t>Model Loss</a:t>
            </a:r>
            <a:endParaRPr lang="en-AU" sz="2000" b="1"/>
          </a:p>
        </p:txBody>
      </p:sp>
    </p:spTree>
    <p:extLst>
      <p:ext uri="{BB962C8B-B14F-4D97-AF65-F5344CB8AC3E}">
        <p14:creationId xmlns:p14="http://schemas.microsoft.com/office/powerpoint/2010/main" val="42061816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885FA-BEFF-2DA8-D0D8-5837D49ED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D2B6902-FAFF-F581-9090-6FA633BE5FAE}"/>
              </a:ext>
            </a:extLst>
          </p:cNvPr>
          <p:cNvSpPr/>
          <p:nvPr/>
        </p:nvSpPr>
        <p:spPr>
          <a:xfrm>
            <a:off x="0" y="2088188"/>
            <a:ext cx="12192000" cy="3716824"/>
          </a:xfrm>
          <a:prstGeom prst="rect">
            <a:avLst/>
          </a:prstGeom>
          <a:solidFill>
            <a:srgbClr val="F6F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4BCC7A-D379-A0BD-DFA6-4B677DEFBB24}"/>
              </a:ext>
            </a:extLst>
          </p:cNvPr>
          <p:cNvSpPr/>
          <p:nvPr/>
        </p:nvSpPr>
        <p:spPr>
          <a:xfrm>
            <a:off x="-1" y="6439615"/>
            <a:ext cx="12192001" cy="418385"/>
          </a:xfrm>
          <a:prstGeom prst="rect">
            <a:avLst/>
          </a:prstGeom>
          <a:solidFill>
            <a:srgbClr val="7C90D3"/>
          </a:solidFill>
          <a:ln>
            <a:solidFill>
              <a:srgbClr val="85A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MY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F0646D1-B7DE-0C06-A531-49FBD404AEC1}"/>
              </a:ext>
            </a:extLst>
          </p:cNvPr>
          <p:cNvSpPr/>
          <p:nvPr/>
        </p:nvSpPr>
        <p:spPr>
          <a:xfrm>
            <a:off x="714284" y="2799260"/>
            <a:ext cx="2944325" cy="836271"/>
          </a:xfrm>
          <a:prstGeom prst="roundRect">
            <a:avLst/>
          </a:prstGeom>
          <a:solidFill>
            <a:srgbClr val="3E5687"/>
          </a:solidFill>
          <a:ln>
            <a:solidFill>
              <a:srgbClr val="7C90D3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2000" b="1">
                <a:solidFill>
                  <a:schemeClr val="bg1">
                    <a:lumMod val="95000"/>
                  </a:schemeClr>
                </a:solidFill>
                <a:cs typeface="Arial" panose="020B0604020202020204" pitchFamily="34" charset="0"/>
              </a:rPr>
              <a:t>Choose backbone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9BB2442-9C09-E841-545A-7B07553A466E}"/>
              </a:ext>
            </a:extLst>
          </p:cNvPr>
          <p:cNvSpPr/>
          <p:nvPr/>
        </p:nvSpPr>
        <p:spPr>
          <a:xfrm>
            <a:off x="4745510" y="2799260"/>
            <a:ext cx="2944325" cy="836271"/>
          </a:xfrm>
          <a:prstGeom prst="roundRect">
            <a:avLst/>
          </a:prstGeom>
          <a:solidFill>
            <a:srgbClr val="169C9A"/>
          </a:solidFill>
          <a:ln>
            <a:solidFill>
              <a:srgbClr val="148E8B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2000" b="1">
                <a:solidFill>
                  <a:schemeClr val="bg1">
                    <a:lumMod val="95000"/>
                  </a:schemeClr>
                </a:solidFill>
                <a:cs typeface="Arial" panose="020B0604020202020204" pitchFamily="34" charset="0"/>
              </a:rPr>
              <a:t>Warm-up / </a:t>
            </a:r>
          </a:p>
          <a:p>
            <a:pPr algn="ctr"/>
            <a:r>
              <a:rPr lang="en-MY" sz="2000" b="1">
                <a:solidFill>
                  <a:schemeClr val="bg1">
                    <a:lumMod val="95000"/>
                  </a:schemeClr>
                </a:solidFill>
                <a:cs typeface="Arial" panose="020B0604020202020204" pitchFamily="34" charset="0"/>
              </a:rPr>
              <a:t>Freezing Stage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74A727A-1181-4428-7F72-43AA9A01E61A}"/>
              </a:ext>
            </a:extLst>
          </p:cNvPr>
          <p:cNvSpPr/>
          <p:nvPr/>
        </p:nvSpPr>
        <p:spPr>
          <a:xfrm>
            <a:off x="8865227" y="2799260"/>
            <a:ext cx="2944325" cy="836271"/>
          </a:xfrm>
          <a:prstGeom prst="roundRect">
            <a:avLst/>
          </a:prstGeom>
          <a:solidFill>
            <a:srgbClr val="D24F2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2000" b="1">
                <a:solidFill>
                  <a:schemeClr val="bg1">
                    <a:lumMod val="95000"/>
                  </a:schemeClr>
                </a:solidFill>
                <a:cs typeface="Arial" panose="020B0604020202020204" pitchFamily="34" charset="0"/>
              </a:rPr>
              <a:t>Fine-tuning / Unfreezing Stage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5F3805-5DF2-9A38-1CCD-2C683E8F13F6}"/>
              </a:ext>
            </a:extLst>
          </p:cNvPr>
          <p:cNvSpPr/>
          <p:nvPr/>
        </p:nvSpPr>
        <p:spPr>
          <a:xfrm>
            <a:off x="511767" y="1078924"/>
            <a:ext cx="178286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prstMaterial="matte"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800" b="1">
                <a:ln/>
                <a:solidFill>
                  <a:srgbClr val="758BD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endParaRPr lang="en-US" sz="4000" b="1">
              <a:ln/>
              <a:solidFill>
                <a:srgbClr val="758BD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62AB90F-46B3-F51D-B108-8314371B6C8C}"/>
              </a:ext>
            </a:extLst>
          </p:cNvPr>
          <p:cNvSpPr/>
          <p:nvPr/>
        </p:nvSpPr>
        <p:spPr>
          <a:xfrm>
            <a:off x="3885570" y="3095262"/>
            <a:ext cx="719724" cy="29446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2777265-F6D6-09D0-E78B-0572F230AF01}"/>
              </a:ext>
            </a:extLst>
          </p:cNvPr>
          <p:cNvSpPr/>
          <p:nvPr/>
        </p:nvSpPr>
        <p:spPr>
          <a:xfrm>
            <a:off x="7867254" y="3095262"/>
            <a:ext cx="719724" cy="294461"/>
          </a:xfrm>
          <a:prstGeom prst="rightArrow">
            <a:avLst/>
          </a:prstGeom>
          <a:solidFill>
            <a:srgbClr val="D24F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E12F37-1941-E6E4-B86F-CC983B7945F5}"/>
              </a:ext>
            </a:extLst>
          </p:cNvPr>
          <p:cNvSpPr/>
          <p:nvPr/>
        </p:nvSpPr>
        <p:spPr>
          <a:xfrm>
            <a:off x="4799977" y="4027958"/>
            <a:ext cx="2784591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none" spc="0">
                <a:ln w="0"/>
                <a:solidFill>
                  <a:srgbClr val="28274D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5 epoch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F2837B-6AD6-C1F8-A1E3-1C07A8ADB28A}"/>
              </a:ext>
            </a:extLst>
          </p:cNvPr>
          <p:cNvSpPr/>
          <p:nvPr/>
        </p:nvSpPr>
        <p:spPr>
          <a:xfrm>
            <a:off x="8865227" y="4027958"/>
            <a:ext cx="2784591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none" spc="0">
                <a:ln w="0"/>
                <a:solidFill>
                  <a:srgbClr val="28274D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20 epoch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F897DBD-9AA0-64A9-1C09-43B297425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GB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232E9B-4A63-BDCA-D744-21B429A08D00}"/>
              </a:ext>
            </a:extLst>
          </p:cNvPr>
          <p:cNvSpPr txBox="1"/>
          <p:nvPr/>
        </p:nvSpPr>
        <p:spPr>
          <a:xfrm>
            <a:off x="471949" y="393291"/>
            <a:ext cx="3645357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AU" sz="3200" b="1">
                <a:solidFill>
                  <a:srgbClr val="5654A6"/>
                </a:solidFill>
                <a:latin typeface="Arial"/>
                <a:cs typeface="Times New Roman"/>
              </a:rPr>
              <a:t>Transfer Learning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986C4AE-9F04-C93C-1A75-FA5DF0253ACD}"/>
              </a:ext>
            </a:extLst>
          </p:cNvPr>
          <p:cNvSpPr/>
          <p:nvPr/>
        </p:nvSpPr>
        <p:spPr>
          <a:xfrm>
            <a:off x="1652368" y="4005492"/>
            <a:ext cx="1814711" cy="375420"/>
          </a:xfrm>
          <a:prstGeom prst="roundRect">
            <a:avLst>
              <a:gd name="adj" fmla="val 13465"/>
            </a:avLst>
          </a:prstGeom>
          <a:solidFill>
            <a:schemeClr val="bg1"/>
          </a:solidFill>
          <a:ln w="12700">
            <a:solidFill>
              <a:srgbClr val="3E56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rgbClr val="28274D"/>
                </a:solidFill>
                <a:latin typeface="Bahnschrift" panose="020B0502040204020203" pitchFamily="34" charset="0"/>
              </a:rPr>
              <a:t>Resnet 18</a:t>
            </a:r>
            <a:endParaRPr lang="en-AU" sz="1200" b="1">
              <a:solidFill>
                <a:srgbClr val="28274D"/>
              </a:solidFill>
              <a:latin typeface="Bahnschrift" panose="020B0502040204020203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3D7BE17-FEDE-EED1-E822-76B2558D7027}"/>
              </a:ext>
            </a:extLst>
          </p:cNvPr>
          <p:cNvSpPr/>
          <p:nvPr/>
        </p:nvSpPr>
        <p:spPr>
          <a:xfrm>
            <a:off x="1652368" y="4539249"/>
            <a:ext cx="1814719" cy="375420"/>
          </a:xfrm>
          <a:prstGeom prst="roundRect">
            <a:avLst>
              <a:gd name="adj" fmla="val 13465"/>
            </a:avLst>
          </a:prstGeom>
          <a:solidFill>
            <a:schemeClr val="bg1"/>
          </a:solidFill>
          <a:ln w="12700">
            <a:solidFill>
              <a:srgbClr val="3E56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err="1">
                <a:solidFill>
                  <a:srgbClr val="28274D"/>
                </a:solidFill>
                <a:latin typeface="Bahnschrift" panose="020B0502040204020203" pitchFamily="34" charset="0"/>
              </a:rPr>
              <a:t>DenseNet</a:t>
            </a:r>
            <a:endParaRPr lang="en-AU" sz="1200" b="1">
              <a:solidFill>
                <a:srgbClr val="28274D"/>
              </a:solidFill>
              <a:latin typeface="Bahnschrift" panose="020B050204020402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10B284D-2516-8223-C1CE-3CE405AFAB77}"/>
              </a:ext>
            </a:extLst>
          </p:cNvPr>
          <p:cNvSpPr/>
          <p:nvPr/>
        </p:nvSpPr>
        <p:spPr>
          <a:xfrm>
            <a:off x="1652368" y="5090214"/>
            <a:ext cx="1814727" cy="375420"/>
          </a:xfrm>
          <a:prstGeom prst="roundRect">
            <a:avLst>
              <a:gd name="adj" fmla="val 13465"/>
            </a:avLst>
          </a:prstGeom>
          <a:solidFill>
            <a:schemeClr val="bg1"/>
          </a:solidFill>
          <a:ln w="12700">
            <a:solidFill>
              <a:srgbClr val="3E56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err="1">
                <a:solidFill>
                  <a:srgbClr val="28274D"/>
                </a:solidFill>
                <a:latin typeface="Bahnschrift" panose="020B0502040204020203" pitchFamily="34" charset="0"/>
              </a:rPr>
              <a:t>ConvNeXt</a:t>
            </a:r>
            <a:endParaRPr lang="en-AU" sz="1200" b="1">
              <a:solidFill>
                <a:srgbClr val="28274D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8F28EA9-F1E2-76EA-ECB6-8D17D46BCAC2}"/>
              </a:ext>
            </a:extLst>
          </p:cNvPr>
          <p:cNvCxnSpPr/>
          <p:nvPr/>
        </p:nvCxnSpPr>
        <p:spPr>
          <a:xfrm>
            <a:off x="1240637" y="3847295"/>
            <a:ext cx="0" cy="1695308"/>
          </a:xfrm>
          <a:prstGeom prst="line">
            <a:avLst/>
          </a:prstGeom>
          <a:ln w="19050">
            <a:solidFill>
              <a:srgbClr val="3E56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F8ECDD8D-1531-A5FC-DE7C-8482A127702C}"/>
              </a:ext>
            </a:extLst>
          </p:cNvPr>
          <p:cNvSpPr/>
          <p:nvPr/>
        </p:nvSpPr>
        <p:spPr>
          <a:xfrm>
            <a:off x="1139037" y="4060405"/>
            <a:ext cx="203200" cy="2032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E5687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050">
                <a:solidFill>
                  <a:srgbClr val="222F4A"/>
                </a:solidFill>
              </a:rPr>
              <a:t>1</a:t>
            </a:r>
            <a:endParaRPr lang="en-AU" sz="1050">
              <a:solidFill>
                <a:srgbClr val="222F4A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5BD0513-576A-F25C-175F-8DA63DA521D4}"/>
              </a:ext>
            </a:extLst>
          </p:cNvPr>
          <p:cNvSpPr/>
          <p:nvPr/>
        </p:nvSpPr>
        <p:spPr>
          <a:xfrm>
            <a:off x="1139037" y="4593349"/>
            <a:ext cx="203200" cy="2032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E5687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100">
                <a:solidFill>
                  <a:srgbClr val="222F4A"/>
                </a:solidFill>
              </a:rPr>
              <a:t>2</a:t>
            </a:r>
            <a:endParaRPr lang="en-AU" sz="1100">
              <a:solidFill>
                <a:srgbClr val="222F4A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4517957-FC65-62F4-791E-318ED4B1DC06}"/>
              </a:ext>
            </a:extLst>
          </p:cNvPr>
          <p:cNvSpPr/>
          <p:nvPr/>
        </p:nvSpPr>
        <p:spPr>
          <a:xfrm>
            <a:off x="1139037" y="5126293"/>
            <a:ext cx="203200" cy="2032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E5687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100">
                <a:solidFill>
                  <a:srgbClr val="222F4A"/>
                </a:solidFill>
              </a:rPr>
              <a:t>3</a:t>
            </a:r>
            <a:endParaRPr lang="en-AU">
              <a:solidFill>
                <a:srgbClr val="222F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089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9" grpId="0"/>
      <p:bldP spid="11" grpId="0"/>
      <p:bldP spid="20" grpId="0" animBg="1"/>
      <p:bldP spid="21" grpId="0" animBg="1"/>
      <p:bldP spid="22" grpId="0" animBg="1"/>
      <p:bldP spid="26" grpId="0" animBg="1"/>
      <p:bldP spid="27" grpId="0" animBg="1"/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7877F-7A92-ECB2-5440-BF8F014D4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B6D68C-F024-6E43-6F3C-FEFFE0D84747}"/>
              </a:ext>
            </a:extLst>
          </p:cNvPr>
          <p:cNvSpPr/>
          <p:nvPr/>
        </p:nvSpPr>
        <p:spPr>
          <a:xfrm>
            <a:off x="0" y="1151255"/>
            <a:ext cx="12192000" cy="4653757"/>
          </a:xfrm>
          <a:prstGeom prst="rect">
            <a:avLst/>
          </a:prstGeom>
          <a:solidFill>
            <a:srgbClr val="F6F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315529-AD6D-5BC7-A9EF-BF9AC188F3F9}"/>
              </a:ext>
            </a:extLst>
          </p:cNvPr>
          <p:cNvSpPr/>
          <p:nvPr/>
        </p:nvSpPr>
        <p:spPr>
          <a:xfrm>
            <a:off x="1" y="6439615"/>
            <a:ext cx="12192000" cy="418385"/>
          </a:xfrm>
          <a:prstGeom prst="rect">
            <a:avLst/>
          </a:prstGeom>
          <a:solidFill>
            <a:srgbClr val="7C90D3"/>
          </a:solidFill>
          <a:ln>
            <a:solidFill>
              <a:srgbClr val="85A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9C5D20-5044-A31D-B90F-369F112F2751}"/>
              </a:ext>
            </a:extLst>
          </p:cNvPr>
          <p:cNvSpPr/>
          <p:nvPr/>
        </p:nvSpPr>
        <p:spPr>
          <a:xfrm>
            <a:off x="4563652" y="464050"/>
            <a:ext cx="2784591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Resnet?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8B342B-D9CB-7312-722B-F88D9B9B1441}"/>
              </a:ext>
            </a:extLst>
          </p:cNvPr>
          <p:cNvSpPr/>
          <p:nvPr/>
        </p:nvSpPr>
        <p:spPr>
          <a:xfrm>
            <a:off x="3970769" y="406329"/>
            <a:ext cx="784060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Also a </a:t>
            </a:r>
            <a:r>
              <a:rPr lang="en-US" sz="4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CNN but with shortcuts!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69B776-A436-2C42-9387-D11A63D76651}"/>
              </a:ext>
            </a:extLst>
          </p:cNvPr>
          <p:cNvSpPr/>
          <p:nvPr/>
        </p:nvSpPr>
        <p:spPr>
          <a:xfrm>
            <a:off x="435569" y="1264318"/>
            <a:ext cx="491031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914400" indent="-914400">
              <a:buAutoNum type="arabicPeriod"/>
            </a:pPr>
            <a:r>
              <a:rPr lang="en-US" sz="2400" b="0" cap="none" spc="0">
                <a:ln w="0"/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Train faster</a:t>
            </a:r>
          </a:p>
          <a:p>
            <a:pPr marL="914400" indent="-914400">
              <a:buAutoNum type="arabicPeriod"/>
            </a:pPr>
            <a:r>
              <a:rPr lang="en-US" sz="2400" b="0" cap="none" spc="0">
                <a:ln w="0"/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Avoid losing information</a:t>
            </a:r>
          </a:p>
          <a:p>
            <a:pPr marL="914400" indent="-914400">
              <a:buAutoNum type="arabicPeriod"/>
            </a:pPr>
            <a:r>
              <a:rPr lang="en-US" sz="2400">
                <a:ln w="0"/>
                <a:solidFill>
                  <a:schemeClr val="accent6">
                    <a:lumMod val="50000"/>
                  </a:schemeClr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Prevent vanishing gradients</a:t>
            </a:r>
            <a:endParaRPr lang="en-US" sz="2400" b="0" cap="none" spc="0">
              <a:ln w="0"/>
              <a:solidFill>
                <a:schemeClr val="accent6">
                  <a:lumMod val="50000"/>
                </a:schemeClr>
              </a:solidFill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2880C0-1513-6BA1-0974-54977082AD67}"/>
              </a:ext>
            </a:extLst>
          </p:cNvPr>
          <p:cNvSpPr/>
          <p:nvPr/>
        </p:nvSpPr>
        <p:spPr>
          <a:xfrm>
            <a:off x="487209" y="2879698"/>
            <a:ext cx="1150196" cy="10688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757256-B72D-F319-92DA-D0CEA6FE316D}"/>
              </a:ext>
            </a:extLst>
          </p:cNvPr>
          <p:cNvSpPr/>
          <p:nvPr/>
        </p:nvSpPr>
        <p:spPr>
          <a:xfrm>
            <a:off x="2248324" y="2803058"/>
            <a:ext cx="1150196" cy="10688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BFC83A-614D-A4EB-3505-A825696FCAD6}"/>
              </a:ext>
            </a:extLst>
          </p:cNvPr>
          <p:cNvSpPr/>
          <p:nvPr/>
        </p:nvSpPr>
        <p:spPr>
          <a:xfrm>
            <a:off x="2400724" y="2955458"/>
            <a:ext cx="1150196" cy="10688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07281D-9483-B41A-2D12-FBB52AE0CA22}"/>
              </a:ext>
            </a:extLst>
          </p:cNvPr>
          <p:cNvSpPr/>
          <p:nvPr/>
        </p:nvSpPr>
        <p:spPr>
          <a:xfrm>
            <a:off x="2553124" y="3107858"/>
            <a:ext cx="1150196" cy="10688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ACE6B7-83ED-36FB-3ADE-38E1B31D1BB8}"/>
              </a:ext>
            </a:extLst>
          </p:cNvPr>
          <p:cNvSpPr/>
          <p:nvPr/>
        </p:nvSpPr>
        <p:spPr>
          <a:xfrm>
            <a:off x="4350581" y="3052921"/>
            <a:ext cx="884406" cy="8189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9CE128-D396-7DA9-C812-965CA6EA51CC}"/>
              </a:ext>
            </a:extLst>
          </p:cNvPr>
          <p:cNvSpPr/>
          <p:nvPr/>
        </p:nvSpPr>
        <p:spPr>
          <a:xfrm>
            <a:off x="4502981" y="3205321"/>
            <a:ext cx="884406" cy="8189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96A013E-90F3-320F-2A95-DAE75DF3308E}"/>
              </a:ext>
            </a:extLst>
          </p:cNvPr>
          <p:cNvSpPr/>
          <p:nvPr/>
        </p:nvSpPr>
        <p:spPr>
          <a:xfrm>
            <a:off x="487208" y="2879698"/>
            <a:ext cx="342240" cy="306607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6525C3A-31A4-F972-D694-E4AB596DAA7B}"/>
              </a:ext>
            </a:extLst>
          </p:cNvPr>
          <p:cNvSpPr/>
          <p:nvPr/>
        </p:nvSpPr>
        <p:spPr>
          <a:xfrm>
            <a:off x="2553124" y="3109061"/>
            <a:ext cx="256379" cy="226119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2767397-EA30-992D-1A4D-8F8C93E68EE8}"/>
              </a:ext>
            </a:extLst>
          </p:cNvPr>
          <p:cNvSpPr/>
          <p:nvPr/>
        </p:nvSpPr>
        <p:spPr>
          <a:xfrm>
            <a:off x="4501579" y="3205321"/>
            <a:ext cx="165197" cy="163167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224847D-224A-88DC-DF22-A376566769DF}"/>
              </a:ext>
            </a:extLst>
          </p:cNvPr>
          <p:cNvCxnSpPr>
            <a:cxnSpLocks/>
          </p:cNvCxnSpPr>
          <p:nvPr/>
        </p:nvCxnSpPr>
        <p:spPr>
          <a:xfrm>
            <a:off x="503915" y="2879558"/>
            <a:ext cx="2049209" cy="2283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1BE6A75-FBF2-3953-F199-98571883C24A}"/>
              </a:ext>
            </a:extLst>
          </p:cNvPr>
          <p:cNvCxnSpPr>
            <a:cxnSpLocks/>
          </p:cNvCxnSpPr>
          <p:nvPr/>
        </p:nvCxnSpPr>
        <p:spPr>
          <a:xfrm>
            <a:off x="503915" y="3187508"/>
            <a:ext cx="2040693" cy="1476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E49D8C4-645A-039A-9945-904AD7D632C3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816829" y="2885549"/>
            <a:ext cx="1864485" cy="2235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F603F71-3B00-F1C0-A7DC-8E476E4F7172}"/>
              </a:ext>
            </a:extLst>
          </p:cNvPr>
          <p:cNvCxnSpPr>
            <a:cxnSpLocks/>
            <a:endCxn id="31" idx="2"/>
          </p:cNvCxnSpPr>
          <p:nvPr/>
        </p:nvCxnSpPr>
        <p:spPr>
          <a:xfrm>
            <a:off x="837964" y="3184058"/>
            <a:ext cx="1843350" cy="1511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54915AA8-66E6-C41D-6B9F-13E7683694A6}"/>
              </a:ext>
            </a:extLst>
          </p:cNvPr>
          <p:cNvSpPr/>
          <p:nvPr/>
        </p:nvSpPr>
        <p:spPr>
          <a:xfrm>
            <a:off x="3445539" y="3109061"/>
            <a:ext cx="256379" cy="226119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8395435-3193-2A1A-00B4-A08EAE8ED298}"/>
              </a:ext>
            </a:extLst>
          </p:cNvPr>
          <p:cNvCxnSpPr>
            <a:cxnSpLocks/>
          </p:cNvCxnSpPr>
          <p:nvPr/>
        </p:nvCxnSpPr>
        <p:spPr>
          <a:xfrm>
            <a:off x="3443106" y="3123346"/>
            <a:ext cx="1058473" cy="819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EC63AE6-DCA2-1B15-3AE9-D9F595A62389}"/>
              </a:ext>
            </a:extLst>
          </p:cNvPr>
          <p:cNvCxnSpPr>
            <a:cxnSpLocks/>
          </p:cNvCxnSpPr>
          <p:nvPr/>
        </p:nvCxnSpPr>
        <p:spPr>
          <a:xfrm>
            <a:off x="3439118" y="3334788"/>
            <a:ext cx="1062461" cy="409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0046AE0-85DB-E2DF-327D-22151AB65A44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3701918" y="3108627"/>
            <a:ext cx="882260" cy="966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6C3DAA7-F025-98D0-25FC-7628935AB629}"/>
              </a:ext>
            </a:extLst>
          </p:cNvPr>
          <p:cNvCxnSpPr>
            <a:cxnSpLocks/>
          </p:cNvCxnSpPr>
          <p:nvPr/>
        </p:nvCxnSpPr>
        <p:spPr>
          <a:xfrm>
            <a:off x="3708339" y="3334788"/>
            <a:ext cx="950704" cy="409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47B6AAF6-96FF-B017-403D-46B05FCCEF61}"/>
              </a:ext>
            </a:extLst>
          </p:cNvPr>
          <p:cNvSpPr/>
          <p:nvPr/>
        </p:nvSpPr>
        <p:spPr>
          <a:xfrm>
            <a:off x="429479" y="4499295"/>
            <a:ext cx="1223412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cap="none" spc="0">
                <a:ln/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Input layer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31F2B37-4345-4B20-A09D-239B4872CEA2}"/>
              </a:ext>
            </a:extLst>
          </p:cNvPr>
          <p:cNvSpPr/>
          <p:nvPr/>
        </p:nvSpPr>
        <p:spPr>
          <a:xfrm>
            <a:off x="2012926" y="4487720"/>
            <a:ext cx="21123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cap="none" spc="0">
                <a:ln/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Convolutional (filter) layer 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27E6DA-C4A6-8DD2-8D9B-3C674C754372}"/>
              </a:ext>
            </a:extLst>
          </p:cNvPr>
          <p:cNvSpPr/>
          <p:nvPr/>
        </p:nvSpPr>
        <p:spPr>
          <a:xfrm>
            <a:off x="4270248" y="4441553"/>
            <a:ext cx="12570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cap="none" spc="0">
                <a:ln/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Max Pool 1</a:t>
            </a:r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BB43B627-414E-255E-083D-462A8EDEFBEE}"/>
              </a:ext>
            </a:extLst>
          </p:cNvPr>
          <p:cNvSpPr/>
          <p:nvPr/>
        </p:nvSpPr>
        <p:spPr>
          <a:xfrm>
            <a:off x="1763099" y="3575784"/>
            <a:ext cx="359657" cy="1511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C63F936D-D209-B091-5243-9D5E4A4BF7EF}"/>
              </a:ext>
            </a:extLst>
          </p:cNvPr>
          <p:cNvSpPr/>
          <p:nvPr/>
        </p:nvSpPr>
        <p:spPr>
          <a:xfrm>
            <a:off x="3876811" y="3595374"/>
            <a:ext cx="359657" cy="1511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F8050434-DCE7-27E7-6CC5-3648F42A22F9}"/>
              </a:ext>
            </a:extLst>
          </p:cNvPr>
          <p:cNvSpPr/>
          <p:nvPr/>
        </p:nvSpPr>
        <p:spPr>
          <a:xfrm>
            <a:off x="5438187" y="3614817"/>
            <a:ext cx="359657" cy="1511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000AD09-8E88-5DD5-D6EB-79710839D105}"/>
              </a:ext>
            </a:extLst>
          </p:cNvPr>
          <p:cNvSpPr/>
          <p:nvPr/>
        </p:nvSpPr>
        <p:spPr>
          <a:xfrm>
            <a:off x="5824096" y="2727158"/>
            <a:ext cx="1150196" cy="10688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CB61960-DA9C-5D36-39EA-9AB44A9A76D9}"/>
              </a:ext>
            </a:extLst>
          </p:cNvPr>
          <p:cNvSpPr/>
          <p:nvPr/>
        </p:nvSpPr>
        <p:spPr>
          <a:xfrm>
            <a:off x="5976496" y="2879558"/>
            <a:ext cx="1150196" cy="10688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F249D6A-25A0-CFEC-59C6-2AD20E145361}"/>
              </a:ext>
            </a:extLst>
          </p:cNvPr>
          <p:cNvSpPr/>
          <p:nvPr/>
        </p:nvSpPr>
        <p:spPr>
          <a:xfrm>
            <a:off x="6096000" y="3107858"/>
            <a:ext cx="1150196" cy="10688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7F0368F-1CCE-C83F-3E06-9630CBCAD178}"/>
              </a:ext>
            </a:extLst>
          </p:cNvPr>
          <p:cNvSpPr/>
          <p:nvPr/>
        </p:nvSpPr>
        <p:spPr>
          <a:xfrm>
            <a:off x="7893457" y="3052921"/>
            <a:ext cx="884406" cy="8189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C71DB10-372D-0FDA-222B-1AAB2E0241D8}"/>
              </a:ext>
            </a:extLst>
          </p:cNvPr>
          <p:cNvSpPr/>
          <p:nvPr/>
        </p:nvSpPr>
        <p:spPr>
          <a:xfrm>
            <a:off x="8045857" y="3205321"/>
            <a:ext cx="884406" cy="8189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65F8CC5-600D-2B3D-F175-D40E5722CF24}"/>
              </a:ext>
            </a:extLst>
          </p:cNvPr>
          <p:cNvSpPr/>
          <p:nvPr/>
        </p:nvSpPr>
        <p:spPr>
          <a:xfrm>
            <a:off x="8044455" y="3205321"/>
            <a:ext cx="165197" cy="163167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F5135D6-66C1-8DF2-3ADE-AB674C8DD933}"/>
              </a:ext>
            </a:extLst>
          </p:cNvPr>
          <p:cNvSpPr/>
          <p:nvPr/>
        </p:nvSpPr>
        <p:spPr>
          <a:xfrm>
            <a:off x="6988415" y="3109061"/>
            <a:ext cx="256379" cy="226119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7A16A5F-528B-65C6-CDF3-1090321DDFBF}"/>
              </a:ext>
            </a:extLst>
          </p:cNvPr>
          <p:cNvCxnSpPr>
            <a:cxnSpLocks/>
          </p:cNvCxnSpPr>
          <p:nvPr/>
        </p:nvCxnSpPr>
        <p:spPr>
          <a:xfrm>
            <a:off x="6985982" y="3123346"/>
            <a:ext cx="1058473" cy="819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36B5367-DF8A-CFC3-046F-B7AC5456E6B1}"/>
              </a:ext>
            </a:extLst>
          </p:cNvPr>
          <p:cNvCxnSpPr>
            <a:cxnSpLocks/>
          </p:cNvCxnSpPr>
          <p:nvPr/>
        </p:nvCxnSpPr>
        <p:spPr>
          <a:xfrm>
            <a:off x="6981994" y="3334788"/>
            <a:ext cx="1062461" cy="409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522D1DC-5BE8-0B4B-29FF-D9F44E31EC40}"/>
              </a:ext>
            </a:extLst>
          </p:cNvPr>
          <p:cNvCxnSpPr>
            <a:cxnSpLocks/>
            <a:endCxn id="69" idx="0"/>
          </p:cNvCxnSpPr>
          <p:nvPr/>
        </p:nvCxnSpPr>
        <p:spPr>
          <a:xfrm>
            <a:off x="7244794" y="3108627"/>
            <a:ext cx="882260" cy="966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4C513C5-4E5F-0465-12F5-795F7636A42A}"/>
              </a:ext>
            </a:extLst>
          </p:cNvPr>
          <p:cNvCxnSpPr>
            <a:cxnSpLocks/>
          </p:cNvCxnSpPr>
          <p:nvPr/>
        </p:nvCxnSpPr>
        <p:spPr>
          <a:xfrm>
            <a:off x="7251215" y="3334788"/>
            <a:ext cx="950704" cy="409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rrow: Right 74">
            <a:extLst>
              <a:ext uri="{FF2B5EF4-FFF2-40B4-BE49-F238E27FC236}">
                <a16:creationId xmlns:a16="http://schemas.microsoft.com/office/drawing/2014/main" id="{7B9402B1-A7B0-C6ED-350B-D89005480DAD}"/>
              </a:ext>
            </a:extLst>
          </p:cNvPr>
          <p:cNvSpPr/>
          <p:nvPr/>
        </p:nvSpPr>
        <p:spPr>
          <a:xfrm>
            <a:off x="7419687" y="3595374"/>
            <a:ext cx="359657" cy="1511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77FC86D-E3B9-8DE0-5750-0D3AEF0D0A79}"/>
              </a:ext>
            </a:extLst>
          </p:cNvPr>
          <p:cNvSpPr/>
          <p:nvPr/>
        </p:nvSpPr>
        <p:spPr>
          <a:xfrm>
            <a:off x="5644749" y="4487719"/>
            <a:ext cx="21123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cap="none" spc="0">
                <a:ln/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Convolutional (filter) layer 2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71C1637-F9F4-B164-D938-6CF943468F9F}"/>
              </a:ext>
            </a:extLst>
          </p:cNvPr>
          <p:cNvSpPr/>
          <p:nvPr/>
        </p:nvSpPr>
        <p:spPr>
          <a:xfrm>
            <a:off x="7790208" y="4411008"/>
            <a:ext cx="12570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cap="none" spc="0">
                <a:ln/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Max Pool 2</a:t>
            </a:r>
          </a:p>
        </p:txBody>
      </p:sp>
      <p:sp>
        <p:nvSpPr>
          <p:cNvPr id="78" name="Right Brace 77">
            <a:extLst>
              <a:ext uri="{FF2B5EF4-FFF2-40B4-BE49-F238E27FC236}">
                <a16:creationId xmlns:a16="http://schemas.microsoft.com/office/drawing/2014/main" id="{36C29E31-6C4F-4415-4F13-E77B06DCD0E6}"/>
              </a:ext>
            </a:extLst>
          </p:cNvPr>
          <p:cNvSpPr/>
          <p:nvPr/>
        </p:nvSpPr>
        <p:spPr>
          <a:xfrm rot="5400000">
            <a:off x="8446025" y="2422580"/>
            <a:ext cx="380902" cy="5677264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C3D6EF4-A527-5E44-D31B-0D318CD4D4A8}"/>
              </a:ext>
            </a:extLst>
          </p:cNvPr>
          <p:cNvSpPr/>
          <p:nvPr/>
        </p:nvSpPr>
        <p:spPr>
          <a:xfrm>
            <a:off x="9585232" y="3454108"/>
            <a:ext cx="21123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cap="none" spc="0">
                <a:ln/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…. and a lot more layers</a:t>
            </a:r>
          </a:p>
        </p:txBody>
      </p:sp>
      <p:sp>
        <p:nvSpPr>
          <p:cNvPr id="80" name="Arrow: Right 79">
            <a:extLst>
              <a:ext uri="{FF2B5EF4-FFF2-40B4-BE49-F238E27FC236}">
                <a16:creationId xmlns:a16="http://schemas.microsoft.com/office/drawing/2014/main" id="{5D787397-7289-2318-37DF-0091EF9382A4}"/>
              </a:ext>
            </a:extLst>
          </p:cNvPr>
          <p:cNvSpPr/>
          <p:nvPr/>
        </p:nvSpPr>
        <p:spPr>
          <a:xfrm>
            <a:off x="9110800" y="3642286"/>
            <a:ext cx="359657" cy="1511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CEC1CC6-E62D-596F-5C9E-B330B96855DC}"/>
              </a:ext>
            </a:extLst>
          </p:cNvPr>
          <p:cNvSpPr/>
          <p:nvPr/>
        </p:nvSpPr>
        <p:spPr>
          <a:xfrm>
            <a:off x="5837799" y="5485203"/>
            <a:ext cx="5677264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cap="none" spc="0" err="1">
                <a:ln/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ResNet</a:t>
            </a:r>
            <a:r>
              <a:rPr lang="en-US" sz="1600" b="1" cap="none" spc="0">
                <a:ln/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skips here by replacing a Residual block!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4624A9F-3AF2-AF43-7C74-1188B53BA995}"/>
              </a:ext>
            </a:extLst>
          </p:cNvPr>
          <p:cNvSpPr/>
          <p:nvPr/>
        </p:nvSpPr>
        <p:spPr>
          <a:xfrm>
            <a:off x="7850673" y="2285861"/>
            <a:ext cx="1248821" cy="2537466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>
                <a:latin typeface="Arial" panose="020B0604020202020204" pitchFamily="34" charset="0"/>
                <a:cs typeface="Arial" panose="020B0604020202020204" pitchFamily="34" charset="0"/>
              </a:rPr>
              <a:t>Residual block 2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3FD50AA-1673-7078-E721-00276F7D3FCE}"/>
              </a:ext>
            </a:extLst>
          </p:cNvPr>
          <p:cNvSpPr/>
          <p:nvPr/>
        </p:nvSpPr>
        <p:spPr>
          <a:xfrm>
            <a:off x="9520793" y="2281026"/>
            <a:ext cx="1248821" cy="2537466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>
                <a:latin typeface="Arial" panose="020B0604020202020204" pitchFamily="34" charset="0"/>
                <a:cs typeface="Arial" panose="020B0604020202020204" pitchFamily="34" charset="0"/>
              </a:rPr>
              <a:t>Residual block 3</a:t>
            </a:r>
          </a:p>
        </p:txBody>
      </p:sp>
      <p:sp>
        <p:nvSpPr>
          <p:cNvPr id="87" name="Arrow: Right 86">
            <a:extLst>
              <a:ext uri="{FF2B5EF4-FFF2-40B4-BE49-F238E27FC236}">
                <a16:creationId xmlns:a16="http://schemas.microsoft.com/office/drawing/2014/main" id="{2EE65AAE-068E-094E-8C62-4787E98BEE1B}"/>
              </a:ext>
            </a:extLst>
          </p:cNvPr>
          <p:cNvSpPr/>
          <p:nvPr/>
        </p:nvSpPr>
        <p:spPr>
          <a:xfrm>
            <a:off x="5457376" y="3398637"/>
            <a:ext cx="359657" cy="1511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Arrow: Right 87">
            <a:extLst>
              <a:ext uri="{FF2B5EF4-FFF2-40B4-BE49-F238E27FC236}">
                <a16:creationId xmlns:a16="http://schemas.microsoft.com/office/drawing/2014/main" id="{E692FD9D-8D72-E8DF-5E73-30F3CCDB737D}"/>
              </a:ext>
            </a:extLst>
          </p:cNvPr>
          <p:cNvSpPr/>
          <p:nvPr/>
        </p:nvSpPr>
        <p:spPr>
          <a:xfrm>
            <a:off x="7448859" y="3378547"/>
            <a:ext cx="359657" cy="1511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Arrow: Right 88">
            <a:extLst>
              <a:ext uri="{FF2B5EF4-FFF2-40B4-BE49-F238E27FC236}">
                <a16:creationId xmlns:a16="http://schemas.microsoft.com/office/drawing/2014/main" id="{018F6D6D-411A-2D0E-D3A7-286C8DEB9055}"/>
              </a:ext>
            </a:extLst>
          </p:cNvPr>
          <p:cNvSpPr/>
          <p:nvPr/>
        </p:nvSpPr>
        <p:spPr>
          <a:xfrm>
            <a:off x="9119884" y="3368488"/>
            <a:ext cx="359657" cy="1511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16F3B1D8-D602-BE39-BB2C-86DE8F46A613}"/>
              </a:ext>
            </a:extLst>
          </p:cNvPr>
          <p:cNvSpPr/>
          <p:nvPr/>
        </p:nvSpPr>
        <p:spPr>
          <a:xfrm rot="16200000">
            <a:off x="8106366" y="-33721"/>
            <a:ext cx="413121" cy="4169213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27A3D9-9751-D7A3-3ED2-759D75FD826D}"/>
              </a:ext>
            </a:extLst>
          </p:cNvPr>
          <p:cNvSpPr/>
          <p:nvPr/>
        </p:nvSpPr>
        <p:spPr>
          <a:xfrm>
            <a:off x="6338865" y="1347021"/>
            <a:ext cx="372610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>
                <a:ln/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Residual blocks can ‘remember’ the original input which is the skip path</a:t>
            </a:r>
            <a:endParaRPr lang="en-US" sz="1600" b="1" cap="none" spc="0">
              <a:ln/>
              <a:solidFill>
                <a:schemeClr val="tx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2376907-85B9-0447-3844-139BD7C13990}"/>
              </a:ext>
            </a:extLst>
          </p:cNvPr>
          <p:cNvSpPr/>
          <p:nvPr/>
        </p:nvSpPr>
        <p:spPr>
          <a:xfrm>
            <a:off x="6088267" y="2300383"/>
            <a:ext cx="1248821" cy="2537466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>
                <a:latin typeface="Arial" panose="020B0604020202020204" pitchFamily="34" charset="0"/>
                <a:cs typeface="Arial" panose="020B0604020202020204" pitchFamily="34" charset="0"/>
              </a:rPr>
              <a:t>Residual block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34E738-EA5B-C6F2-3115-1EC11B652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GB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6D1C869-841A-82B8-C563-07C04EAE8BEE}"/>
              </a:ext>
            </a:extLst>
          </p:cNvPr>
          <p:cNvSpPr/>
          <p:nvPr/>
        </p:nvSpPr>
        <p:spPr>
          <a:xfrm>
            <a:off x="332366" y="373254"/>
            <a:ext cx="2944325" cy="600585"/>
          </a:xfrm>
          <a:prstGeom prst="roundRect">
            <a:avLst>
              <a:gd name="adj" fmla="val 2026"/>
            </a:avLst>
          </a:prstGeom>
          <a:solidFill>
            <a:schemeClr val="bg1"/>
          </a:solidFill>
          <a:ln w="12700">
            <a:solidFill>
              <a:srgbClr val="3E56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>
                <a:solidFill>
                  <a:srgbClr val="222F4A"/>
                </a:solidFill>
              </a:rPr>
              <a:t>Resnet 18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7E9A8E4-8770-6F54-00E4-9C804E7566C6}"/>
              </a:ext>
            </a:extLst>
          </p:cNvPr>
          <p:cNvSpPr/>
          <p:nvPr/>
        </p:nvSpPr>
        <p:spPr>
          <a:xfrm>
            <a:off x="415576" y="156437"/>
            <a:ext cx="2172501" cy="353996"/>
          </a:xfrm>
          <a:prstGeom prst="roundRect">
            <a:avLst>
              <a:gd name="adj" fmla="val 50000"/>
            </a:avLst>
          </a:prstGeom>
          <a:solidFill>
            <a:srgbClr val="3E5687"/>
          </a:solidFill>
          <a:ln>
            <a:solidFill>
              <a:srgbClr val="7C90D3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Choose backbone</a:t>
            </a:r>
            <a:endParaRPr lang="en-AU" sz="1400" b="1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EB3E08B-6D67-B063-CFA3-E47929882942}"/>
              </a:ext>
            </a:extLst>
          </p:cNvPr>
          <p:cNvSpPr/>
          <p:nvPr/>
        </p:nvSpPr>
        <p:spPr>
          <a:xfrm>
            <a:off x="295547" y="250460"/>
            <a:ext cx="203200" cy="2032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E5687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050">
                <a:solidFill>
                  <a:srgbClr val="222F4A"/>
                </a:solidFill>
              </a:rPr>
              <a:t>1</a:t>
            </a:r>
            <a:endParaRPr lang="en-AU" sz="1050">
              <a:solidFill>
                <a:srgbClr val="222F4A"/>
              </a:solidFill>
            </a:endParaRP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2FC70364-00AF-166A-39BE-EC5DBB04976D}"/>
              </a:ext>
            </a:extLst>
          </p:cNvPr>
          <p:cNvCxnSpPr>
            <a:cxnSpLocks/>
          </p:cNvCxnSpPr>
          <p:nvPr/>
        </p:nvCxnSpPr>
        <p:spPr>
          <a:xfrm>
            <a:off x="5016500" y="3111500"/>
            <a:ext cx="635000" cy="1270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8038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5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 build="allAtOnce"/>
      <p:bldP spid="5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5" grpId="0" animBg="1"/>
      <p:bldP spid="76" grpId="0"/>
      <p:bldP spid="77" grpId="0"/>
      <p:bldP spid="78" grpId="0" animBg="1"/>
      <p:bldP spid="79" grpId="0"/>
      <p:bldP spid="80" grpId="0" animBg="1"/>
      <p:bldP spid="81" grpId="0"/>
      <p:bldP spid="83" grpId="0" animBg="1"/>
      <p:bldP spid="86" grpId="0" animBg="1"/>
      <p:bldP spid="87" grpId="0" animBg="1"/>
      <p:bldP spid="88" grpId="0" animBg="1"/>
      <p:bldP spid="89" grpId="0" animBg="1"/>
      <p:bldP spid="4" grpId="0" animBg="1"/>
      <p:bldP spid="5" grpId="0"/>
      <p:bldP spid="8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D7B95-5C2F-21FA-C0AF-9F7310B31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863D19-91B6-C1B3-898B-7D22A8B714C3}"/>
              </a:ext>
            </a:extLst>
          </p:cNvPr>
          <p:cNvSpPr/>
          <p:nvPr/>
        </p:nvSpPr>
        <p:spPr>
          <a:xfrm>
            <a:off x="0" y="1422400"/>
            <a:ext cx="12192000" cy="4612640"/>
          </a:xfrm>
          <a:prstGeom prst="rect">
            <a:avLst/>
          </a:prstGeom>
          <a:solidFill>
            <a:srgbClr val="F6F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26B73AB-A300-14E4-D90F-D4E56B074B9E}"/>
              </a:ext>
            </a:extLst>
          </p:cNvPr>
          <p:cNvSpPr/>
          <p:nvPr/>
        </p:nvSpPr>
        <p:spPr>
          <a:xfrm>
            <a:off x="4323857" y="2096587"/>
            <a:ext cx="884406" cy="8189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BAA9C5-B5A1-137C-D04B-00DB0B8D9A6D}"/>
              </a:ext>
            </a:extLst>
          </p:cNvPr>
          <p:cNvSpPr/>
          <p:nvPr/>
        </p:nvSpPr>
        <p:spPr>
          <a:xfrm>
            <a:off x="3953591" y="207938"/>
            <a:ext cx="492795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914400" indent="-914400">
              <a:buAutoNum type="arabicPeriod"/>
            </a:pPr>
            <a:r>
              <a:rPr lang="en-US" sz="2400" b="0" cap="none" spc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  <a:cs typeface="Arial" panose="020B0604020202020204" pitchFamily="34" charset="0"/>
              </a:rPr>
              <a:t>Features reuse</a:t>
            </a:r>
          </a:p>
          <a:p>
            <a:pPr marL="914400" indent="-914400">
              <a:buAutoNum type="arabicPeriod"/>
            </a:pPr>
            <a:r>
              <a:rPr lang="en-US" sz="240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  <a:cs typeface="Arial" panose="020B0604020202020204" pitchFamily="34" charset="0"/>
              </a:rPr>
              <a:t>Reduces parameter usage</a:t>
            </a:r>
            <a:endParaRPr lang="en-US" sz="2400" b="0" cap="none" spc="0">
              <a:ln w="0"/>
              <a:solidFill>
                <a:schemeClr val="accent6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ahnschrift" panose="020B0502040204020203" pitchFamily="34" charset="0"/>
              <a:cs typeface="Arial" panose="020B0604020202020204" pitchFamily="34" charset="0"/>
            </a:endParaRPr>
          </a:p>
          <a:p>
            <a:pPr marL="914400" indent="-914400">
              <a:buAutoNum type="arabicPeriod"/>
            </a:pPr>
            <a:r>
              <a:rPr lang="en-US" sz="240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  <a:cs typeface="Arial" panose="020B0604020202020204" pitchFamily="34" charset="0"/>
              </a:rPr>
              <a:t>Combats gradient vanishing</a:t>
            </a:r>
            <a:endParaRPr lang="en-US" sz="2400" b="0" cap="none" spc="0">
              <a:ln w="0"/>
              <a:solidFill>
                <a:schemeClr val="accent6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ahnschrift" panose="020B0502040204020203" pitchFamily="34" charset="0"/>
              <a:cs typeface="Arial" panose="020B0604020202020204" pitchFamily="34" charset="0"/>
            </a:endParaRPr>
          </a:p>
          <a:p>
            <a:pPr marL="914400" indent="-914400">
              <a:buAutoNum type="arabicPeriod"/>
            </a:pPr>
            <a:endParaRPr lang="en-US" sz="2400" b="0" cap="none" spc="0">
              <a:ln w="0"/>
              <a:solidFill>
                <a:schemeClr val="accent6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E8BEF5-004C-00FF-FB1B-40FACA8AAC42}"/>
              </a:ext>
            </a:extLst>
          </p:cNvPr>
          <p:cNvSpPr/>
          <p:nvPr/>
        </p:nvSpPr>
        <p:spPr>
          <a:xfrm>
            <a:off x="550934" y="2040190"/>
            <a:ext cx="1150196" cy="10688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75FB49F-09BA-F49D-CCDB-17CFB01F36F4}"/>
              </a:ext>
            </a:extLst>
          </p:cNvPr>
          <p:cNvSpPr/>
          <p:nvPr/>
        </p:nvSpPr>
        <p:spPr>
          <a:xfrm>
            <a:off x="2312049" y="1963550"/>
            <a:ext cx="1150196" cy="10688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BABC6EC-B146-FD29-5EDC-1312B7D1F277}"/>
              </a:ext>
            </a:extLst>
          </p:cNvPr>
          <p:cNvSpPr/>
          <p:nvPr/>
        </p:nvSpPr>
        <p:spPr>
          <a:xfrm>
            <a:off x="2464449" y="2115950"/>
            <a:ext cx="1150196" cy="10688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62D9987-F7A0-78CA-150E-A8D56EC22C82}"/>
              </a:ext>
            </a:extLst>
          </p:cNvPr>
          <p:cNvSpPr/>
          <p:nvPr/>
        </p:nvSpPr>
        <p:spPr>
          <a:xfrm>
            <a:off x="2616849" y="2268350"/>
            <a:ext cx="1150196" cy="10688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805E25-A769-7D19-C8EC-82CDECBEA17D}"/>
              </a:ext>
            </a:extLst>
          </p:cNvPr>
          <p:cNvSpPr/>
          <p:nvPr/>
        </p:nvSpPr>
        <p:spPr>
          <a:xfrm>
            <a:off x="4414306" y="2213413"/>
            <a:ext cx="884406" cy="8189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EC5525A-C95E-ECC0-112B-CC21BD12590D}"/>
              </a:ext>
            </a:extLst>
          </p:cNvPr>
          <p:cNvSpPr/>
          <p:nvPr/>
        </p:nvSpPr>
        <p:spPr>
          <a:xfrm>
            <a:off x="4566706" y="2365813"/>
            <a:ext cx="884406" cy="8189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A285D18-43AE-A4A3-C199-7F8CEB590A55}"/>
              </a:ext>
            </a:extLst>
          </p:cNvPr>
          <p:cNvSpPr/>
          <p:nvPr/>
        </p:nvSpPr>
        <p:spPr>
          <a:xfrm>
            <a:off x="550933" y="2040190"/>
            <a:ext cx="342240" cy="306607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797C75B-4043-8216-3B06-1B37C0256866}"/>
              </a:ext>
            </a:extLst>
          </p:cNvPr>
          <p:cNvSpPr/>
          <p:nvPr/>
        </p:nvSpPr>
        <p:spPr>
          <a:xfrm>
            <a:off x="2616849" y="2269553"/>
            <a:ext cx="256379" cy="226119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8E4FD5D-B4C8-1F6F-A7E5-D1E9920F111B}"/>
              </a:ext>
            </a:extLst>
          </p:cNvPr>
          <p:cNvSpPr/>
          <p:nvPr/>
        </p:nvSpPr>
        <p:spPr>
          <a:xfrm>
            <a:off x="4565304" y="2365813"/>
            <a:ext cx="165197" cy="163167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248C85E-11A1-A469-06C0-EBF3761640CB}"/>
              </a:ext>
            </a:extLst>
          </p:cNvPr>
          <p:cNvCxnSpPr>
            <a:cxnSpLocks/>
          </p:cNvCxnSpPr>
          <p:nvPr/>
        </p:nvCxnSpPr>
        <p:spPr>
          <a:xfrm>
            <a:off x="567640" y="2040050"/>
            <a:ext cx="2049209" cy="2283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B0169AF-F1EC-6042-9B2F-A09FA87756C4}"/>
              </a:ext>
            </a:extLst>
          </p:cNvPr>
          <p:cNvCxnSpPr>
            <a:cxnSpLocks/>
          </p:cNvCxnSpPr>
          <p:nvPr/>
        </p:nvCxnSpPr>
        <p:spPr>
          <a:xfrm>
            <a:off x="567640" y="2348000"/>
            <a:ext cx="2040693" cy="1476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967734D-4AFA-5B49-4C9C-2C21C31E3BB5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880554" y="2046041"/>
            <a:ext cx="1864485" cy="2235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6662756-3FD0-8C5E-0732-37510A770E97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901689" y="2344550"/>
            <a:ext cx="1843350" cy="1511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012F3ABA-8607-5F87-FF45-C0955D730D4E}"/>
              </a:ext>
            </a:extLst>
          </p:cNvPr>
          <p:cNvSpPr/>
          <p:nvPr/>
        </p:nvSpPr>
        <p:spPr>
          <a:xfrm>
            <a:off x="3509264" y="2269553"/>
            <a:ext cx="256379" cy="226119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9310145-DF8C-60F7-B3D2-ACD03BF96622}"/>
              </a:ext>
            </a:extLst>
          </p:cNvPr>
          <p:cNvCxnSpPr>
            <a:cxnSpLocks/>
          </p:cNvCxnSpPr>
          <p:nvPr/>
        </p:nvCxnSpPr>
        <p:spPr>
          <a:xfrm>
            <a:off x="3506831" y="2283838"/>
            <a:ext cx="1058473" cy="819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0238DE7-5A37-3F1B-D281-CF8E53CDF7FD}"/>
              </a:ext>
            </a:extLst>
          </p:cNvPr>
          <p:cNvCxnSpPr>
            <a:cxnSpLocks/>
          </p:cNvCxnSpPr>
          <p:nvPr/>
        </p:nvCxnSpPr>
        <p:spPr>
          <a:xfrm>
            <a:off x="3502843" y="2495280"/>
            <a:ext cx="1062461" cy="409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A53C568-AE1D-BB90-43BD-CD9A1D514B8D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3765643" y="2269119"/>
            <a:ext cx="882260" cy="966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B75F181-47C1-AFCD-ABFC-6D423ACB9169}"/>
              </a:ext>
            </a:extLst>
          </p:cNvPr>
          <p:cNvCxnSpPr>
            <a:cxnSpLocks/>
          </p:cNvCxnSpPr>
          <p:nvPr/>
        </p:nvCxnSpPr>
        <p:spPr>
          <a:xfrm>
            <a:off x="3772064" y="2495280"/>
            <a:ext cx="950704" cy="409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5454555E-9E80-27A3-3CFF-36332E125FC0}"/>
              </a:ext>
            </a:extLst>
          </p:cNvPr>
          <p:cNvSpPr/>
          <p:nvPr/>
        </p:nvSpPr>
        <p:spPr>
          <a:xfrm>
            <a:off x="545585" y="3645296"/>
            <a:ext cx="116089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cap="none" spc="0">
                <a:ln/>
                <a:solidFill>
                  <a:schemeClr val="tx2"/>
                </a:solidFill>
                <a:effectLst/>
                <a:latin typeface="Bahnschrift" panose="020B0502040204020203" pitchFamily="34" charset="0"/>
                <a:cs typeface="Arial" panose="020B0604020202020204" pitchFamily="34" charset="0"/>
              </a:rPr>
              <a:t>Input layer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A04B8F0-1745-D9ED-8712-AD742AD3C785}"/>
              </a:ext>
            </a:extLst>
          </p:cNvPr>
          <p:cNvSpPr/>
          <p:nvPr/>
        </p:nvSpPr>
        <p:spPr>
          <a:xfrm>
            <a:off x="1983994" y="3645296"/>
            <a:ext cx="21123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cap="none" spc="0">
                <a:ln/>
                <a:solidFill>
                  <a:schemeClr val="tx2"/>
                </a:solidFill>
                <a:effectLst/>
                <a:latin typeface="Bahnschrift" panose="020B0502040204020203" pitchFamily="34" charset="0"/>
                <a:cs typeface="Arial" panose="020B0604020202020204" pitchFamily="34" charset="0"/>
              </a:rPr>
              <a:t>Convolutional </a:t>
            </a:r>
            <a:r>
              <a:rPr lang="en-US" sz="1600" b="1">
                <a:ln/>
                <a:solidFill>
                  <a:schemeClr val="tx2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l</a:t>
            </a:r>
            <a:r>
              <a:rPr lang="en-US" sz="1600" b="1" cap="none" spc="0">
                <a:ln/>
                <a:solidFill>
                  <a:schemeClr val="tx2"/>
                </a:solidFill>
                <a:effectLst/>
                <a:latin typeface="Bahnschrift" panose="020B0502040204020203" pitchFamily="34" charset="0"/>
                <a:cs typeface="Arial" panose="020B0604020202020204" pitchFamily="34" charset="0"/>
              </a:rPr>
              <a:t>ayer 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D376729-457F-E4CC-E218-046450DC1E15}"/>
              </a:ext>
            </a:extLst>
          </p:cNvPr>
          <p:cNvSpPr/>
          <p:nvPr/>
        </p:nvSpPr>
        <p:spPr>
          <a:xfrm>
            <a:off x="4217197" y="3645296"/>
            <a:ext cx="1500732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>
                <a:ln/>
                <a:solidFill>
                  <a:schemeClr val="tx2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Pooling layer 1</a:t>
            </a:r>
            <a:endParaRPr lang="en-US" sz="1600" b="1" cap="none" spc="0">
              <a:ln/>
              <a:solidFill>
                <a:schemeClr val="tx2"/>
              </a:solidFill>
              <a:effectLst/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57A449F9-5425-F2E2-C6FD-741EAB22A8DF}"/>
              </a:ext>
            </a:extLst>
          </p:cNvPr>
          <p:cNvSpPr/>
          <p:nvPr/>
        </p:nvSpPr>
        <p:spPr>
          <a:xfrm>
            <a:off x="1826824" y="2736276"/>
            <a:ext cx="359657" cy="1511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B21CBD4F-4177-C1CA-302F-C3EC2C188F13}"/>
              </a:ext>
            </a:extLst>
          </p:cNvPr>
          <p:cNvSpPr/>
          <p:nvPr/>
        </p:nvSpPr>
        <p:spPr>
          <a:xfrm>
            <a:off x="3904586" y="2722613"/>
            <a:ext cx="359657" cy="1511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0E9C2C8E-36EB-7540-0F45-BD81262E87E1}"/>
              </a:ext>
            </a:extLst>
          </p:cNvPr>
          <p:cNvSpPr/>
          <p:nvPr/>
        </p:nvSpPr>
        <p:spPr>
          <a:xfrm>
            <a:off x="5587929" y="2776587"/>
            <a:ext cx="359657" cy="1511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29AB6532-3148-0C27-AAB5-26F3ADE2A9CA}"/>
              </a:ext>
            </a:extLst>
          </p:cNvPr>
          <p:cNvSpPr/>
          <p:nvPr/>
        </p:nvSpPr>
        <p:spPr>
          <a:xfrm>
            <a:off x="6016901" y="1993198"/>
            <a:ext cx="714680" cy="6297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7C6C57A7-3076-C5E9-536A-8131CF4DE901}"/>
              </a:ext>
            </a:extLst>
          </p:cNvPr>
          <p:cNvSpPr/>
          <p:nvPr/>
        </p:nvSpPr>
        <p:spPr>
          <a:xfrm>
            <a:off x="6120139" y="2145598"/>
            <a:ext cx="714680" cy="6297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527BA0A1-8EFF-5500-E044-B0A3E97F88FB}"/>
              </a:ext>
            </a:extLst>
          </p:cNvPr>
          <p:cNvSpPr/>
          <p:nvPr/>
        </p:nvSpPr>
        <p:spPr>
          <a:xfrm>
            <a:off x="6265167" y="2297998"/>
            <a:ext cx="714680" cy="6297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04EA4B7D-E85E-003A-9FCC-026CB32DC33A}"/>
              </a:ext>
            </a:extLst>
          </p:cNvPr>
          <p:cNvSpPr/>
          <p:nvPr/>
        </p:nvSpPr>
        <p:spPr>
          <a:xfrm>
            <a:off x="6417567" y="2450398"/>
            <a:ext cx="714680" cy="6297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7AD978A6-59B0-776E-AAD6-07BD1DDC4F10}"/>
              </a:ext>
            </a:extLst>
          </p:cNvPr>
          <p:cNvSpPr/>
          <p:nvPr/>
        </p:nvSpPr>
        <p:spPr>
          <a:xfrm>
            <a:off x="6569967" y="2602798"/>
            <a:ext cx="714680" cy="6297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F8F87FF-797D-55FA-9491-E55FF02C5D65}"/>
              </a:ext>
            </a:extLst>
          </p:cNvPr>
          <p:cNvSpPr/>
          <p:nvPr/>
        </p:nvSpPr>
        <p:spPr>
          <a:xfrm>
            <a:off x="6722367" y="2755198"/>
            <a:ext cx="714680" cy="6297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9548DCB4-F76F-85DE-C7A8-76C44537F5AB}"/>
              </a:ext>
            </a:extLst>
          </p:cNvPr>
          <p:cNvSpPr/>
          <p:nvPr/>
        </p:nvSpPr>
        <p:spPr>
          <a:xfrm>
            <a:off x="8047105" y="2402416"/>
            <a:ext cx="499762" cy="4430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9A767CC3-D1C3-2C8E-8594-D1A9A17CE856}"/>
              </a:ext>
            </a:extLst>
          </p:cNvPr>
          <p:cNvSpPr/>
          <p:nvPr/>
        </p:nvSpPr>
        <p:spPr>
          <a:xfrm>
            <a:off x="8150343" y="2554816"/>
            <a:ext cx="499762" cy="4430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E2B2839-B79B-6D5A-F428-22CEF776E9F3}"/>
              </a:ext>
            </a:extLst>
          </p:cNvPr>
          <p:cNvSpPr/>
          <p:nvPr/>
        </p:nvSpPr>
        <p:spPr>
          <a:xfrm>
            <a:off x="8295371" y="2707216"/>
            <a:ext cx="499762" cy="4430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B3E0156B-3795-1BEB-A3DC-C507EF8ABD89}"/>
              </a:ext>
            </a:extLst>
          </p:cNvPr>
          <p:cNvSpPr/>
          <p:nvPr/>
        </p:nvSpPr>
        <p:spPr>
          <a:xfrm>
            <a:off x="8447771" y="2859616"/>
            <a:ext cx="499762" cy="4430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4CF8A02-6CC2-3BCB-B35C-908E45FD0A04}"/>
              </a:ext>
            </a:extLst>
          </p:cNvPr>
          <p:cNvSpPr/>
          <p:nvPr/>
        </p:nvSpPr>
        <p:spPr>
          <a:xfrm>
            <a:off x="8600171" y="3012016"/>
            <a:ext cx="499762" cy="4430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81092D9D-E3EC-1ACB-5105-5488DCD84AB4}"/>
              </a:ext>
            </a:extLst>
          </p:cNvPr>
          <p:cNvSpPr/>
          <p:nvPr/>
        </p:nvSpPr>
        <p:spPr>
          <a:xfrm>
            <a:off x="8752571" y="3164416"/>
            <a:ext cx="499762" cy="4430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130" name="Arrow: Right 129">
            <a:extLst>
              <a:ext uri="{FF2B5EF4-FFF2-40B4-BE49-F238E27FC236}">
                <a16:creationId xmlns:a16="http://schemas.microsoft.com/office/drawing/2014/main" id="{25C32BA8-4683-E065-CD14-C2E249768C2C}"/>
              </a:ext>
            </a:extLst>
          </p:cNvPr>
          <p:cNvSpPr/>
          <p:nvPr/>
        </p:nvSpPr>
        <p:spPr>
          <a:xfrm>
            <a:off x="7768764" y="3199245"/>
            <a:ext cx="359657" cy="1511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460BBB9-0CFA-0530-E20F-9F4F0780C34C}"/>
              </a:ext>
            </a:extLst>
          </p:cNvPr>
          <p:cNvSpPr/>
          <p:nvPr/>
        </p:nvSpPr>
        <p:spPr>
          <a:xfrm>
            <a:off x="5923697" y="3607459"/>
            <a:ext cx="21123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cap="none" spc="0">
                <a:ln/>
                <a:solidFill>
                  <a:schemeClr val="tx2"/>
                </a:solidFill>
                <a:effectLst/>
                <a:latin typeface="Bahnschrift" panose="020B0502040204020203" pitchFamily="34" charset="0"/>
                <a:cs typeface="Arial" panose="020B0604020202020204" pitchFamily="34" charset="0"/>
              </a:rPr>
              <a:t>Convolutional </a:t>
            </a:r>
            <a:r>
              <a:rPr lang="en-US" sz="1600" b="1">
                <a:ln/>
                <a:solidFill>
                  <a:schemeClr val="tx2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l</a:t>
            </a:r>
            <a:r>
              <a:rPr lang="en-US" sz="1600" b="1" cap="none" spc="0">
                <a:ln/>
                <a:solidFill>
                  <a:schemeClr val="tx2"/>
                </a:solidFill>
                <a:effectLst/>
                <a:latin typeface="Bahnschrift" panose="020B0502040204020203" pitchFamily="34" charset="0"/>
                <a:cs typeface="Arial" panose="020B0604020202020204" pitchFamily="34" charset="0"/>
              </a:rPr>
              <a:t>ayer 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D35AE15-1F7C-D1CD-1B18-AA27E56CB513}"/>
              </a:ext>
            </a:extLst>
          </p:cNvPr>
          <p:cNvSpPr/>
          <p:nvPr/>
        </p:nvSpPr>
        <p:spPr>
          <a:xfrm>
            <a:off x="8401768" y="3761484"/>
            <a:ext cx="153760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>
                <a:ln/>
                <a:solidFill>
                  <a:schemeClr val="tx2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Pooling layer 2</a:t>
            </a:r>
            <a:endParaRPr lang="en-US" sz="1600" b="1" cap="none" spc="0">
              <a:ln/>
              <a:solidFill>
                <a:schemeClr val="tx2"/>
              </a:solidFill>
              <a:effectLst/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90A79154-174C-F8A8-15F5-B6814C9FA067}"/>
              </a:ext>
            </a:extLst>
          </p:cNvPr>
          <p:cNvSpPr/>
          <p:nvPr/>
        </p:nvSpPr>
        <p:spPr>
          <a:xfrm>
            <a:off x="5288557" y="2373101"/>
            <a:ext cx="165197" cy="163167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6AF7453-6E33-49EB-7E73-A1030400485F}"/>
              </a:ext>
            </a:extLst>
          </p:cNvPr>
          <p:cNvSpPr/>
          <p:nvPr/>
        </p:nvSpPr>
        <p:spPr>
          <a:xfrm>
            <a:off x="6722024" y="2758881"/>
            <a:ext cx="112796" cy="106936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0227F585-86E6-6499-4C13-D578545F7ED6}"/>
              </a:ext>
            </a:extLst>
          </p:cNvPr>
          <p:cNvCxnSpPr>
            <a:cxnSpLocks/>
            <a:endCxn id="135" idx="2"/>
          </p:cNvCxnSpPr>
          <p:nvPr/>
        </p:nvCxnSpPr>
        <p:spPr>
          <a:xfrm>
            <a:off x="5288557" y="2536535"/>
            <a:ext cx="1489865" cy="32928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0BF11D60-6F2E-B97B-4E00-18CD3C4DF457}"/>
              </a:ext>
            </a:extLst>
          </p:cNvPr>
          <p:cNvCxnSpPr>
            <a:cxnSpLocks/>
          </p:cNvCxnSpPr>
          <p:nvPr/>
        </p:nvCxnSpPr>
        <p:spPr>
          <a:xfrm>
            <a:off x="5288556" y="2377569"/>
            <a:ext cx="1430473" cy="376885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03335F19-AC3D-0D2F-3722-5527488F35CC}"/>
              </a:ext>
            </a:extLst>
          </p:cNvPr>
          <p:cNvCxnSpPr>
            <a:cxnSpLocks/>
          </p:cNvCxnSpPr>
          <p:nvPr/>
        </p:nvCxnSpPr>
        <p:spPr>
          <a:xfrm>
            <a:off x="5448775" y="2370305"/>
            <a:ext cx="1383570" cy="3841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00C91628-3771-0BC0-62E0-D9B777C6E896}"/>
              </a:ext>
            </a:extLst>
          </p:cNvPr>
          <p:cNvCxnSpPr>
            <a:cxnSpLocks/>
          </p:cNvCxnSpPr>
          <p:nvPr/>
        </p:nvCxnSpPr>
        <p:spPr>
          <a:xfrm>
            <a:off x="5452843" y="2537064"/>
            <a:ext cx="1396264" cy="328753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1FB92A69-A92F-0D16-F9F6-A38D70D32136}"/>
              </a:ext>
            </a:extLst>
          </p:cNvPr>
          <p:cNvSpPr/>
          <p:nvPr/>
        </p:nvSpPr>
        <p:spPr>
          <a:xfrm>
            <a:off x="8752571" y="3168628"/>
            <a:ext cx="91302" cy="9072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9DFDA9C2-EE6C-E8EE-445B-26A6C17C9555}"/>
              </a:ext>
            </a:extLst>
          </p:cNvPr>
          <p:cNvCxnSpPr>
            <a:cxnSpLocks/>
            <a:endCxn id="145" idx="2"/>
          </p:cNvCxnSpPr>
          <p:nvPr/>
        </p:nvCxnSpPr>
        <p:spPr>
          <a:xfrm>
            <a:off x="7346009" y="2855527"/>
            <a:ext cx="1452213" cy="40382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Rectangle 147">
            <a:extLst>
              <a:ext uri="{FF2B5EF4-FFF2-40B4-BE49-F238E27FC236}">
                <a16:creationId xmlns:a16="http://schemas.microsoft.com/office/drawing/2014/main" id="{4A8F48E1-3180-2EE9-A414-0C0D40281709}"/>
              </a:ext>
            </a:extLst>
          </p:cNvPr>
          <p:cNvSpPr/>
          <p:nvPr/>
        </p:nvSpPr>
        <p:spPr>
          <a:xfrm>
            <a:off x="7346009" y="2763398"/>
            <a:ext cx="91302" cy="9072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1329BF69-0EE7-D2C2-A54A-399782730FEA}"/>
              </a:ext>
            </a:extLst>
          </p:cNvPr>
          <p:cNvCxnSpPr>
            <a:cxnSpLocks/>
          </p:cNvCxnSpPr>
          <p:nvPr/>
        </p:nvCxnSpPr>
        <p:spPr>
          <a:xfrm>
            <a:off x="7437478" y="2855527"/>
            <a:ext cx="1406395" cy="40366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F50EF68F-1FEE-5DFD-924A-44C672E0C525}"/>
              </a:ext>
            </a:extLst>
          </p:cNvPr>
          <p:cNvCxnSpPr>
            <a:cxnSpLocks/>
          </p:cNvCxnSpPr>
          <p:nvPr/>
        </p:nvCxnSpPr>
        <p:spPr>
          <a:xfrm>
            <a:off x="7343907" y="2759418"/>
            <a:ext cx="1406395" cy="40366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0AE64F9-970D-73C3-FF48-142DD8E739B3}"/>
              </a:ext>
            </a:extLst>
          </p:cNvPr>
          <p:cNvCxnSpPr>
            <a:cxnSpLocks/>
          </p:cNvCxnSpPr>
          <p:nvPr/>
        </p:nvCxnSpPr>
        <p:spPr>
          <a:xfrm>
            <a:off x="7436704" y="2763398"/>
            <a:ext cx="1406395" cy="40366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15C8EC93-EC02-6FBA-3F45-55DD90C153E3}"/>
              </a:ext>
            </a:extLst>
          </p:cNvPr>
          <p:cNvSpPr txBox="1"/>
          <p:nvPr/>
        </p:nvSpPr>
        <p:spPr>
          <a:xfrm>
            <a:off x="9993069" y="2997859"/>
            <a:ext cx="2346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b="1">
                <a:latin typeface="Arial" panose="020B0604020202020204" pitchFamily="34" charset="0"/>
                <a:cs typeface="Arial" panose="020B0604020202020204" pitchFamily="34" charset="0"/>
              </a:rPr>
              <a:t>……</a:t>
            </a:r>
          </a:p>
          <a:p>
            <a:r>
              <a:rPr lang="en-MY" b="1">
                <a:latin typeface="Arial" panose="020B0604020202020204" pitchFamily="34" charset="0"/>
                <a:cs typeface="Arial" panose="020B0604020202020204" pitchFamily="34" charset="0"/>
              </a:rPr>
              <a:t>many layers more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E27C9322-B50C-0076-073F-ACCA80823BAF}"/>
              </a:ext>
            </a:extLst>
          </p:cNvPr>
          <p:cNvSpPr txBox="1"/>
          <p:nvPr/>
        </p:nvSpPr>
        <p:spPr>
          <a:xfrm>
            <a:off x="2223692" y="4762992"/>
            <a:ext cx="7164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en-US" b="1" i="0">
                <a:solidFill>
                  <a:srgbClr val="0F1115"/>
                </a:solidFill>
                <a:effectLst/>
                <a:latin typeface="Bahnschrift" panose="020B0502040204020203" pitchFamily="34" charset="0"/>
                <a:cs typeface="Arial" panose="020B0604020202020204" pitchFamily="34" charset="0"/>
              </a:rPr>
              <a:t>Each layer receives only the immediate previous layer's output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1789E7B-8E2D-6C92-8C9F-447A3192E39F}"/>
              </a:ext>
            </a:extLst>
          </p:cNvPr>
          <p:cNvSpPr txBox="1"/>
          <p:nvPr/>
        </p:nvSpPr>
        <p:spPr>
          <a:xfrm>
            <a:off x="3009237" y="5827371"/>
            <a:ext cx="5650465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spcBef>
                <a:spcPts val="450"/>
              </a:spcBef>
              <a:spcAft>
                <a:spcPts val="1200"/>
              </a:spcAft>
            </a:pPr>
            <a:r>
              <a:rPr lang="en-US" b="1" i="0">
                <a:solidFill>
                  <a:srgbClr val="0F1115"/>
                </a:solidFill>
                <a:effectLst/>
                <a:latin typeface="Bahnschrift" panose="020B0502040204020203" pitchFamily="34" charset="0"/>
                <a:cs typeface="Arial" panose="020B0604020202020204" pitchFamily="34" charset="0"/>
              </a:rPr>
              <a:t>Early feature </a:t>
            </a:r>
            <a:r>
              <a:rPr lang="en-US" b="1" i="0">
                <a:solidFill>
                  <a:srgbClr val="C00000"/>
                </a:solidFill>
                <a:effectLst/>
                <a:latin typeface="Bahnschrift" panose="020B0502040204020203" pitchFamily="34" charset="0"/>
                <a:cs typeface="Arial" panose="020B0604020202020204" pitchFamily="34" charset="0"/>
              </a:rPr>
              <a:t>lost</a:t>
            </a:r>
            <a:r>
              <a:rPr lang="en-US" b="1" i="0">
                <a:solidFill>
                  <a:srgbClr val="0F1115"/>
                </a:solidFill>
                <a:effectLst/>
                <a:latin typeface="Bahnschrift" panose="020B0502040204020203" pitchFamily="34" charset="0"/>
                <a:cs typeface="Arial" panose="020B0604020202020204" pitchFamily="34" charset="0"/>
              </a:rPr>
              <a:t> or </a:t>
            </a:r>
            <a:r>
              <a:rPr lang="en-US" b="1" i="0">
                <a:solidFill>
                  <a:srgbClr val="C00000"/>
                </a:solidFill>
                <a:effectLst/>
                <a:latin typeface="Bahnschrift" panose="020B0502040204020203" pitchFamily="34" charset="0"/>
                <a:cs typeface="Arial" panose="020B0604020202020204" pitchFamily="34" charset="0"/>
              </a:rPr>
              <a:t>diluted</a:t>
            </a:r>
            <a:r>
              <a:rPr lang="en-US" b="1" i="0">
                <a:solidFill>
                  <a:srgbClr val="0F1115"/>
                </a:solidFill>
                <a:effectLst/>
                <a:latin typeface="Bahnschrift" panose="020B0502040204020203" pitchFamily="34" charset="0"/>
                <a:cs typeface="Arial" panose="020B0604020202020204" pitchFamily="34" charset="0"/>
              </a:rPr>
              <a:t> through pooling and transformation</a:t>
            </a:r>
          </a:p>
        </p:txBody>
      </p:sp>
      <p:sp>
        <p:nvSpPr>
          <p:cNvPr id="161" name="Right Brace 160">
            <a:extLst>
              <a:ext uri="{FF2B5EF4-FFF2-40B4-BE49-F238E27FC236}">
                <a16:creationId xmlns:a16="http://schemas.microsoft.com/office/drawing/2014/main" id="{1A858726-E059-1A83-7B71-A102D5B7620A}"/>
              </a:ext>
            </a:extLst>
          </p:cNvPr>
          <p:cNvSpPr/>
          <p:nvPr/>
        </p:nvSpPr>
        <p:spPr>
          <a:xfrm rot="5400000">
            <a:off x="5538715" y="1081141"/>
            <a:ext cx="483812" cy="6730543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162" name="Arrow: Right 161">
            <a:extLst>
              <a:ext uri="{FF2B5EF4-FFF2-40B4-BE49-F238E27FC236}">
                <a16:creationId xmlns:a16="http://schemas.microsoft.com/office/drawing/2014/main" id="{B64C07E2-FF76-C5FB-94FE-842738BE96CF}"/>
              </a:ext>
            </a:extLst>
          </p:cNvPr>
          <p:cNvSpPr/>
          <p:nvPr/>
        </p:nvSpPr>
        <p:spPr>
          <a:xfrm rot="5400000">
            <a:off x="5610235" y="5385636"/>
            <a:ext cx="359657" cy="1511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163" name="Plus Sign 162">
            <a:extLst>
              <a:ext uri="{FF2B5EF4-FFF2-40B4-BE49-F238E27FC236}">
                <a16:creationId xmlns:a16="http://schemas.microsoft.com/office/drawing/2014/main" id="{2B34BBB5-FAC5-925C-CAF4-A21DA528FAFC}"/>
              </a:ext>
            </a:extLst>
          </p:cNvPr>
          <p:cNvSpPr/>
          <p:nvPr/>
        </p:nvSpPr>
        <p:spPr>
          <a:xfrm>
            <a:off x="9623663" y="2961252"/>
            <a:ext cx="499762" cy="443043"/>
          </a:xfrm>
          <a:prstGeom prst="mathPlus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F3C5F0-212F-29F5-5EBA-8B8017A7A7D5}"/>
              </a:ext>
            </a:extLst>
          </p:cNvPr>
          <p:cNvSpPr/>
          <p:nvPr/>
        </p:nvSpPr>
        <p:spPr>
          <a:xfrm>
            <a:off x="11541759" y="6439615"/>
            <a:ext cx="650241" cy="418385"/>
          </a:xfrm>
          <a:prstGeom prst="rect">
            <a:avLst/>
          </a:prstGeom>
          <a:solidFill>
            <a:srgbClr val="7C90D3"/>
          </a:solidFill>
          <a:ln>
            <a:solidFill>
              <a:srgbClr val="85A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7D283-E93E-93D9-8069-A533A1ADC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smtClean="0">
                <a:solidFill>
                  <a:schemeClr val="bg1"/>
                </a:solidFill>
              </a:rPr>
              <a:t>22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43CD6A1-6FDD-5254-14F3-72CE2E7A9694}"/>
              </a:ext>
            </a:extLst>
          </p:cNvPr>
          <p:cNvSpPr/>
          <p:nvPr/>
        </p:nvSpPr>
        <p:spPr>
          <a:xfrm>
            <a:off x="332366" y="373254"/>
            <a:ext cx="2944325" cy="600585"/>
          </a:xfrm>
          <a:prstGeom prst="roundRect">
            <a:avLst>
              <a:gd name="adj" fmla="val 2026"/>
            </a:avLst>
          </a:prstGeom>
          <a:solidFill>
            <a:schemeClr val="bg1"/>
          </a:solidFill>
          <a:ln w="12700">
            <a:solidFill>
              <a:srgbClr val="3E56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err="1">
                <a:solidFill>
                  <a:srgbClr val="222F4A"/>
                </a:solidFill>
              </a:rPr>
              <a:t>DenseNet</a:t>
            </a:r>
            <a:r>
              <a:rPr lang="en-US" altLang="zh-CN" b="1">
                <a:solidFill>
                  <a:srgbClr val="222F4A"/>
                </a:solidFill>
              </a:rPr>
              <a:t> 121</a:t>
            </a:r>
            <a:endParaRPr lang="en-MY" b="1">
              <a:solidFill>
                <a:srgbClr val="222F4A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345329D-959C-0CF4-C40E-31D27929C25E}"/>
              </a:ext>
            </a:extLst>
          </p:cNvPr>
          <p:cNvSpPr/>
          <p:nvPr/>
        </p:nvSpPr>
        <p:spPr>
          <a:xfrm>
            <a:off x="415576" y="156437"/>
            <a:ext cx="2172501" cy="353996"/>
          </a:xfrm>
          <a:prstGeom prst="roundRect">
            <a:avLst>
              <a:gd name="adj" fmla="val 50000"/>
            </a:avLst>
          </a:prstGeom>
          <a:solidFill>
            <a:srgbClr val="3E5687"/>
          </a:solidFill>
          <a:ln>
            <a:solidFill>
              <a:srgbClr val="7C90D3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Choose backbone</a:t>
            </a:r>
            <a:endParaRPr lang="en-AU" sz="1400" b="1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E152D26-5229-E4BC-2FB1-7AF2DCC9E30B}"/>
              </a:ext>
            </a:extLst>
          </p:cNvPr>
          <p:cNvSpPr/>
          <p:nvPr/>
        </p:nvSpPr>
        <p:spPr>
          <a:xfrm>
            <a:off x="295547" y="250460"/>
            <a:ext cx="203200" cy="2032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E5687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050">
                <a:solidFill>
                  <a:srgbClr val="222F4A"/>
                </a:solidFill>
              </a:rPr>
              <a:t>2</a:t>
            </a:r>
            <a:endParaRPr lang="en-AU" sz="1050">
              <a:solidFill>
                <a:srgbClr val="222F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4268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500"/>
                            </p:stCondLst>
                            <p:childTnLst>
                              <p:par>
                                <p:cTn id="1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4000"/>
                            </p:stCondLst>
                            <p:childTnLst>
                              <p:par>
                                <p:cTn id="1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4500"/>
                            </p:stCondLst>
                            <p:childTnLst>
                              <p:par>
                                <p:cTn id="1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8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 animBg="1"/>
      <p:bldP spid="9" grpId="0" uiExpand="1" build="p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46" grpId="0" animBg="1"/>
      <p:bldP spid="47" grpId="0" animBg="1"/>
      <p:bldP spid="48" grpId="0" animBg="1"/>
      <p:bldP spid="55" grpId="0" animBg="1"/>
      <p:bldP spid="63" grpId="0"/>
      <p:bldP spid="64" grpId="0"/>
      <p:bldP spid="65" grpId="0"/>
      <p:bldP spid="70" grpId="0" animBg="1"/>
      <p:bldP spid="71" grpId="0" animBg="1"/>
      <p:bldP spid="72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/>
      <p:bldP spid="132" grpId="0"/>
      <p:bldP spid="134" grpId="0" animBg="1"/>
      <p:bldP spid="135" grpId="0" animBg="1"/>
      <p:bldP spid="145" grpId="0" animBg="1"/>
      <p:bldP spid="148" grpId="0" animBg="1"/>
      <p:bldP spid="155" grpId="0"/>
      <p:bldP spid="157" grpId="0"/>
      <p:bldP spid="160" grpId="0" animBg="1"/>
      <p:bldP spid="161" grpId="0" animBg="1"/>
      <p:bldP spid="162" grpId="0" animBg="1"/>
      <p:bldP spid="16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BBA3BE-89E8-6A16-CF1B-FDF6A26232AD}"/>
              </a:ext>
            </a:extLst>
          </p:cNvPr>
          <p:cNvSpPr/>
          <p:nvPr/>
        </p:nvSpPr>
        <p:spPr>
          <a:xfrm>
            <a:off x="11541759" y="6439615"/>
            <a:ext cx="650241" cy="418385"/>
          </a:xfrm>
          <a:prstGeom prst="rect">
            <a:avLst/>
          </a:prstGeom>
          <a:solidFill>
            <a:srgbClr val="7C90D3"/>
          </a:solidFill>
          <a:ln>
            <a:solidFill>
              <a:srgbClr val="85A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MY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7636EFE-F3D6-A75E-4443-5C9878B968D6}"/>
              </a:ext>
            </a:extLst>
          </p:cNvPr>
          <p:cNvSpPr/>
          <p:nvPr/>
        </p:nvSpPr>
        <p:spPr>
          <a:xfrm>
            <a:off x="5013621" y="2774136"/>
            <a:ext cx="990872" cy="9037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A2FA733-1DE3-69F8-4118-FB6301537154}"/>
              </a:ext>
            </a:extLst>
          </p:cNvPr>
          <p:cNvSpPr/>
          <p:nvPr/>
        </p:nvSpPr>
        <p:spPr>
          <a:xfrm>
            <a:off x="5113179" y="2899399"/>
            <a:ext cx="990872" cy="9037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0C403B1-374C-6C2C-B161-562A35CF8FDF}"/>
              </a:ext>
            </a:extLst>
          </p:cNvPr>
          <p:cNvSpPr/>
          <p:nvPr/>
        </p:nvSpPr>
        <p:spPr>
          <a:xfrm>
            <a:off x="5218370" y="3044185"/>
            <a:ext cx="990872" cy="9037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52092A-726F-2A16-CB76-9F3C48975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smtClean="0">
                <a:solidFill>
                  <a:schemeClr val="bg1"/>
                </a:solidFill>
              </a:rPr>
              <a:t>23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ED76BE5-9D0B-3876-5EFC-6108BA10C03B}"/>
              </a:ext>
            </a:extLst>
          </p:cNvPr>
          <p:cNvSpPr/>
          <p:nvPr/>
        </p:nvSpPr>
        <p:spPr>
          <a:xfrm>
            <a:off x="2074064" y="2052135"/>
            <a:ext cx="376561" cy="2528514"/>
          </a:xfrm>
          <a:prstGeom prst="rect">
            <a:avLst/>
          </a:prstGeom>
          <a:solidFill>
            <a:srgbClr val="FFEBEB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MY" b="1" err="1">
                <a:latin typeface="Bahnschrift" panose="020B0502040204020203" pitchFamily="34" charset="0"/>
                <a:cs typeface="Arial" panose="020B0604020202020204" pitchFamily="34" charset="0"/>
              </a:rPr>
              <a:t>DenseBlock</a:t>
            </a:r>
            <a:r>
              <a:rPr lang="en-MY" b="1"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MY" sz="1600" b="1">
                <a:latin typeface="Bahnschrift" panose="020B0502040204020203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482CC66-8915-41CB-385A-52D8048D06D8}"/>
              </a:ext>
            </a:extLst>
          </p:cNvPr>
          <p:cNvSpPr txBox="1"/>
          <p:nvPr/>
        </p:nvSpPr>
        <p:spPr>
          <a:xfrm>
            <a:off x="4626721" y="542572"/>
            <a:ext cx="4788867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>
                <a:latin typeface="Bahnschrift" panose="020B0502040204020203" pitchFamily="34" charset="0"/>
                <a:cs typeface="Arial" panose="020B0604020202020204" pitchFamily="34" charset="0"/>
              </a:rPr>
              <a:t>output feature maps from each preceding layer are </a:t>
            </a:r>
            <a:r>
              <a:rPr lang="en-US" b="1">
                <a:solidFill>
                  <a:schemeClr val="accent1">
                    <a:lumMod val="75000"/>
                  </a:schemeClr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concatenated</a:t>
            </a:r>
            <a:r>
              <a:rPr lang="en-US" b="1">
                <a:latin typeface="Bahnschrift" panose="020B0502040204020203" pitchFamily="34" charset="0"/>
                <a:cs typeface="Arial" panose="020B0604020202020204" pitchFamily="34" charset="0"/>
              </a:rPr>
              <a:t> and passed as input to the next layer</a:t>
            </a:r>
            <a:endParaRPr lang="en-MY" b="1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BCAA3FA-7FEE-65E8-45D6-0EBEF9477097}"/>
              </a:ext>
            </a:extLst>
          </p:cNvPr>
          <p:cNvSpPr/>
          <p:nvPr/>
        </p:nvSpPr>
        <p:spPr>
          <a:xfrm>
            <a:off x="2850469" y="2774106"/>
            <a:ext cx="990872" cy="903783"/>
          </a:xfrm>
          <a:prstGeom prst="rect">
            <a:avLst/>
          </a:prstGeom>
          <a:solidFill>
            <a:srgbClr val="D3F9F8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236F7291-FD22-956F-CFEE-4F204D844414}"/>
              </a:ext>
            </a:extLst>
          </p:cNvPr>
          <p:cNvSpPr/>
          <p:nvPr/>
        </p:nvSpPr>
        <p:spPr>
          <a:xfrm>
            <a:off x="2927491" y="2878208"/>
            <a:ext cx="990872" cy="903783"/>
          </a:xfrm>
          <a:prstGeom prst="rect">
            <a:avLst/>
          </a:prstGeom>
          <a:solidFill>
            <a:srgbClr val="D3F9F8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9DFAF3F-B4F6-1FB4-4FB1-796827684D7B}"/>
              </a:ext>
            </a:extLst>
          </p:cNvPr>
          <p:cNvSpPr/>
          <p:nvPr/>
        </p:nvSpPr>
        <p:spPr>
          <a:xfrm>
            <a:off x="3027174" y="3009287"/>
            <a:ext cx="990872" cy="903783"/>
          </a:xfrm>
          <a:prstGeom prst="rect">
            <a:avLst/>
          </a:prstGeom>
          <a:solidFill>
            <a:srgbClr val="D3F9F8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27123650-677D-29D2-F001-61CBD7EB1752}"/>
              </a:ext>
            </a:extLst>
          </p:cNvPr>
          <p:cNvSpPr/>
          <p:nvPr/>
        </p:nvSpPr>
        <p:spPr>
          <a:xfrm>
            <a:off x="384606" y="2825121"/>
            <a:ext cx="990872" cy="903783"/>
          </a:xfrm>
          <a:prstGeom prst="rect">
            <a:avLst/>
          </a:prstGeom>
          <a:solidFill>
            <a:srgbClr val="FFE7FF"/>
          </a:solidFill>
          <a:ln w="63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FF25F708-9A06-5E64-4F04-3ED356EB48E9}"/>
              </a:ext>
            </a:extLst>
          </p:cNvPr>
          <p:cNvSpPr/>
          <p:nvPr/>
        </p:nvSpPr>
        <p:spPr>
          <a:xfrm>
            <a:off x="461629" y="2905043"/>
            <a:ext cx="990872" cy="903783"/>
          </a:xfrm>
          <a:prstGeom prst="rect">
            <a:avLst/>
          </a:prstGeom>
          <a:solidFill>
            <a:srgbClr val="FFE7FF"/>
          </a:solidFill>
          <a:ln w="63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99FC56D3-62C5-FD3A-31D8-8419194EEEB7}"/>
              </a:ext>
            </a:extLst>
          </p:cNvPr>
          <p:cNvSpPr/>
          <p:nvPr/>
        </p:nvSpPr>
        <p:spPr>
          <a:xfrm>
            <a:off x="541594" y="3044185"/>
            <a:ext cx="990872" cy="903783"/>
          </a:xfrm>
          <a:prstGeom prst="rect">
            <a:avLst/>
          </a:prstGeom>
          <a:solidFill>
            <a:srgbClr val="FFE7FF"/>
          </a:solidFill>
          <a:ln w="63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0AF6ECD7-7CD3-D783-B8C3-AEF29D5CBC1C}"/>
              </a:ext>
            </a:extLst>
          </p:cNvPr>
          <p:cNvSpPr/>
          <p:nvPr/>
        </p:nvSpPr>
        <p:spPr>
          <a:xfrm>
            <a:off x="7522845" y="2790223"/>
            <a:ext cx="990872" cy="903783"/>
          </a:xfrm>
          <a:prstGeom prst="rect">
            <a:avLst/>
          </a:prstGeom>
          <a:solidFill>
            <a:srgbClr val="FFFFCC"/>
          </a:solidFill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2E8D46F-C5DF-4603-C425-0DDAF0DA61B6}"/>
              </a:ext>
            </a:extLst>
          </p:cNvPr>
          <p:cNvSpPr/>
          <p:nvPr/>
        </p:nvSpPr>
        <p:spPr>
          <a:xfrm>
            <a:off x="7599868" y="2870145"/>
            <a:ext cx="990872" cy="903783"/>
          </a:xfrm>
          <a:prstGeom prst="rect">
            <a:avLst/>
          </a:prstGeom>
          <a:solidFill>
            <a:srgbClr val="FFFFCC"/>
          </a:solidFill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732C69F8-11C5-494A-406B-993EE0B472DF}"/>
              </a:ext>
            </a:extLst>
          </p:cNvPr>
          <p:cNvSpPr/>
          <p:nvPr/>
        </p:nvSpPr>
        <p:spPr>
          <a:xfrm>
            <a:off x="7679833" y="3009287"/>
            <a:ext cx="990872" cy="903783"/>
          </a:xfrm>
          <a:prstGeom prst="rect">
            <a:avLst/>
          </a:prstGeom>
          <a:solidFill>
            <a:srgbClr val="FFFFCC"/>
          </a:solidFill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76C5C30D-C981-00CB-B293-F90544CD9A75}"/>
              </a:ext>
            </a:extLst>
          </p:cNvPr>
          <p:cNvSpPr/>
          <p:nvPr/>
        </p:nvSpPr>
        <p:spPr>
          <a:xfrm>
            <a:off x="4351750" y="2042355"/>
            <a:ext cx="376561" cy="2528514"/>
          </a:xfrm>
          <a:prstGeom prst="rect">
            <a:avLst/>
          </a:prstGeom>
          <a:solidFill>
            <a:srgbClr val="FFEBEB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MY" b="1" err="1">
                <a:latin typeface="Bahnschrift" panose="020B0502040204020203" pitchFamily="34" charset="0"/>
                <a:cs typeface="Arial" panose="020B0604020202020204" pitchFamily="34" charset="0"/>
              </a:rPr>
              <a:t>DenseBlock</a:t>
            </a:r>
            <a:r>
              <a:rPr lang="en-MY" b="1"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MY" sz="1600" b="1">
                <a:latin typeface="Bahnschrift" panose="020B0502040204020203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973AC167-8BC9-624D-00F3-818A7F2C1D39}"/>
              </a:ext>
            </a:extLst>
          </p:cNvPr>
          <p:cNvSpPr/>
          <p:nvPr/>
        </p:nvSpPr>
        <p:spPr>
          <a:xfrm>
            <a:off x="6690975" y="2052135"/>
            <a:ext cx="376561" cy="2528514"/>
          </a:xfrm>
          <a:prstGeom prst="rect">
            <a:avLst/>
          </a:prstGeom>
          <a:solidFill>
            <a:srgbClr val="FFEBEB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MY" b="1" err="1">
                <a:latin typeface="Bahnschrift" panose="020B0502040204020203" pitchFamily="34" charset="0"/>
                <a:cs typeface="Arial" panose="020B0604020202020204" pitchFamily="34" charset="0"/>
              </a:rPr>
              <a:t>DenseBlock</a:t>
            </a:r>
            <a:r>
              <a:rPr lang="en-MY" b="1"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MY" sz="1600" b="1">
                <a:latin typeface="Bahnschrift" panose="020B0502040204020203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C07A18E-8516-46DE-3593-4C9EDC43017D}"/>
              </a:ext>
            </a:extLst>
          </p:cNvPr>
          <p:cNvSpPr/>
          <p:nvPr/>
        </p:nvSpPr>
        <p:spPr>
          <a:xfrm>
            <a:off x="8867828" y="2052135"/>
            <a:ext cx="376561" cy="2528514"/>
          </a:xfrm>
          <a:prstGeom prst="rect">
            <a:avLst/>
          </a:prstGeom>
          <a:solidFill>
            <a:srgbClr val="FFEBEB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MY" b="1" err="1">
                <a:latin typeface="Bahnschrift" panose="020B0502040204020203" pitchFamily="34" charset="0"/>
                <a:cs typeface="Arial" panose="020B0604020202020204" pitchFamily="34" charset="0"/>
              </a:rPr>
              <a:t>DenseBlock</a:t>
            </a:r>
            <a:r>
              <a:rPr lang="en-MY" b="1"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MY" sz="1600" b="1">
                <a:latin typeface="Bahnschrift" panose="020B0502040204020203" pitchFamily="34" charset="0"/>
                <a:cs typeface="Arial" panose="020B0604020202020204" pitchFamily="34" charset="0"/>
              </a:rPr>
              <a:t>4</a:t>
            </a:r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0FFFDB47-8F06-7799-FB3F-84692988C946}"/>
              </a:ext>
            </a:extLst>
          </p:cNvPr>
          <p:cNvCxnSpPr>
            <a:cxnSpLocks/>
          </p:cNvCxnSpPr>
          <p:nvPr/>
        </p:nvCxnSpPr>
        <p:spPr>
          <a:xfrm>
            <a:off x="1016404" y="3561227"/>
            <a:ext cx="1044647" cy="1905"/>
          </a:xfrm>
          <a:prstGeom prst="straightConnector1">
            <a:avLst/>
          </a:prstGeom>
          <a:ln w="38100">
            <a:solidFill>
              <a:srgbClr val="FF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C8083BF8-8606-6C5C-9011-0DF7300D9BC3}"/>
              </a:ext>
            </a:extLst>
          </p:cNvPr>
          <p:cNvCxnSpPr>
            <a:cxnSpLocks/>
          </p:cNvCxnSpPr>
          <p:nvPr/>
        </p:nvCxnSpPr>
        <p:spPr>
          <a:xfrm>
            <a:off x="2523506" y="3534618"/>
            <a:ext cx="326963" cy="0"/>
          </a:xfrm>
          <a:prstGeom prst="straightConnector1">
            <a:avLst/>
          </a:prstGeom>
          <a:ln w="38100">
            <a:solidFill>
              <a:srgbClr val="FF99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FC53BEBC-B293-BE19-56B3-9ADD857AFCEF}"/>
              </a:ext>
            </a:extLst>
          </p:cNvPr>
          <p:cNvCxnSpPr>
            <a:cxnSpLocks/>
          </p:cNvCxnSpPr>
          <p:nvPr/>
        </p:nvCxnSpPr>
        <p:spPr>
          <a:xfrm>
            <a:off x="3691083" y="3461178"/>
            <a:ext cx="658047" cy="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2B6F4553-CE72-310E-F423-ECB800452459}"/>
              </a:ext>
            </a:extLst>
          </p:cNvPr>
          <p:cNvCxnSpPr>
            <a:cxnSpLocks/>
          </p:cNvCxnSpPr>
          <p:nvPr/>
        </p:nvCxnSpPr>
        <p:spPr>
          <a:xfrm>
            <a:off x="4728311" y="3461178"/>
            <a:ext cx="326963" cy="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A2B41512-D28E-609B-AA2F-6A1812066D33}"/>
              </a:ext>
            </a:extLst>
          </p:cNvPr>
          <p:cNvCxnSpPr>
            <a:cxnSpLocks/>
          </p:cNvCxnSpPr>
          <p:nvPr/>
        </p:nvCxnSpPr>
        <p:spPr>
          <a:xfrm>
            <a:off x="6004493" y="3496076"/>
            <a:ext cx="627955" cy="0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23D37EE8-5214-2EE9-29E1-D871B06EB926}"/>
              </a:ext>
            </a:extLst>
          </p:cNvPr>
          <p:cNvCxnSpPr>
            <a:cxnSpLocks/>
          </p:cNvCxnSpPr>
          <p:nvPr/>
        </p:nvCxnSpPr>
        <p:spPr>
          <a:xfrm>
            <a:off x="7067536" y="3509071"/>
            <a:ext cx="429683" cy="0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11FF2086-DB5C-4FD1-924E-500182D7D54E}"/>
              </a:ext>
            </a:extLst>
          </p:cNvPr>
          <p:cNvCxnSpPr>
            <a:cxnSpLocks/>
          </p:cNvCxnSpPr>
          <p:nvPr/>
        </p:nvCxnSpPr>
        <p:spPr>
          <a:xfrm>
            <a:off x="8411251" y="3496076"/>
            <a:ext cx="455993" cy="12995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793CF19E-42BB-F8C1-171F-CB8E8EF9D32C}"/>
              </a:ext>
            </a:extLst>
          </p:cNvPr>
          <p:cNvCxnSpPr>
            <a:cxnSpLocks/>
          </p:cNvCxnSpPr>
          <p:nvPr/>
        </p:nvCxnSpPr>
        <p:spPr>
          <a:xfrm>
            <a:off x="9265346" y="3494171"/>
            <a:ext cx="475192" cy="1905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Rectangle 154">
            <a:extLst>
              <a:ext uri="{FF2B5EF4-FFF2-40B4-BE49-F238E27FC236}">
                <a16:creationId xmlns:a16="http://schemas.microsoft.com/office/drawing/2014/main" id="{17C483DB-C9FB-531A-86B0-91C375BA1AF5}"/>
              </a:ext>
            </a:extLst>
          </p:cNvPr>
          <p:cNvSpPr/>
          <p:nvPr/>
        </p:nvSpPr>
        <p:spPr>
          <a:xfrm>
            <a:off x="9797168" y="2790223"/>
            <a:ext cx="990872" cy="903783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162B3BD3-CFE2-53C1-0705-7FBD767A495F}"/>
              </a:ext>
            </a:extLst>
          </p:cNvPr>
          <p:cNvSpPr/>
          <p:nvPr/>
        </p:nvSpPr>
        <p:spPr>
          <a:xfrm>
            <a:off x="9874191" y="2870145"/>
            <a:ext cx="990872" cy="903783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B56E352A-8E24-DFF8-FC0B-EEA761C760C3}"/>
              </a:ext>
            </a:extLst>
          </p:cNvPr>
          <p:cNvSpPr/>
          <p:nvPr/>
        </p:nvSpPr>
        <p:spPr>
          <a:xfrm>
            <a:off x="9954156" y="3009287"/>
            <a:ext cx="990872" cy="903783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9" name="Arc 158">
            <a:extLst>
              <a:ext uri="{FF2B5EF4-FFF2-40B4-BE49-F238E27FC236}">
                <a16:creationId xmlns:a16="http://schemas.microsoft.com/office/drawing/2014/main" id="{572F11CB-B611-9DEC-B8E1-9FEF357B4909}"/>
              </a:ext>
            </a:extLst>
          </p:cNvPr>
          <p:cNvSpPr/>
          <p:nvPr/>
        </p:nvSpPr>
        <p:spPr>
          <a:xfrm rot="8753326">
            <a:off x="641272" y="-384267"/>
            <a:ext cx="4432576" cy="5409066"/>
          </a:xfrm>
          <a:prstGeom prst="arc">
            <a:avLst/>
          </a:prstGeom>
          <a:ln w="38100">
            <a:solidFill>
              <a:srgbClr val="FF99FF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60" name="Arc 159">
            <a:extLst>
              <a:ext uri="{FF2B5EF4-FFF2-40B4-BE49-F238E27FC236}">
                <a16:creationId xmlns:a16="http://schemas.microsoft.com/office/drawing/2014/main" id="{A1652681-98C6-8EC9-0ED0-0ED9BF2C58D5}"/>
              </a:ext>
            </a:extLst>
          </p:cNvPr>
          <p:cNvSpPr/>
          <p:nvPr/>
        </p:nvSpPr>
        <p:spPr>
          <a:xfrm rot="8753326">
            <a:off x="474448" y="-2150390"/>
            <a:ext cx="8309414" cy="7307008"/>
          </a:xfrm>
          <a:prstGeom prst="arc">
            <a:avLst>
              <a:gd name="adj1" fmla="val 16200000"/>
              <a:gd name="adj2" fmla="val 124784"/>
            </a:avLst>
          </a:prstGeom>
          <a:ln w="38100">
            <a:solidFill>
              <a:srgbClr val="FF99FF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61" name="Arc 160">
            <a:extLst>
              <a:ext uri="{FF2B5EF4-FFF2-40B4-BE49-F238E27FC236}">
                <a16:creationId xmlns:a16="http://schemas.microsoft.com/office/drawing/2014/main" id="{4700EB18-E1D0-BD4E-2C23-81F9E82748E2}"/>
              </a:ext>
            </a:extLst>
          </p:cNvPr>
          <p:cNvSpPr/>
          <p:nvPr/>
        </p:nvSpPr>
        <p:spPr>
          <a:xfrm rot="8753326">
            <a:off x="406900" y="-3595615"/>
            <a:ext cx="11195187" cy="9334843"/>
          </a:xfrm>
          <a:prstGeom prst="arc">
            <a:avLst>
              <a:gd name="adj1" fmla="val 15734363"/>
              <a:gd name="adj2" fmla="val 466484"/>
            </a:avLst>
          </a:prstGeom>
          <a:ln w="38100">
            <a:solidFill>
              <a:srgbClr val="FF99FF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63" name="Arc 162">
            <a:extLst>
              <a:ext uri="{FF2B5EF4-FFF2-40B4-BE49-F238E27FC236}">
                <a16:creationId xmlns:a16="http://schemas.microsoft.com/office/drawing/2014/main" id="{BDFFE072-6164-7E5D-E585-06A636A3328B}"/>
              </a:ext>
            </a:extLst>
          </p:cNvPr>
          <p:cNvSpPr/>
          <p:nvPr/>
        </p:nvSpPr>
        <p:spPr>
          <a:xfrm rot="8753326">
            <a:off x="3349853" y="-85285"/>
            <a:ext cx="3781047" cy="5006870"/>
          </a:xfrm>
          <a:prstGeom prst="arc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65" name="Arc 164">
            <a:extLst>
              <a:ext uri="{FF2B5EF4-FFF2-40B4-BE49-F238E27FC236}">
                <a16:creationId xmlns:a16="http://schemas.microsoft.com/office/drawing/2014/main" id="{86C1BE8D-3971-CB91-E6FC-E7680B6ED128}"/>
              </a:ext>
            </a:extLst>
          </p:cNvPr>
          <p:cNvSpPr/>
          <p:nvPr/>
        </p:nvSpPr>
        <p:spPr>
          <a:xfrm rot="8753326">
            <a:off x="3185945" y="-2067281"/>
            <a:ext cx="7740931" cy="7249040"/>
          </a:xfrm>
          <a:prstGeom prst="arc">
            <a:avLst>
              <a:gd name="adj1" fmla="val 16200000"/>
              <a:gd name="adj2" fmla="val 124784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66" name="Arc 165">
            <a:extLst>
              <a:ext uri="{FF2B5EF4-FFF2-40B4-BE49-F238E27FC236}">
                <a16:creationId xmlns:a16="http://schemas.microsoft.com/office/drawing/2014/main" id="{181C28D8-CE3F-0F62-BAC6-DC3C94E08072}"/>
              </a:ext>
            </a:extLst>
          </p:cNvPr>
          <p:cNvSpPr/>
          <p:nvPr/>
        </p:nvSpPr>
        <p:spPr>
          <a:xfrm rot="8753326">
            <a:off x="5674407" y="-20645"/>
            <a:ext cx="3781047" cy="5006870"/>
          </a:xfrm>
          <a:prstGeom prst="arc">
            <a:avLst/>
          </a:prstGeom>
          <a:ln w="38100">
            <a:solidFill>
              <a:schemeClr val="accent6">
                <a:lumMod val="75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BB8A0403-0119-8DF4-6CFF-D3CA52C14465}"/>
              </a:ext>
            </a:extLst>
          </p:cNvPr>
          <p:cNvSpPr/>
          <p:nvPr/>
        </p:nvSpPr>
        <p:spPr>
          <a:xfrm>
            <a:off x="11298555" y="1988754"/>
            <a:ext cx="376561" cy="2528514"/>
          </a:xfrm>
          <a:prstGeom prst="rect">
            <a:avLst/>
          </a:prstGeom>
          <a:solidFill>
            <a:srgbClr val="FFEBEB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MY" b="1" err="1">
                <a:latin typeface="Bahnschrift" panose="020B0502040204020203" pitchFamily="34" charset="0"/>
                <a:cs typeface="Arial" panose="020B0604020202020204" pitchFamily="34" charset="0"/>
              </a:rPr>
              <a:t>DenseBlock</a:t>
            </a:r>
            <a:r>
              <a:rPr lang="en-MY" b="1">
                <a:latin typeface="Bahnschrift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MY" sz="1600" b="1">
                <a:latin typeface="Bahnschrift" panose="020B0502040204020203" pitchFamily="34" charset="0"/>
                <a:cs typeface="Arial" panose="020B0604020202020204" pitchFamily="34" charset="0"/>
              </a:rPr>
              <a:t>5</a:t>
            </a:r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CCF82362-ED7D-4E50-EA6F-0F495C27CACB}"/>
              </a:ext>
            </a:extLst>
          </p:cNvPr>
          <p:cNvCxnSpPr>
            <a:cxnSpLocks/>
          </p:cNvCxnSpPr>
          <p:nvPr/>
        </p:nvCxnSpPr>
        <p:spPr>
          <a:xfrm>
            <a:off x="10787780" y="3510976"/>
            <a:ext cx="449786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Arc 170">
            <a:extLst>
              <a:ext uri="{FF2B5EF4-FFF2-40B4-BE49-F238E27FC236}">
                <a16:creationId xmlns:a16="http://schemas.microsoft.com/office/drawing/2014/main" id="{F7AA9F29-16E0-06A8-61BA-0D473E6233A9}"/>
              </a:ext>
            </a:extLst>
          </p:cNvPr>
          <p:cNvSpPr/>
          <p:nvPr/>
        </p:nvSpPr>
        <p:spPr>
          <a:xfrm rot="8753326">
            <a:off x="425522" y="-4377365"/>
            <a:ext cx="14505569" cy="10262266"/>
          </a:xfrm>
          <a:prstGeom prst="arc">
            <a:avLst>
              <a:gd name="adj1" fmla="val 15593865"/>
              <a:gd name="adj2" fmla="val 374663"/>
            </a:avLst>
          </a:prstGeom>
          <a:ln w="38100">
            <a:solidFill>
              <a:srgbClr val="FF99FF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72" name="Arc 171">
            <a:extLst>
              <a:ext uri="{FF2B5EF4-FFF2-40B4-BE49-F238E27FC236}">
                <a16:creationId xmlns:a16="http://schemas.microsoft.com/office/drawing/2014/main" id="{29CFC59D-E709-5D74-D463-3D1CE2146545}"/>
              </a:ext>
            </a:extLst>
          </p:cNvPr>
          <p:cNvSpPr/>
          <p:nvPr/>
        </p:nvSpPr>
        <p:spPr>
          <a:xfrm rot="8753326">
            <a:off x="3002928" y="-3603208"/>
            <a:ext cx="11146344" cy="8979695"/>
          </a:xfrm>
          <a:prstGeom prst="arc">
            <a:avLst>
              <a:gd name="adj1" fmla="val 16022885"/>
              <a:gd name="adj2" fmla="val 350957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74" name="Arc 173">
            <a:extLst>
              <a:ext uri="{FF2B5EF4-FFF2-40B4-BE49-F238E27FC236}">
                <a16:creationId xmlns:a16="http://schemas.microsoft.com/office/drawing/2014/main" id="{5AA8936C-4E86-0FE4-6405-CC2B96B82F49}"/>
              </a:ext>
            </a:extLst>
          </p:cNvPr>
          <p:cNvSpPr/>
          <p:nvPr/>
        </p:nvSpPr>
        <p:spPr>
          <a:xfrm rot="8753326">
            <a:off x="5388891" y="-2144446"/>
            <a:ext cx="7740931" cy="7249040"/>
          </a:xfrm>
          <a:prstGeom prst="arc">
            <a:avLst>
              <a:gd name="adj1" fmla="val 16292610"/>
              <a:gd name="adj2" fmla="val 124784"/>
            </a:avLst>
          </a:prstGeom>
          <a:ln w="38100">
            <a:solidFill>
              <a:schemeClr val="accent6">
                <a:lumMod val="75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75" name="Arc 174">
            <a:extLst>
              <a:ext uri="{FF2B5EF4-FFF2-40B4-BE49-F238E27FC236}">
                <a16:creationId xmlns:a16="http://schemas.microsoft.com/office/drawing/2014/main" id="{E741B4BA-3DB2-2FFF-A1DB-C248BC7F5FD8}"/>
              </a:ext>
            </a:extLst>
          </p:cNvPr>
          <p:cNvSpPr/>
          <p:nvPr/>
        </p:nvSpPr>
        <p:spPr>
          <a:xfrm rot="8753326">
            <a:off x="8208999" y="866490"/>
            <a:ext cx="3781047" cy="3951807"/>
          </a:xfrm>
          <a:prstGeom prst="arc">
            <a:avLst>
              <a:gd name="adj1" fmla="val 16200000"/>
              <a:gd name="adj2" fmla="val 852801"/>
            </a:avLst>
          </a:prstGeom>
          <a:ln w="38100">
            <a:solidFill>
              <a:srgbClr val="FFFF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76" name="Right Brace 175">
            <a:extLst>
              <a:ext uri="{FF2B5EF4-FFF2-40B4-BE49-F238E27FC236}">
                <a16:creationId xmlns:a16="http://schemas.microsoft.com/office/drawing/2014/main" id="{1582FEAB-EF69-C5FD-EDC1-7612A83FF7B9}"/>
              </a:ext>
            </a:extLst>
          </p:cNvPr>
          <p:cNvSpPr/>
          <p:nvPr/>
        </p:nvSpPr>
        <p:spPr>
          <a:xfrm rot="16200000">
            <a:off x="6616658" y="-2803787"/>
            <a:ext cx="483812" cy="9131305"/>
          </a:xfrm>
          <a:prstGeom prst="rightBrac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504AE25-B06C-4005-9BC4-DE3F4734CEA5}"/>
              </a:ext>
            </a:extLst>
          </p:cNvPr>
          <p:cNvSpPr/>
          <p:nvPr/>
        </p:nvSpPr>
        <p:spPr>
          <a:xfrm>
            <a:off x="332366" y="373254"/>
            <a:ext cx="2944325" cy="600585"/>
          </a:xfrm>
          <a:prstGeom prst="roundRect">
            <a:avLst>
              <a:gd name="adj" fmla="val 2026"/>
            </a:avLst>
          </a:prstGeom>
          <a:solidFill>
            <a:schemeClr val="bg1"/>
          </a:solidFill>
          <a:ln w="12700">
            <a:solidFill>
              <a:srgbClr val="3E56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err="1">
                <a:solidFill>
                  <a:srgbClr val="222F4A"/>
                </a:solidFill>
              </a:rPr>
              <a:t>DenseNet</a:t>
            </a:r>
            <a:r>
              <a:rPr lang="en-US" altLang="zh-CN" b="1">
                <a:solidFill>
                  <a:srgbClr val="222F4A"/>
                </a:solidFill>
              </a:rPr>
              <a:t> 121</a:t>
            </a:r>
            <a:endParaRPr lang="en-MY" b="1">
              <a:solidFill>
                <a:srgbClr val="222F4A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928C95-6D37-9D2D-372F-3F46BE1F629F}"/>
              </a:ext>
            </a:extLst>
          </p:cNvPr>
          <p:cNvSpPr/>
          <p:nvPr/>
        </p:nvSpPr>
        <p:spPr>
          <a:xfrm>
            <a:off x="415576" y="156437"/>
            <a:ext cx="2172501" cy="353996"/>
          </a:xfrm>
          <a:prstGeom prst="roundRect">
            <a:avLst>
              <a:gd name="adj" fmla="val 50000"/>
            </a:avLst>
          </a:prstGeom>
          <a:solidFill>
            <a:srgbClr val="3E5687"/>
          </a:solidFill>
          <a:ln>
            <a:solidFill>
              <a:srgbClr val="7C90D3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Choose backbone</a:t>
            </a:r>
            <a:endParaRPr lang="en-AU" sz="1400" b="1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20DCB4-A7F6-C2DB-755C-9827D4BE5078}"/>
              </a:ext>
            </a:extLst>
          </p:cNvPr>
          <p:cNvSpPr/>
          <p:nvPr/>
        </p:nvSpPr>
        <p:spPr>
          <a:xfrm>
            <a:off x="295547" y="250460"/>
            <a:ext cx="203200" cy="2032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E5687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050">
                <a:solidFill>
                  <a:srgbClr val="222F4A"/>
                </a:solidFill>
              </a:rPr>
              <a:t>2</a:t>
            </a:r>
            <a:endParaRPr lang="en-AU" sz="1050">
              <a:solidFill>
                <a:srgbClr val="222F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603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3500"/>
                            </p:stCondLst>
                            <p:childTnLst>
                              <p:par>
                                <p:cTn id="1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4000"/>
                            </p:stCondLst>
                            <p:childTnLst>
                              <p:par>
                                <p:cTn id="1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4500"/>
                            </p:stCondLst>
                            <p:childTnLst>
                              <p:par>
                                <p:cTn id="1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 animBg="1"/>
      <p:bldP spid="58" grpId="0" animBg="1"/>
      <p:bldP spid="105" grpId="0" animBg="1"/>
      <p:bldP spid="107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32" grpId="0" animBg="1"/>
      <p:bldP spid="133" grpId="0" animBg="1"/>
      <p:bldP spid="134" grpId="0" animBg="1"/>
      <p:bldP spid="155" grpId="0" animBg="1"/>
      <p:bldP spid="156" grpId="0" animBg="1"/>
      <p:bldP spid="157" grpId="0" animBg="1"/>
      <p:bldP spid="159" grpId="0" animBg="1"/>
      <p:bldP spid="160" grpId="0" animBg="1"/>
      <p:bldP spid="161" grpId="0" animBg="1"/>
      <p:bldP spid="163" grpId="0" animBg="1"/>
      <p:bldP spid="165" grpId="0" animBg="1"/>
      <p:bldP spid="166" grpId="0" animBg="1"/>
      <p:bldP spid="167" grpId="0" animBg="1"/>
      <p:bldP spid="171" grpId="0" animBg="1"/>
      <p:bldP spid="172" grpId="0" animBg="1"/>
      <p:bldP spid="174" grpId="0" animBg="1"/>
      <p:bldP spid="175" grpId="0" animBg="1"/>
      <p:bldP spid="17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B0916-B3F2-539A-A32C-FF6799363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3DD52E5-31A2-30B3-613B-F0A111C3C662}"/>
              </a:ext>
            </a:extLst>
          </p:cNvPr>
          <p:cNvSpPr/>
          <p:nvPr/>
        </p:nvSpPr>
        <p:spPr>
          <a:xfrm>
            <a:off x="0" y="1232213"/>
            <a:ext cx="12192000" cy="4572799"/>
          </a:xfrm>
          <a:prstGeom prst="rect">
            <a:avLst/>
          </a:prstGeom>
          <a:solidFill>
            <a:srgbClr val="F6F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6ECE9B-B87F-EF38-15DF-4DBCAC5DF592}"/>
              </a:ext>
            </a:extLst>
          </p:cNvPr>
          <p:cNvSpPr/>
          <p:nvPr/>
        </p:nvSpPr>
        <p:spPr>
          <a:xfrm>
            <a:off x="1" y="6439615"/>
            <a:ext cx="12192000" cy="418385"/>
          </a:xfrm>
          <a:prstGeom prst="rect">
            <a:avLst/>
          </a:prstGeom>
          <a:solidFill>
            <a:srgbClr val="7C90D3"/>
          </a:solidFill>
          <a:ln>
            <a:solidFill>
              <a:srgbClr val="85A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MY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3F6531-A85F-32DA-16AE-18D1B02ACA09}"/>
              </a:ext>
            </a:extLst>
          </p:cNvPr>
          <p:cNvSpPr/>
          <p:nvPr/>
        </p:nvSpPr>
        <p:spPr>
          <a:xfrm>
            <a:off x="701230" y="3828822"/>
            <a:ext cx="1150196" cy="10688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C88FE7-8FCC-699A-AFB0-BC6775E9A558}"/>
              </a:ext>
            </a:extLst>
          </p:cNvPr>
          <p:cNvSpPr/>
          <p:nvPr/>
        </p:nvSpPr>
        <p:spPr>
          <a:xfrm>
            <a:off x="2462345" y="3752182"/>
            <a:ext cx="1150196" cy="10688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A4754F-367F-098F-C976-148606B8AD35}"/>
              </a:ext>
            </a:extLst>
          </p:cNvPr>
          <p:cNvSpPr/>
          <p:nvPr/>
        </p:nvSpPr>
        <p:spPr>
          <a:xfrm>
            <a:off x="2614745" y="3904582"/>
            <a:ext cx="1150196" cy="10688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446EFB-001E-C255-C87B-B074E89831F4}"/>
              </a:ext>
            </a:extLst>
          </p:cNvPr>
          <p:cNvSpPr/>
          <p:nvPr/>
        </p:nvSpPr>
        <p:spPr>
          <a:xfrm>
            <a:off x="2767145" y="4056982"/>
            <a:ext cx="1150196" cy="10688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E7D217-2770-494D-3D23-53FCC79F8EE7}"/>
              </a:ext>
            </a:extLst>
          </p:cNvPr>
          <p:cNvSpPr/>
          <p:nvPr/>
        </p:nvSpPr>
        <p:spPr>
          <a:xfrm>
            <a:off x="4564602" y="4002045"/>
            <a:ext cx="884406" cy="8189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A5CF31-C9E3-3374-BD5A-EF2AE91C3CBF}"/>
              </a:ext>
            </a:extLst>
          </p:cNvPr>
          <p:cNvSpPr/>
          <p:nvPr/>
        </p:nvSpPr>
        <p:spPr>
          <a:xfrm>
            <a:off x="4717002" y="4154445"/>
            <a:ext cx="884406" cy="8189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3554B9-D57A-8615-E083-C10CCB6F08A1}"/>
              </a:ext>
            </a:extLst>
          </p:cNvPr>
          <p:cNvSpPr/>
          <p:nvPr/>
        </p:nvSpPr>
        <p:spPr>
          <a:xfrm>
            <a:off x="701229" y="3828822"/>
            <a:ext cx="342240" cy="306607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F8EAD92-8B44-0110-6F72-A8DA13636367}"/>
              </a:ext>
            </a:extLst>
          </p:cNvPr>
          <p:cNvSpPr/>
          <p:nvPr/>
        </p:nvSpPr>
        <p:spPr>
          <a:xfrm>
            <a:off x="2767145" y="4058185"/>
            <a:ext cx="256379" cy="226119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C6474F-0B46-C212-EE64-F29AF00D8803}"/>
              </a:ext>
            </a:extLst>
          </p:cNvPr>
          <p:cNvSpPr/>
          <p:nvPr/>
        </p:nvSpPr>
        <p:spPr>
          <a:xfrm>
            <a:off x="4715600" y="4154445"/>
            <a:ext cx="165197" cy="163167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465EC86-2832-8958-7E10-A5691554F1EA}"/>
              </a:ext>
            </a:extLst>
          </p:cNvPr>
          <p:cNvCxnSpPr>
            <a:cxnSpLocks/>
          </p:cNvCxnSpPr>
          <p:nvPr/>
        </p:nvCxnSpPr>
        <p:spPr>
          <a:xfrm>
            <a:off x="717936" y="3828682"/>
            <a:ext cx="2049209" cy="2283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8FBD5C1-CA54-1E8C-542B-7EA54AD787E6}"/>
              </a:ext>
            </a:extLst>
          </p:cNvPr>
          <p:cNvCxnSpPr>
            <a:cxnSpLocks/>
          </p:cNvCxnSpPr>
          <p:nvPr/>
        </p:nvCxnSpPr>
        <p:spPr>
          <a:xfrm>
            <a:off x="717936" y="4136632"/>
            <a:ext cx="2040693" cy="1476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A3040AA-9AA2-1BA2-6DC7-F94FEEB4A2F1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1030850" y="3834673"/>
            <a:ext cx="1864485" cy="2235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B15F31C-0A4D-99E4-9ADD-5C786E88DD14}"/>
              </a:ext>
            </a:extLst>
          </p:cNvPr>
          <p:cNvCxnSpPr>
            <a:cxnSpLocks/>
            <a:endCxn id="31" idx="2"/>
          </p:cNvCxnSpPr>
          <p:nvPr/>
        </p:nvCxnSpPr>
        <p:spPr>
          <a:xfrm>
            <a:off x="1051985" y="4133182"/>
            <a:ext cx="1843350" cy="1511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1DF7DA79-CE99-A165-C992-AE91BFEF8F99}"/>
              </a:ext>
            </a:extLst>
          </p:cNvPr>
          <p:cNvSpPr/>
          <p:nvPr/>
        </p:nvSpPr>
        <p:spPr>
          <a:xfrm>
            <a:off x="3659560" y="4058185"/>
            <a:ext cx="256379" cy="226119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10A6C16-3C39-5505-AD20-6313FDC0B72F}"/>
              </a:ext>
            </a:extLst>
          </p:cNvPr>
          <p:cNvCxnSpPr>
            <a:cxnSpLocks/>
          </p:cNvCxnSpPr>
          <p:nvPr/>
        </p:nvCxnSpPr>
        <p:spPr>
          <a:xfrm>
            <a:off x="3657127" y="4072470"/>
            <a:ext cx="1058473" cy="819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C5CAC49-D373-B6AA-9D8C-4703D17D4462}"/>
              </a:ext>
            </a:extLst>
          </p:cNvPr>
          <p:cNvCxnSpPr>
            <a:cxnSpLocks/>
          </p:cNvCxnSpPr>
          <p:nvPr/>
        </p:nvCxnSpPr>
        <p:spPr>
          <a:xfrm>
            <a:off x="3653139" y="4283912"/>
            <a:ext cx="1062461" cy="409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7D0C8AC-0F63-6B5D-F78D-255FA192B5BA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3915939" y="4057751"/>
            <a:ext cx="882260" cy="966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D4F8B47-8A71-47F0-1A84-BE8C05D9D3D7}"/>
              </a:ext>
            </a:extLst>
          </p:cNvPr>
          <p:cNvCxnSpPr>
            <a:cxnSpLocks/>
          </p:cNvCxnSpPr>
          <p:nvPr/>
        </p:nvCxnSpPr>
        <p:spPr>
          <a:xfrm>
            <a:off x="3922360" y="4283912"/>
            <a:ext cx="950704" cy="409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54D9C0BC-C0E4-8CB0-241B-745A50BD5EC0}"/>
              </a:ext>
            </a:extLst>
          </p:cNvPr>
          <p:cNvSpPr/>
          <p:nvPr/>
        </p:nvSpPr>
        <p:spPr>
          <a:xfrm>
            <a:off x="643500" y="5448419"/>
            <a:ext cx="1223412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cap="none" spc="0">
                <a:ln/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Input layer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5542C7C-9F5F-F118-A4D3-0E71B27B8425}"/>
              </a:ext>
            </a:extLst>
          </p:cNvPr>
          <p:cNvSpPr/>
          <p:nvPr/>
        </p:nvSpPr>
        <p:spPr>
          <a:xfrm>
            <a:off x="2075047" y="5436844"/>
            <a:ext cx="2264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cap="none" spc="0">
                <a:ln/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Convolutional </a:t>
            </a:r>
            <a:r>
              <a:rPr lang="en-US" sz="1600" b="1">
                <a:ln/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b="1" cap="none" spc="0">
                <a:ln/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ayer 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2B08EB0-1F90-F1BC-9ED8-C5CCEE4E706F}"/>
              </a:ext>
            </a:extLst>
          </p:cNvPr>
          <p:cNvSpPr/>
          <p:nvPr/>
        </p:nvSpPr>
        <p:spPr>
          <a:xfrm>
            <a:off x="4222670" y="5392984"/>
            <a:ext cx="1645002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>
                <a:ln/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Pooling layer 1</a:t>
            </a:r>
            <a:endParaRPr lang="en-US" sz="1600" b="1" cap="none" spc="0">
              <a:ln/>
              <a:solidFill>
                <a:schemeClr val="tx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AA66A436-88F5-9F89-386D-8A49544E148E}"/>
              </a:ext>
            </a:extLst>
          </p:cNvPr>
          <p:cNvSpPr/>
          <p:nvPr/>
        </p:nvSpPr>
        <p:spPr>
          <a:xfrm>
            <a:off x="1977120" y="4524908"/>
            <a:ext cx="359657" cy="1511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B12BEBAB-394E-F212-2FA8-07FF7E6C1CF7}"/>
              </a:ext>
            </a:extLst>
          </p:cNvPr>
          <p:cNvSpPr/>
          <p:nvPr/>
        </p:nvSpPr>
        <p:spPr>
          <a:xfrm>
            <a:off x="4090832" y="4544498"/>
            <a:ext cx="359657" cy="1511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509A6609-F458-B0FD-C48B-6E72F5916F27}"/>
              </a:ext>
            </a:extLst>
          </p:cNvPr>
          <p:cNvSpPr/>
          <p:nvPr/>
        </p:nvSpPr>
        <p:spPr>
          <a:xfrm>
            <a:off x="5652208" y="4563941"/>
            <a:ext cx="359657" cy="1511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3D22C09-3BE7-2D26-0E01-8D2E630E97C1}"/>
              </a:ext>
            </a:extLst>
          </p:cNvPr>
          <p:cNvSpPr/>
          <p:nvPr/>
        </p:nvSpPr>
        <p:spPr>
          <a:xfrm>
            <a:off x="6038117" y="3676282"/>
            <a:ext cx="1150196" cy="10688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565851-8CA4-5417-9495-12DCA759C531}"/>
              </a:ext>
            </a:extLst>
          </p:cNvPr>
          <p:cNvSpPr/>
          <p:nvPr/>
        </p:nvSpPr>
        <p:spPr>
          <a:xfrm>
            <a:off x="6190517" y="3828682"/>
            <a:ext cx="1150196" cy="10688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EAC7722-ED6E-B7A3-2C1F-F5688DAAABCA}"/>
              </a:ext>
            </a:extLst>
          </p:cNvPr>
          <p:cNvSpPr/>
          <p:nvPr/>
        </p:nvSpPr>
        <p:spPr>
          <a:xfrm>
            <a:off x="6310021" y="4056982"/>
            <a:ext cx="1150196" cy="10688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DB2A1FC-E3FA-C06F-4D25-11DE94F67B1D}"/>
              </a:ext>
            </a:extLst>
          </p:cNvPr>
          <p:cNvSpPr/>
          <p:nvPr/>
        </p:nvSpPr>
        <p:spPr>
          <a:xfrm>
            <a:off x="8107478" y="4002045"/>
            <a:ext cx="884406" cy="8189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1A130C2-034F-679E-1316-3CF33C3A9072}"/>
              </a:ext>
            </a:extLst>
          </p:cNvPr>
          <p:cNvSpPr/>
          <p:nvPr/>
        </p:nvSpPr>
        <p:spPr>
          <a:xfrm>
            <a:off x="8259878" y="4154445"/>
            <a:ext cx="884406" cy="8189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E9BF4F4-1F3E-F6D3-5A9E-36BE631C4CD6}"/>
              </a:ext>
            </a:extLst>
          </p:cNvPr>
          <p:cNvSpPr/>
          <p:nvPr/>
        </p:nvSpPr>
        <p:spPr>
          <a:xfrm>
            <a:off x="8258476" y="4154445"/>
            <a:ext cx="165197" cy="163167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D3509D4-BC76-72F9-85A0-A1700497FC2F}"/>
              </a:ext>
            </a:extLst>
          </p:cNvPr>
          <p:cNvSpPr/>
          <p:nvPr/>
        </p:nvSpPr>
        <p:spPr>
          <a:xfrm>
            <a:off x="7202436" y="4058185"/>
            <a:ext cx="256379" cy="226119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9973235-C4A0-205B-FE85-31ADCA1E25D8}"/>
              </a:ext>
            </a:extLst>
          </p:cNvPr>
          <p:cNvCxnSpPr>
            <a:cxnSpLocks/>
          </p:cNvCxnSpPr>
          <p:nvPr/>
        </p:nvCxnSpPr>
        <p:spPr>
          <a:xfrm>
            <a:off x="7200003" y="4072470"/>
            <a:ext cx="1058473" cy="819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850F844-C16D-CDE5-C3C7-6A64F6C60850}"/>
              </a:ext>
            </a:extLst>
          </p:cNvPr>
          <p:cNvCxnSpPr>
            <a:cxnSpLocks/>
          </p:cNvCxnSpPr>
          <p:nvPr/>
        </p:nvCxnSpPr>
        <p:spPr>
          <a:xfrm>
            <a:off x="7196015" y="4283912"/>
            <a:ext cx="1062461" cy="409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444897A-EBB1-8E63-5C84-B73B90DDE8E0}"/>
              </a:ext>
            </a:extLst>
          </p:cNvPr>
          <p:cNvCxnSpPr>
            <a:cxnSpLocks/>
            <a:endCxn id="69" idx="0"/>
          </p:cNvCxnSpPr>
          <p:nvPr/>
        </p:nvCxnSpPr>
        <p:spPr>
          <a:xfrm>
            <a:off x="7458815" y="4057751"/>
            <a:ext cx="882260" cy="966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EDD5446-D170-0938-5BBF-C7ABB6300E42}"/>
              </a:ext>
            </a:extLst>
          </p:cNvPr>
          <p:cNvCxnSpPr>
            <a:cxnSpLocks/>
          </p:cNvCxnSpPr>
          <p:nvPr/>
        </p:nvCxnSpPr>
        <p:spPr>
          <a:xfrm>
            <a:off x="7465236" y="4283912"/>
            <a:ext cx="950704" cy="409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Arrow: Right 74">
            <a:extLst>
              <a:ext uri="{FF2B5EF4-FFF2-40B4-BE49-F238E27FC236}">
                <a16:creationId xmlns:a16="http://schemas.microsoft.com/office/drawing/2014/main" id="{8D683903-152B-45E2-75BA-0884C3717DE6}"/>
              </a:ext>
            </a:extLst>
          </p:cNvPr>
          <p:cNvSpPr/>
          <p:nvPr/>
        </p:nvSpPr>
        <p:spPr>
          <a:xfrm>
            <a:off x="7633708" y="4544498"/>
            <a:ext cx="359657" cy="1511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7EB6E07-1B4A-2BBA-0A73-57C4441F9675}"/>
              </a:ext>
            </a:extLst>
          </p:cNvPr>
          <p:cNvSpPr/>
          <p:nvPr/>
        </p:nvSpPr>
        <p:spPr>
          <a:xfrm>
            <a:off x="5755426" y="5436844"/>
            <a:ext cx="2264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cap="none" spc="0">
                <a:ln/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Convolutional </a:t>
            </a:r>
            <a:r>
              <a:rPr lang="en-US" sz="1600" b="1">
                <a:ln/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600" b="1" cap="none" spc="0">
                <a:ln/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ayer 2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27C758C-01DF-1892-067F-3ABF40347CAF}"/>
              </a:ext>
            </a:extLst>
          </p:cNvPr>
          <p:cNvSpPr/>
          <p:nvPr/>
        </p:nvSpPr>
        <p:spPr>
          <a:xfrm>
            <a:off x="7859647" y="5360417"/>
            <a:ext cx="1645002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>
                <a:ln/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Pooling layer </a:t>
            </a:r>
            <a:r>
              <a:rPr lang="en-US" sz="1600" b="1" cap="none" spc="0">
                <a:ln/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ED5F866-3A84-4761-DF76-38B23E3F98FA}"/>
              </a:ext>
            </a:extLst>
          </p:cNvPr>
          <p:cNvSpPr/>
          <p:nvPr/>
        </p:nvSpPr>
        <p:spPr>
          <a:xfrm>
            <a:off x="9799253" y="4403232"/>
            <a:ext cx="21123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600" b="1" cap="none" spc="0">
                <a:ln/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…. and a lot more layers</a:t>
            </a:r>
          </a:p>
        </p:txBody>
      </p:sp>
      <p:sp>
        <p:nvSpPr>
          <p:cNvPr id="80" name="Arrow: Right 79">
            <a:extLst>
              <a:ext uri="{FF2B5EF4-FFF2-40B4-BE49-F238E27FC236}">
                <a16:creationId xmlns:a16="http://schemas.microsoft.com/office/drawing/2014/main" id="{5E684EFA-5CB1-A3D9-2D05-8B2267DF3225}"/>
              </a:ext>
            </a:extLst>
          </p:cNvPr>
          <p:cNvSpPr/>
          <p:nvPr/>
        </p:nvSpPr>
        <p:spPr>
          <a:xfrm>
            <a:off x="9324821" y="4591410"/>
            <a:ext cx="359657" cy="1511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654BEA0-02D9-21D3-DC3B-35A2CB2ED14B}"/>
              </a:ext>
            </a:extLst>
          </p:cNvPr>
          <p:cNvSpPr/>
          <p:nvPr/>
        </p:nvSpPr>
        <p:spPr>
          <a:xfrm>
            <a:off x="7968667" y="2817694"/>
            <a:ext cx="1313273" cy="2537466"/>
          </a:xfrm>
          <a:prstGeom prst="rect">
            <a:avLst/>
          </a:prstGeom>
          <a:solidFill>
            <a:srgbClr val="FFCCCC"/>
          </a:solidFill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 err="1">
                <a:latin typeface="Arial" panose="020B0604020202020204" pitchFamily="34" charset="0"/>
                <a:cs typeface="Arial" panose="020B0604020202020204" pitchFamily="34" charset="0"/>
              </a:rPr>
              <a:t>ConvNeXt</a:t>
            </a:r>
            <a:r>
              <a:rPr lang="en-MY" b="1">
                <a:latin typeface="Arial" panose="020B0604020202020204" pitchFamily="34" charset="0"/>
                <a:cs typeface="Arial" panose="020B0604020202020204" pitchFamily="34" charset="0"/>
              </a:rPr>
              <a:t>  block 2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AFBAED2-BDAC-135B-A4F8-015A68E8B839}"/>
              </a:ext>
            </a:extLst>
          </p:cNvPr>
          <p:cNvSpPr/>
          <p:nvPr/>
        </p:nvSpPr>
        <p:spPr>
          <a:xfrm>
            <a:off x="9703239" y="2812859"/>
            <a:ext cx="1313273" cy="2537466"/>
          </a:xfrm>
          <a:prstGeom prst="rect">
            <a:avLst/>
          </a:prstGeom>
          <a:solidFill>
            <a:srgbClr val="FFCCCC"/>
          </a:solidFill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 err="1">
                <a:latin typeface="Arial" panose="020B0604020202020204" pitchFamily="34" charset="0"/>
                <a:cs typeface="Arial" panose="020B0604020202020204" pitchFamily="34" charset="0"/>
              </a:rPr>
              <a:t>ConvNeXt</a:t>
            </a:r>
            <a:r>
              <a:rPr lang="en-MY" b="1">
                <a:latin typeface="Arial" panose="020B0604020202020204" pitchFamily="34" charset="0"/>
                <a:cs typeface="Arial" panose="020B0604020202020204" pitchFamily="34" charset="0"/>
              </a:rPr>
              <a:t>  block 3</a:t>
            </a:r>
          </a:p>
        </p:txBody>
      </p:sp>
      <p:sp>
        <p:nvSpPr>
          <p:cNvPr id="87" name="Arrow: Right 86">
            <a:extLst>
              <a:ext uri="{FF2B5EF4-FFF2-40B4-BE49-F238E27FC236}">
                <a16:creationId xmlns:a16="http://schemas.microsoft.com/office/drawing/2014/main" id="{2ED4CF22-970F-05A9-E7E6-C440883ECAF3}"/>
              </a:ext>
            </a:extLst>
          </p:cNvPr>
          <p:cNvSpPr/>
          <p:nvPr/>
        </p:nvSpPr>
        <p:spPr>
          <a:xfrm>
            <a:off x="5671397" y="4347761"/>
            <a:ext cx="359657" cy="1511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Arrow: Right 87">
            <a:extLst>
              <a:ext uri="{FF2B5EF4-FFF2-40B4-BE49-F238E27FC236}">
                <a16:creationId xmlns:a16="http://schemas.microsoft.com/office/drawing/2014/main" id="{FA8CC7B8-CAB0-2285-31B7-3B8E088259C0}"/>
              </a:ext>
            </a:extLst>
          </p:cNvPr>
          <p:cNvSpPr/>
          <p:nvPr/>
        </p:nvSpPr>
        <p:spPr>
          <a:xfrm>
            <a:off x="7691103" y="4280916"/>
            <a:ext cx="359657" cy="1511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Arrow: Right 88">
            <a:extLst>
              <a:ext uri="{FF2B5EF4-FFF2-40B4-BE49-F238E27FC236}">
                <a16:creationId xmlns:a16="http://schemas.microsoft.com/office/drawing/2014/main" id="{FC6DB026-E795-B062-A127-21B00EA4BB7A}"/>
              </a:ext>
            </a:extLst>
          </p:cNvPr>
          <p:cNvSpPr/>
          <p:nvPr/>
        </p:nvSpPr>
        <p:spPr>
          <a:xfrm>
            <a:off x="9362128" y="4270857"/>
            <a:ext cx="359657" cy="15112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B9FEBE5-C79A-D394-29E2-30075A7DFC15}"/>
              </a:ext>
            </a:extLst>
          </p:cNvPr>
          <p:cNvSpPr/>
          <p:nvPr/>
        </p:nvSpPr>
        <p:spPr>
          <a:xfrm>
            <a:off x="6270713" y="2832216"/>
            <a:ext cx="1331420" cy="2537466"/>
          </a:xfrm>
          <a:prstGeom prst="rect">
            <a:avLst/>
          </a:prstGeom>
          <a:solidFill>
            <a:srgbClr val="FFCCCC"/>
          </a:solidFill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 err="1">
                <a:latin typeface="Arial" panose="020B0604020202020204" pitchFamily="34" charset="0"/>
                <a:cs typeface="Arial" panose="020B0604020202020204" pitchFamily="34" charset="0"/>
              </a:rPr>
              <a:t>ConvNeXt</a:t>
            </a:r>
            <a:r>
              <a:rPr lang="en-MY" b="1">
                <a:latin typeface="Arial" panose="020B0604020202020204" pitchFamily="34" charset="0"/>
                <a:cs typeface="Arial" panose="020B0604020202020204" pitchFamily="34" charset="0"/>
              </a:rPr>
              <a:t> block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570996-2589-A338-4473-897439987325}"/>
              </a:ext>
            </a:extLst>
          </p:cNvPr>
          <p:cNvSpPr txBox="1"/>
          <p:nvPr/>
        </p:nvSpPr>
        <p:spPr>
          <a:xfrm>
            <a:off x="4897128" y="877056"/>
            <a:ext cx="7164241" cy="1359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en-US" b="1" i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Modern CNN that combines Vision Transformers (</a:t>
            </a:r>
            <a:r>
              <a:rPr lang="en-US" b="1" i="0" err="1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ViT</a:t>
            </a:r>
            <a:r>
              <a:rPr lang="en-US" b="1" i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with CNN</a:t>
            </a: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en-US" b="1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Derived from ResNet50 but refined to match </a:t>
            </a:r>
            <a:r>
              <a:rPr lang="en-US" b="1" err="1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</a:t>
            </a:r>
            <a:r>
              <a:rPr lang="en-US" b="1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architecture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en-US" b="1" i="0">
                <a:solidFill>
                  <a:srgbClr val="0F11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Hybrid model which is extremely strong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6330D5-E2D9-C049-68CD-6803C2ECC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smtClean="0">
                <a:solidFill>
                  <a:schemeClr val="bg1"/>
                </a:solidFill>
              </a:rPr>
              <a:t>24</a:t>
            </a:fld>
            <a:endParaRPr lang="en-US" sz="1400">
              <a:solidFill>
                <a:schemeClr val="bg1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122BC46-D438-8E14-5AB2-BC90C7913686}"/>
              </a:ext>
            </a:extLst>
          </p:cNvPr>
          <p:cNvGrpSpPr/>
          <p:nvPr/>
        </p:nvGrpSpPr>
        <p:grpSpPr>
          <a:xfrm>
            <a:off x="527065" y="1366586"/>
            <a:ext cx="4143664" cy="1757711"/>
            <a:chOff x="4744194" y="3136435"/>
            <a:chExt cx="5141399" cy="236307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CB4FBA4-3FBB-F344-41AF-28E3A3B9CD2D}"/>
                </a:ext>
              </a:extLst>
            </p:cNvPr>
            <p:cNvSpPr/>
            <p:nvPr/>
          </p:nvSpPr>
          <p:spPr>
            <a:xfrm>
              <a:off x="4744194" y="3136435"/>
              <a:ext cx="2304000" cy="576002"/>
            </a:xfrm>
            <a:prstGeom prst="roundRect">
              <a:avLst/>
            </a:prstGeom>
            <a:solidFill>
              <a:srgbClr val="ECD3DC"/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Down Sample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BA6AE2B3-80EC-43F0-5902-10D4A27A6ED4}"/>
                </a:ext>
              </a:extLst>
            </p:cNvPr>
            <p:cNvSpPr/>
            <p:nvPr/>
          </p:nvSpPr>
          <p:spPr>
            <a:xfrm>
              <a:off x="4744194" y="4020125"/>
              <a:ext cx="2304000" cy="576002"/>
            </a:xfrm>
            <a:prstGeom prst="roundRect">
              <a:avLst/>
            </a:prstGeom>
            <a:solidFill>
              <a:srgbClr val="ECD3DC"/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Larger Kernel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F2C4996-FBC8-82A7-7254-B4FCDA6E143A}"/>
                </a:ext>
              </a:extLst>
            </p:cNvPr>
            <p:cNvCxnSpPr>
              <a:cxnSpLocks/>
            </p:cNvCxnSpPr>
            <p:nvPr/>
          </p:nvCxnSpPr>
          <p:spPr>
            <a:xfrm>
              <a:off x="8733593" y="4635502"/>
              <a:ext cx="0" cy="29676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6308CECC-73BE-EABB-CEE5-027B063BA5BA}"/>
                </a:ext>
              </a:extLst>
            </p:cNvPr>
            <p:cNvSpPr/>
            <p:nvPr/>
          </p:nvSpPr>
          <p:spPr>
            <a:xfrm>
              <a:off x="7581593" y="4059500"/>
              <a:ext cx="2304000" cy="576002"/>
            </a:xfrm>
            <a:prstGeom prst="roundRect">
              <a:avLst/>
            </a:prstGeom>
            <a:solidFill>
              <a:srgbClr val="ECD3DC"/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Layer Normalization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5237E8A-1C01-E7BE-1F01-A2A94599446D}"/>
                </a:ext>
              </a:extLst>
            </p:cNvPr>
            <p:cNvCxnSpPr>
              <a:cxnSpLocks/>
            </p:cNvCxnSpPr>
            <p:nvPr/>
          </p:nvCxnSpPr>
          <p:spPr>
            <a:xfrm>
              <a:off x="7048194" y="4347501"/>
              <a:ext cx="53339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27A45793-F42F-D0DE-CB31-98769B6FE8F4}"/>
                </a:ext>
              </a:extLst>
            </p:cNvPr>
            <p:cNvSpPr/>
            <p:nvPr/>
          </p:nvSpPr>
          <p:spPr>
            <a:xfrm>
              <a:off x="7581593" y="4923503"/>
              <a:ext cx="2304000" cy="576002"/>
            </a:xfrm>
            <a:prstGeom prst="roundRect">
              <a:avLst/>
            </a:prstGeom>
            <a:solidFill>
              <a:srgbClr val="ECD3DC"/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40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GeLU</a:t>
              </a:r>
              <a:r>
                <a:rPr lang="en-AU"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activation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19F2A74-1EFD-2B17-7A7A-7886071F9E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48194" y="5211504"/>
              <a:ext cx="53339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57F05D78-07BD-20E7-F6A9-AC416D953146}"/>
                </a:ext>
              </a:extLst>
            </p:cNvPr>
            <p:cNvSpPr/>
            <p:nvPr/>
          </p:nvSpPr>
          <p:spPr>
            <a:xfrm>
              <a:off x="4744194" y="4923503"/>
              <a:ext cx="2304000" cy="576002"/>
            </a:xfrm>
            <a:prstGeom prst="roundRect">
              <a:avLst/>
            </a:prstGeom>
            <a:solidFill>
              <a:srgbClr val="ECD3DC"/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Layer Scaling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640F2FD-6014-0D8B-1F35-E0F0E3BC2882}"/>
                </a:ext>
              </a:extLst>
            </p:cNvPr>
            <p:cNvCxnSpPr>
              <a:cxnSpLocks/>
            </p:cNvCxnSpPr>
            <p:nvPr/>
          </p:nvCxnSpPr>
          <p:spPr>
            <a:xfrm>
              <a:off x="5896194" y="3723365"/>
              <a:ext cx="0" cy="29676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C8D808D-CCAF-5F93-D46A-BDCCCF50AB4C}"/>
              </a:ext>
            </a:extLst>
          </p:cNvPr>
          <p:cNvSpPr/>
          <p:nvPr/>
        </p:nvSpPr>
        <p:spPr>
          <a:xfrm>
            <a:off x="332366" y="373254"/>
            <a:ext cx="2944325" cy="600585"/>
          </a:xfrm>
          <a:prstGeom prst="roundRect">
            <a:avLst>
              <a:gd name="adj" fmla="val 2026"/>
            </a:avLst>
          </a:prstGeom>
          <a:solidFill>
            <a:schemeClr val="bg1"/>
          </a:solidFill>
          <a:ln w="12700">
            <a:solidFill>
              <a:srgbClr val="3E56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err="1">
                <a:solidFill>
                  <a:srgbClr val="222F4A"/>
                </a:solidFill>
              </a:rPr>
              <a:t>ConvNeXt</a:t>
            </a:r>
            <a:r>
              <a:rPr lang="en-US" altLang="zh-CN" b="1">
                <a:solidFill>
                  <a:srgbClr val="222F4A"/>
                </a:solidFill>
              </a:rPr>
              <a:t> - base</a:t>
            </a:r>
            <a:endParaRPr lang="en-MY" b="1">
              <a:solidFill>
                <a:srgbClr val="222F4A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A59DA36-CFAE-C4B2-5902-86530B62FB42}"/>
              </a:ext>
            </a:extLst>
          </p:cNvPr>
          <p:cNvSpPr/>
          <p:nvPr/>
        </p:nvSpPr>
        <p:spPr>
          <a:xfrm>
            <a:off x="415576" y="156437"/>
            <a:ext cx="2172501" cy="353996"/>
          </a:xfrm>
          <a:prstGeom prst="roundRect">
            <a:avLst>
              <a:gd name="adj" fmla="val 50000"/>
            </a:avLst>
          </a:prstGeom>
          <a:solidFill>
            <a:srgbClr val="3E5687"/>
          </a:solidFill>
          <a:ln>
            <a:solidFill>
              <a:srgbClr val="7C90D3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Choose backbone</a:t>
            </a:r>
            <a:endParaRPr lang="en-AU" sz="1400" b="1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C74230F-1F0F-8EC2-A29C-88862F0A8FB4}"/>
              </a:ext>
            </a:extLst>
          </p:cNvPr>
          <p:cNvSpPr/>
          <p:nvPr/>
        </p:nvSpPr>
        <p:spPr>
          <a:xfrm>
            <a:off x="295547" y="250460"/>
            <a:ext cx="203200" cy="2032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E5687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050">
                <a:solidFill>
                  <a:srgbClr val="222F4A"/>
                </a:solidFill>
              </a:rPr>
              <a:t>3</a:t>
            </a:r>
            <a:endParaRPr lang="en-AU" sz="1050">
              <a:solidFill>
                <a:srgbClr val="222F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701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3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7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5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9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3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7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1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5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9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3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7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500"/>
                            </p:stCondLst>
                            <p:childTnLst>
                              <p:par>
                                <p:cTn id="1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30" grpId="0" animBg="1"/>
      <p:bldP spid="31" grpId="0" animBg="1"/>
      <p:bldP spid="32" grpId="0" animBg="1"/>
      <p:bldP spid="39" grpId="0" animBg="1"/>
      <p:bldP spid="44" grpId="0"/>
      <p:bldP spid="45" grpId="0"/>
      <p:bldP spid="46" grpId="0"/>
      <p:bldP spid="51" grpId="0" animBg="1"/>
      <p:bldP spid="52" grpId="0" animBg="1"/>
      <p:bldP spid="53" grpId="0" animBg="1"/>
      <p:bldP spid="5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  <p:bldP spid="70" grpId="0" animBg="1"/>
      <p:bldP spid="70" grpId="1" animBg="1"/>
      <p:bldP spid="75" grpId="0" animBg="1"/>
      <p:bldP spid="75" grpId="1" animBg="1"/>
      <p:bldP spid="76" grpId="0"/>
      <p:bldP spid="76" grpId="1"/>
      <p:bldP spid="77" grpId="0"/>
      <p:bldP spid="77" grpId="1"/>
      <p:bldP spid="79" grpId="0"/>
      <p:bldP spid="79" grpId="1"/>
      <p:bldP spid="80" grpId="0" animBg="1"/>
      <p:bldP spid="80" grpId="1" animBg="1"/>
      <p:bldP spid="83" grpId="0" animBg="1"/>
      <p:bldP spid="86" grpId="0" animBg="1"/>
      <p:bldP spid="87" grpId="0" animBg="1"/>
      <p:bldP spid="87" grpId="1" animBg="1"/>
      <p:bldP spid="88" grpId="0" animBg="1"/>
      <p:bldP spid="89" grpId="0" animBg="1"/>
      <p:bldP spid="82" grpId="0" animBg="1"/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C7F7B-CB1D-739E-6DA4-1B7019A55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D7D7A2-589B-1795-6B7D-50445C1B716C}"/>
              </a:ext>
            </a:extLst>
          </p:cNvPr>
          <p:cNvSpPr/>
          <p:nvPr/>
        </p:nvSpPr>
        <p:spPr>
          <a:xfrm>
            <a:off x="0" y="1300188"/>
            <a:ext cx="12192000" cy="4856522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D326D9-2DCC-AB0B-659A-E2768676B2CD}"/>
              </a:ext>
            </a:extLst>
          </p:cNvPr>
          <p:cNvSpPr/>
          <p:nvPr/>
        </p:nvSpPr>
        <p:spPr>
          <a:xfrm>
            <a:off x="1" y="6439615"/>
            <a:ext cx="12192000" cy="418385"/>
          </a:xfrm>
          <a:prstGeom prst="rect">
            <a:avLst/>
          </a:prstGeom>
          <a:solidFill>
            <a:srgbClr val="7C90D3"/>
          </a:solidFill>
          <a:ln>
            <a:solidFill>
              <a:srgbClr val="85A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MY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CEAE933-B90A-8535-AC6C-2345F2D5BE98}"/>
              </a:ext>
            </a:extLst>
          </p:cNvPr>
          <p:cNvSpPr/>
          <p:nvPr/>
        </p:nvSpPr>
        <p:spPr>
          <a:xfrm>
            <a:off x="699938" y="998484"/>
            <a:ext cx="4801094" cy="836271"/>
          </a:xfrm>
          <a:prstGeom prst="roundRect">
            <a:avLst/>
          </a:prstGeom>
          <a:solidFill>
            <a:srgbClr val="169C9A"/>
          </a:solidFill>
          <a:ln>
            <a:solidFill>
              <a:srgbClr val="148E8B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2000" b="1">
                <a:solidFill>
                  <a:schemeClr val="bg1">
                    <a:lumMod val="95000"/>
                  </a:schemeClr>
                </a:solidFill>
                <a:cs typeface="Arial" panose="020B0604020202020204" pitchFamily="34" charset="0"/>
              </a:rPr>
              <a:t>Warm-up/Freezing Stage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49A6E3-45A6-9D71-1EFB-53E4042333FE}"/>
              </a:ext>
            </a:extLst>
          </p:cNvPr>
          <p:cNvSpPr/>
          <p:nvPr/>
        </p:nvSpPr>
        <p:spPr>
          <a:xfrm>
            <a:off x="6608722" y="1015216"/>
            <a:ext cx="4834328" cy="836271"/>
          </a:xfrm>
          <a:prstGeom prst="roundRect">
            <a:avLst/>
          </a:prstGeom>
          <a:solidFill>
            <a:srgbClr val="D24F2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2000" b="1">
                <a:solidFill>
                  <a:schemeClr val="bg1">
                    <a:lumMod val="95000"/>
                  </a:schemeClr>
                </a:solidFill>
                <a:cs typeface="Arial" panose="020B0604020202020204" pitchFamily="34" charset="0"/>
              </a:rPr>
              <a:t>Fine-tuning/Unfreezing Stage</a:t>
            </a:r>
          </a:p>
        </p:txBody>
      </p:sp>
      <p:pic>
        <p:nvPicPr>
          <p:cNvPr id="3074" name="Picture 2" descr="Shiver - Free smileys icons">
            <a:extLst>
              <a:ext uri="{FF2B5EF4-FFF2-40B4-BE49-F238E27FC236}">
                <a16:creationId xmlns:a16="http://schemas.microsoft.com/office/drawing/2014/main" id="{6E86C5F9-0173-1A50-B602-1F8A1836C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559" y="363754"/>
            <a:ext cx="1247965" cy="1247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5FC9864-0900-DF63-6687-DB6CB6472757}"/>
              </a:ext>
            </a:extLst>
          </p:cNvPr>
          <p:cNvSpPr/>
          <p:nvPr/>
        </p:nvSpPr>
        <p:spPr>
          <a:xfrm>
            <a:off x="1198975" y="2451117"/>
            <a:ext cx="3879685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0" cap="none" spc="0">
                <a:ln w="0"/>
                <a:latin typeface="Bahnschrift" panose="020B0502040204020203" pitchFamily="34" charset="0"/>
                <a:cs typeface="Arial" panose="020B0604020202020204" pitchFamily="34" charset="0"/>
              </a:rPr>
              <a:t>It just means training the </a:t>
            </a:r>
            <a:r>
              <a:rPr lang="en-US" sz="2000" b="1" cap="none" spc="0">
                <a:ln w="0"/>
                <a:latin typeface="Bahnschrift" panose="020B0502040204020203" pitchFamily="34" charset="0"/>
                <a:cs typeface="Arial" panose="020B0604020202020204" pitchFamily="34" charset="0"/>
              </a:rPr>
              <a:t>head </a:t>
            </a:r>
            <a:r>
              <a:rPr lang="en-US" sz="2000" cap="none" spc="0">
                <a:ln w="0"/>
                <a:latin typeface="Bahnschrift" panose="020B0502040204020203" pitchFamily="34" charset="0"/>
                <a:cs typeface="Arial" panose="020B0604020202020204" pitchFamily="34" charset="0"/>
              </a:rPr>
              <a:t>data set and </a:t>
            </a:r>
            <a:r>
              <a:rPr lang="en-US" sz="2000" b="1">
                <a:ln w="0"/>
                <a:latin typeface="Bahnschrift" panose="020B0502040204020203" pitchFamily="34" charset="0"/>
                <a:cs typeface="Arial" panose="020B0604020202020204" pitchFamily="34" charset="0"/>
              </a:rPr>
              <a:t>freeze/don’t train </a:t>
            </a:r>
            <a:r>
              <a:rPr lang="en-US" sz="2000">
                <a:ln w="0"/>
                <a:latin typeface="Bahnschrift" panose="020B0502040204020203" pitchFamily="34" charset="0"/>
                <a:cs typeface="Arial" panose="020B0604020202020204" pitchFamily="34" charset="0"/>
              </a:rPr>
              <a:t>the backbone/remaining dataset</a:t>
            </a:r>
            <a:endParaRPr lang="en-US" sz="2000" b="0" cap="none" spc="0">
              <a:ln w="0"/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6417CD6-5955-4FD9-7F8F-9E5A0480AE3F}"/>
              </a:ext>
            </a:extLst>
          </p:cNvPr>
          <p:cNvSpPr/>
          <p:nvPr/>
        </p:nvSpPr>
        <p:spPr>
          <a:xfrm>
            <a:off x="699938" y="3974275"/>
            <a:ext cx="4801094" cy="632103"/>
          </a:xfrm>
          <a:prstGeom prst="roundRect">
            <a:avLst/>
          </a:prstGeom>
          <a:solidFill>
            <a:srgbClr val="169C9A"/>
          </a:solidFill>
          <a:ln>
            <a:solidFill>
              <a:srgbClr val="148E8B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2000" b="1">
                <a:solidFill>
                  <a:schemeClr val="bg1">
                    <a:lumMod val="95000"/>
                  </a:schemeClr>
                </a:solidFill>
                <a:cs typeface="Arial" panose="020B0604020202020204" pitchFamily="34" charset="0"/>
              </a:rPr>
              <a:t>Why?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3A442B8-BA92-F225-FD0B-2EFE442EA322}"/>
              </a:ext>
            </a:extLst>
          </p:cNvPr>
          <p:cNvSpPr/>
          <p:nvPr/>
        </p:nvSpPr>
        <p:spPr>
          <a:xfrm>
            <a:off x="6608721" y="3922731"/>
            <a:ext cx="4801093" cy="632103"/>
          </a:xfrm>
          <a:prstGeom prst="roundRect">
            <a:avLst/>
          </a:prstGeom>
          <a:solidFill>
            <a:srgbClr val="D24F2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2000" b="1">
                <a:solidFill>
                  <a:schemeClr val="bg1">
                    <a:lumMod val="95000"/>
                  </a:schemeClr>
                </a:solidFill>
                <a:cs typeface="Arial" panose="020B0604020202020204" pitchFamily="34" charset="0"/>
              </a:rPr>
              <a:t>Why?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6FB765-7791-174A-7F90-6017B9F49779}"/>
              </a:ext>
            </a:extLst>
          </p:cNvPr>
          <p:cNvSpPr/>
          <p:nvPr/>
        </p:nvSpPr>
        <p:spPr>
          <a:xfrm>
            <a:off x="924056" y="5155968"/>
            <a:ext cx="430205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cap="none" spc="0">
                <a:ln/>
                <a:solidFill>
                  <a:srgbClr val="222F4A"/>
                </a:solidFill>
                <a:effectLst/>
                <a:latin typeface="Bahnschrift" panose="020B0502040204020203" pitchFamily="34" charset="0"/>
                <a:cs typeface="Arial" panose="020B0604020202020204" pitchFamily="34" charset="0"/>
              </a:rPr>
              <a:t>So pretrained model can adapt to Malaria dataset quickly!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7799E05-072C-2F62-3791-6CC015D4DEBE}"/>
              </a:ext>
            </a:extLst>
          </p:cNvPr>
          <p:cNvSpPr/>
          <p:nvPr/>
        </p:nvSpPr>
        <p:spPr>
          <a:xfrm>
            <a:off x="6899271" y="2523642"/>
            <a:ext cx="4344030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0" cap="none" spc="0">
                <a:ln w="0"/>
                <a:latin typeface="Bahnschrift" panose="020B0502040204020203" pitchFamily="34" charset="0"/>
                <a:cs typeface="Arial" panose="020B0604020202020204" pitchFamily="34" charset="0"/>
              </a:rPr>
              <a:t>It just means to train all the remaining dataset </a:t>
            </a:r>
          </a:p>
          <a:p>
            <a:pPr algn="ctr"/>
            <a:r>
              <a:rPr lang="en-US" sz="2000" b="0" cap="none" spc="0">
                <a:ln w="0"/>
                <a:latin typeface="Bahnschrift" panose="020B0502040204020203" pitchFamily="34" charset="0"/>
                <a:cs typeface="Arial" panose="020B0604020202020204" pitchFamily="34" charset="0"/>
              </a:rPr>
              <a:t>(20 epoch for our case)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E97C44A-C128-4BBE-2AD4-FDA9A51473EE}"/>
              </a:ext>
            </a:extLst>
          </p:cNvPr>
          <p:cNvSpPr/>
          <p:nvPr/>
        </p:nvSpPr>
        <p:spPr>
          <a:xfrm>
            <a:off x="6846887" y="5166129"/>
            <a:ext cx="432475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cap="none" spc="0">
                <a:ln/>
                <a:solidFill>
                  <a:srgbClr val="222F4A"/>
                </a:solidFill>
                <a:effectLst/>
                <a:latin typeface="Bahnschrift" panose="020B0502040204020203" pitchFamily="34" charset="0"/>
                <a:cs typeface="Arial" panose="020B0604020202020204" pitchFamily="34" charset="0"/>
              </a:rPr>
              <a:t>Train model with a smaller learning rate to refine features for Malaria Detection!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DC2088-6267-0FB0-E238-62C272EE2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GB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8DF4DC5-B1F8-7A3B-8064-87401F1B17B9}"/>
              </a:ext>
            </a:extLst>
          </p:cNvPr>
          <p:cNvSpPr/>
          <p:nvPr/>
        </p:nvSpPr>
        <p:spPr>
          <a:xfrm>
            <a:off x="699938" y="2272002"/>
            <a:ext cx="4801094" cy="1373895"/>
          </a:xfrm>
          <a:prstGeom prst="roundRect">
            <a:avLst>
              <a:gd name="adj" fmla="val 5146"/>
            </a:avLst>
          </a:prstGeom>
          <a:noFill/>
          <a:ln w="12700">
            <a:solidFill>
              <a:srgbClr val="169C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sz="1200" b="1">
              <a:solidFill>
                <a:srgbClr val="222F4A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0B03695-A113-40CF-F3FF-DA3E254268AD}"/>
              </a:ext>
            </a:extLst>
          </p:cNvPr>
          <p:cNvSpPr/>
          <p:nvPr/>
        </p:nvSpPr>
        <p:spPr>
          <a:xfrm>
            <a:off x="699938" y="4743018"/>
            <a:ext cx="4801094" cy="1373895"/>
          </a:xfrm>
          <a:prstGeom prst="roundRect">
            <a:avLst>
              <a:gd name="adj" fmla="val 5146"/>
            </a:avLst>
          </a:prstGeom>
          <a:noFill/>
          <a:ln w="12700">
            <a:solidFill>
              <a:srgbClr val="169C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sz="1200" b="1">
              <a:solidFill>
                <a:srgbClr val="222F4A"/>
              </a:solidFill>
            </a:endParaRPr>
          </a:p>
        </p:txBody>
      </p:sp>
      <p:pic>
        <p:nvPicPr>
          <p:cNvPr id="3076" name="Picture 4" descr="Ice cube melting in a puddle vector illustration. realistic blue crystals  of ice melting in a">
            <a:extLst>
              <a:ext uri="{FF2B5EF4-FFF2-40B4-BE49-F238E27FC236}">
                <a16:creationId xmlns:a16="http://schemas.microsoft.com/office/drawing/2014/main" id="{1AFDC6AE-4546-4FFF-73C7-51F25B543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9200" y="315725"/>
            <a:ext cx="1739042" cy="1739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65468D0-9A72-2B12-BEC6-F186EE98F951}"/>
              </a:ext>
            </a:extLst>
          </p:cNvPr>
          <p:cNvSpPr/>
          <p:nvPr/>
        </p:nvSpPr>
        <p:spPr>
          <a:xfrm>
            <a:off x="6608720" y="2270777"/>
            <a:ext cx="4801094" cy="1447645"/>
          </a:xfrm>
          <a:prstGeom prst="roundRect">
            <a:avLst>
              <a:gd name="adj" fmla="val 5146"/>
            </a:avLst>
          </a:prstGeom>
          <a:noFill/>
          <a:ln w="12700">
            <a:solidFill>
              <a:srgbClr val="D24F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sz="1200" b="1">
              <a:solidFill>
                <a:srgbClr val="222F4A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440F4D4-FFF5-5486-D593-7BB7D4892228}"/>
              </a:ext>
            </a:extLst>
          </p:cNvPr>
          <p:cNvSpPr/>
          <p:nvPr/>
        </p:nvSpPr>
        <p:spPr>
          <a:xfrm>
            <a:off x="6608720" y="4743018"/>
            <a:ext cx="4801094" cy="1447645"/>
          </a:xfrm>
          <a:prstGeom prst="roundRect">
            <a:avLst>
              <a:gd name="adj" fmla="val 5146"/>
            </a:avLst>
          </a:prstGeom>
          <a:noFill/>
          <a:ln w="12700">
            <a:solidFill>
              <a:srgbClr val="D24F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sz="1200" b="1">
              <a:solidFill>
                <a:srgbClr val="222F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6253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3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300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3" dur="3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  <p:bldP spid="11" grpId="0" animBg="1"/>
      <p:bldP spid="20" grpId="0" animBg="1"/>
      <p:bldP spid="21" grpId="0"/>
      <p:bldP spid="23" grpId="0"/>
      <p:bldP spid="24" grpId="0"/>
      <p:bldP spid="13" grpId="0" animBg="1"/>
      <p:bldP spid="14" grpId="0" animBg="1"/>
      <p:bldP spid="15" grpId="0" animBg="1"/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58CB1-B40E-7E29-B214-F75E68343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CB373E-BBC8-1CB6-6297-B7197B1F82A6}"/>
              </a:ext>
            </a:extLst>
          </p:cNvPr>
          <p:cNvSpPr/>
          <p:nvPr/>
        </p:nvSpPr>
        <p:spPr>
          <a:xfrm>
            <a:off x="1" y="6439615"/>
            <a:ext cx="12192000" cy="418385"/>
          </a:xfrm>
          <a:prstGeom prst="rect">
            <a:avLst/>
          </a:prstGeom>
          <a:solidFill>
            <a:srgbClr val="7C90D3"/>
          </a:solidFill>
          <a:ln>
            <a:solidFill>
              <a:srgbClr val="85A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MY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295F0D1-08F3-2A13-72BB-0A6D73F48CE9}"/>
              </a:ext>
            </a:extLst>
          </p:cNvPr>
          <p:cNvCxnSpPr>
            <a:cxnSpLocks/>
          </p:cNvCxnSpPr>
          <p:nvPr/>
        </p:nvCxnSpPr>
        <p:spPr>
          <a:xfrm>
            <a:off x="2529840" y="374650"/>
            <a:ext cx="0" cy="596519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0EB6C1-0A17-8B7D-9B33-81E28B305CD6}"/>
              </a:ext>
            </a:extLst>
          </p:cNvPr>
          <p:cNvCxnSpPr>
            <a:cxnSpLocks/>
          </p:cNvCxnSpPr>
          <p:nvPr/>
        </p:nvCxnSpPr>
        <p:spPr>
          <a:xfrm>
            <a:off x="7762240" y="374650"/>
            <a:ext cx="0" cy="596519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69BAD0C-2100-D677-59C9-018BF1BC7E7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2177" y="518552"/>
            <a:ext cx="10367645" cy="48040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B51AFE6-678F-F38B-C1E8-3A68BB251B3A}"/>
              </a:ext>
            </a:extLst>
          </p:cNvPr>
          <p:cNvSpPr/>
          <p:nvPr/>
        </p:nvSpPr>
        <p:spPr>
          <a:xfrm>
            <a:off x="1633728" y="822960"/>
            <a:ext cx="896108" cy="3950208"/>
          </a:xfrm>
          <a:prstGeom prst="rect">
            <a:avLst/>
          </a:prstGeom>
          <a:solidFill>
            <a:srgbClr val="169C9A">
              <a:alpha val="1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C14ED0-7653-4280-3768-EC5EB94C971E}"/>
              </a:ext>
            </a:extLst>
          </p:cNvPr>
          <p:cNvSpPr/>
          <p:nvPr/>
        </p:nvSpPr>
        <p:spPr>
          <a:xfrm>
            <a:off x="6863085" y="822960"/>
            <a:ext cx="899150" cy="3950208"/>
          </a:xfrm>
          <a:prstGeom prst="rect">
            <a:avLst/>
          </a:prstGeom>
          <a:solidFill>
            <a:srgbClr val="169C9A">
              <a:alpha val="1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E52C4F-3CDF-696E-A1AF-6B7AAAFEF307}"/>
              </a:ext>
            </a:extLst>
          </p:cNvPr>
          <p:cNvSpPr/>
          <p:nvPr/>
        </p:nvSpPr>
        <p:spPr>
          <a:xfrm>
            <a:off x="2660466" y="5374868"/>
            <a:ext cx="5101769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cap="none" spc="0">
                <a:ln w="0"/>
                <a:solidFill>
                  <a:schemeClr val="accent5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After unfreezing (epoch 6-25), </a:t>
            </a:r>
          </a:p>
          <a:p>
            <a:pPr algn="ctr"/>
            <a:r>
              <a:rPr lang="en-US" sz="2000" cap="none" spc="0">
                <a:ln w="0"/>
                <a:solidFill>
                  <a:schemeClr val="accent5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loss decreased drastically &amp; accuracy approaches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95747-AB5D-9B4B-9F39-B596AD556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dirty="0">
                <a:solidFill>
                  <a:schemeClr val="bg1"/>
                </a:solidFill>
              </a:rPr>
              <a:t>26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34F139-842E-D6FA-3AD0-A61CC2B3EA03}"/>
              </a:ext>
            </a:extLst>
          </p:cNvPr>
          <p:cNvSpPr/>
          <p:nvPr/>
        </p:nvSpPr>
        <p:spPr>
          <a:xfrm>
            <a:off x="2529836" y="822960"/>
            <a:ext cx="3439164" cy="3950208"/>
          </a:xfrm>
          <a:prstGeom prst="rect">
            <a:avLst/>
          </a:prstGeom>
          <a:solidFill>
            <a:srgbClr val="D24F20">
              <a:alpha val="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7F423C-5D10-8872-612B-C37E672AE1EB}"/>
              </a:ext>
            </a:extLst>
          </p:cNvPr>
          <p:cNvSpPr/>
          <p:nvPr/>
        </p:nvSpPr>
        <p:spPr>
          <a:xfrm>
            <a:off x="7762235" y="822960"/>
            <a:ext cx="3413765" cy="3950208"/>
          </a:xfrm>
          <a:prstGeom prst="rect">
            <a:avLst/>
          </a:prstGeom>
          <a:solidFill>
            <a:srgbClr val="D24F20">
              <a:alpha val="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50734CC-DD88-925D-4D2A-CBDEFDD8D4D0}"/>
              </a:ext>
            </a:extLst>
          </p:cNvPr>
          <p:cNvSpPr/>
          <p:nvPr/>
        </p:nvSpPr>
        <p:spPr>
          <a:xfrm>
            <a:off x="9718038" y="5773544"/>
            <a:ext cx="421256" cy="233337"/>
          </a:xfrm>
          <a:prstGeom prst="roundRect">
            <a:avLst/>
          </a:prstGeom>
          <a:solidFill>
            <a:srgbClr val="DCF0F0"/>
          </a:solidFill>
          <a:ln>
            <a:solidFill>
              <a:srgbClr val="148E8B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sz="2000" b="1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103856-C642-D84F-4971-B8F653845951}"/>
              </a:ext>
            </a:extLst>
          </p:cNvPr>
          <p:cNvSpPr txBox="1"/>
          <p:nvPr/>
        </p:nvSpPr>
        <p:spPr>
          <a:xfrm>
            <a:off x="10149647" y="5768489"/>
            <a:ext cx="20527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200">
                <a:solidFill>
                  <a:srgbClr val="222F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Freezing Stage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507C0D7-870D-9568-CB71-AA0ADE21C2AE}"/>
              </a:ext>
            </a:extLst>
          </p:cNvPr>
          <p:cNvSpPr/>
          <p:nvPr/>
        </p:nvSpPr>
        <p:spPr>
          <a:xfrm>
            <a:off x="9718038" y="6065401"/>
            <a:ext cx="421256" cy="233337"/>
          </a:xfrm>
          <a:prstGeom prst="roundRect">
            <a:avLst/>
          </a:prstGeom>
          <a:solidFill>
            <a:srgbClr val="FDF6F4"/>
          </a:solidFill>
          <a:ln>
            <a:solidFill>
              <a:srgbClr val="D24F2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sz="2000" b="1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25982E-CC75-9F4F-A9D4-FBB84F20D806}"/>
              </a:ext>
            </a:extLst>
          </p:cNvPr>
          <p:cNvSpPr txBox="1"/>
          <p:nvPr/>
        </p:nvSpPr>
        <p:spPr>
          <a:xfrm>
            <a:off x="10149647" y="6045488"/>
            <a:ext cx="20527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>
                <a:solidFill>
                  <a:srgbClr val="222F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Unf</a:t>
            </a:r>
            <a:r>
              <a:rPr lang="en-MY" sz="1200" err="1">
                <a:solidFill>
                  <a:srgbClr val="222F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reezing</a:t>
            </a:r>
            <a:r>
              <a:rPr lang="en-MY" sz="1200">
                <a:solidFill>
                  <a:srgbClr val="222F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Stage</a:t>
            </a:r>
          </a:p>
        </p:txBody>
      </p:sp>
    </p:spTree>
    <p:extLst>
      <p:ext uri="{BB962C8B-B14F-4D97-AF65-F5344CB8AC3E}">
        <p14:creationId xmlns:p14="http://schemas.microsoft.com/office/powerpoint/2010/main" val="29611574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21" grpId="0"/>
      <p:bldP spid="6" grpId="0" animBg="1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8486F-2315-3D2A-A541-A3C14370C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F29E71-873F-581D-C9D6-87239829A5AA}"/>
              </a:ext>
            </a:extLst>
          </p:cNvPr>
          <p:cNvSpPr/>
          <p:nvPr/>
        </p:nvSpPr>
        <p:spPr>
          <a:xfrm>
            <a:off x="0" y="2053820"/>
            <a:ext cx="12192000" cy="2865422"/>
          </a:xfrm>
          <a:prstGeom prst="rect">
            <a:avLst/>
          </a:prstGeom>
          <a:solidFill>
            <a:srgbClr val="F6F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A65DF9-618D-BB05-94EC-7327020E2003}"/>
              </a:ext>
            </a:extLst>
          </p:cNvPr>
          <p:cNvSpPr/>
          <p:nvPr/>
        </p:nvSpPr>
        <p:spPr>
          <a:xfrm>
            <a:off x="1" y="6439615"/>
            <a:ext cx="12192000" cy="418385"/>
          </a:xfrm>
          <a:prstGeom prst="rect">
            <a:avLst/>
          </a:prstGeom>
          <a:solidFill>
            <a:srgbClr val="7C90D3"/>
          </a:solidFill>
          <a:ln>
            <a:solidFill>
              <a:srgbClr val="85A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CB1DC-AE77-DDC1-0674-0B091E14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smtClean="0">
                <a:solidFill>
                  <a:schemeClr val="bg1"/>
                </a:solidFill>
              </a:rPr>
              <a:t>27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91BE00-6228-9F7F-C5F5-8F1D49C61D1F}"/>
              </a:ext>
            </a:extLst>
          </p:cNvPr>
          <p:cNvSpPr/>
          <p:nvPr/>
        </p:nvSpPr>
        <p:spPr>
          <a:xfrm>
            <a:off x="208805" y="1353984"/>
            <a:ext cx="165622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3200" b="1" cap="none" spc="0">
                <a:ln/>
                <a:solidFill>
                  <a:schemeClr val="accent3"/>
                </a:solidFill>
                <a:effectLst/>
                <a:latin typeface="Bahnschrift" panose="020B0502040204020203" pitchFamily="34" charset="0"/>
              </a:rPr>
              <a:t>Recall….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864E80-0CC9-92D3-7336-B3AD1FA5E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018" y="1233281"/>
            <a:ext cx="7895613" cy="4391437"/>
          </a:xfrm>
          <a:prstGeom prst="rect">
            <a:avLst/>
          </a:prstGeom>
          <a:ln w="635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ADBAA7-6724-9C80-1991-0BA69EE9D7F5}"/>
              </a:ext>
            </a:extLst>
          </p:cNvPr>
          <p:cNvSpPr txBox="1"/>
          <p:nvPr/>
        </p:nvSpPr>
        <p:spPr>
          <a:xfrm>
            <a:off x="3928267" y="5739779"/>
            <a:ext cx="69809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chemeClr val="accent3"/>
                </a:solidFill>
                <a:latin typeface="Bahnschrift" panose="020B0502040204020203" pitchFamily="34" charset="0"/>
              </a:rPr>
              <a:t>Fluctuations and Spikes!</a:t>
            </a:r>
            <a:endParaRPr lang="en-MY" sz="3200" b="1">
              <a:solidFill>
                <a:schemeClr val="accent3"/>
              </a:solidFill>
              <a:latin typeface="Bahnschrift" panose="020B0502040204020203" pitchFamily="34" charset="0"/>
            </a:endParaRPr>
          </a:p>
        </p:txBody>
      </p:sp>
      <p:pic>
        <p:nvPicPr>
          <p:cNvPr id="1026" name="Picture 2" descr="Alert, attention, beware, caution, danger, road, sign icon - Download on  Iconfinder">
            <a:extLst>
              <a:ext uri="{FF2B5EF4-FFF2-40B4-BE49-F238E27FC236}">
                <a16:creationId xmlns:a16="http://schemas.microsoft.com/office/drawing/2014/main" id="{AC4D2D87-1CBA-A4E8-0873-29F7FD9E9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0065" y="1302151"/>
            <a:ext cx="636608" cy="636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Alert, attention, beware, caution, danger, road, sign icon - Download on  Iconfinder">
            <a:extLst>
              <a:ext uri="{FF2B5EF4-FFF2-40B4-BE49-F238E27FC236}">
                <a16:creationId xmlns:a16="http://schemas.microsoft.com/office/drawing/2014/main" id="{9DB485F9-27C5-04EB-A997-15BD8CB43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659" y="4487118"/>
            <a:ext cx="636608" cy="636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Alert, attention, beware, caution, danger, road, sign icon - Download on  Iconfinder">
            <a:extLst>
              <a:ext uri="{FF2B5EF4-FFF2-40B4-BE49-F238E27FC236}">
                <a16:creationId xmlns:a16="http://schemas.microsoft.com/office/drawing/2014/main" id="{4AF42129-C567-F920-B4FC-DBC3E179F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021" y="3285280"/>
            <a:ext cx="636608" cy="636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Alert, attention, beware, caution, danger, road, sign icon - Download on  Iconfinder">
            <a:extLst>
              <a:ext uri="{FF2B5EF4-FFF2-40B4-BE49-F238E27FC236}">
                <a16:creationId xmlns:a16="http://schemas.microsoft.com/office/drawing/2014/main" id="{1A59E28C-3915-DB72-77B8-232024EA2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0252" y="3842793"/>
            <a:ext cx="636608" cy="636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Alert, attention, beware, caution, danger, road, sign icon - Download on  Iconfinder">
            <a:extLst>
              <a:ext uri="{FF2B5EF4-FFF2-40B4-BE49-F238E27FC236}">
                <a16:creationId xmlns:a16="http://schemas.microsoft.com/office/drawing/2014/main" id="{ED1AFAF1-523C-FDEE-ACF6-B97BF15C4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2709" y="2374738"/>
            <a:ext cx="636608" cy="636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106060-4DA5-96C3-691A-3EBAB4555CA7}"/>
              </a:ext>
            </a:extLst>
          </p:cNvPr>
          <p:cNvSpPr txBox="1"/>
          <p:nvPr/>
        </p:nvSpPr>
        <p:spPr>
          <a:xfrm>
            <a:off x="491614" y="491613"/>
            <a:ext cx="5895973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AU" sz="3200" b="1">
                <a:solidFill>
                  <a:srgbClr val="5654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Modifying Training Backbone</a:t>
            </a:r>
          </a:p>
        </p:txBody>
      </p:sp>
    </p:spTree>
    <p:extLst>
      <p:ext uri="{BB962C8B-B14F-4D97-AF65-F5344CB8AC3E}">
        <p14:creationId xmlns:p14="http://schemas.microsoft.com/office/powerpoint/2010/main" val="38905555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5C3D12-4B37-0B4E-209A-9EDEA997E3D2}"/>
              </a:ext>
            </a:extLst>
          </p:cNvPr>
          <p:cNvSpPr/>
          <p:nvPr/>
        </p:nvSpPr>
        <p:spPr>
          <a:xfrm>
            <a:off x="0" y="2639028"/>
            <a:ext cx="12192000" cy="1632029"/>
          </a:xfrm>
          <a:prstGeom prst="rect">
            <a:avLst/>
          </a:prstGeom>
          <a:solidFill>
            <a:srgbClr val="F6F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BF2E6E-484A-A6DA-0D0D-86C5F467995C}"/>
              </a:ext>
            </a:extLst>
          </p:cNvPr>
          <p:cNvSpPr/>
          <p:nvPr/>
        </p:nvSpPr>
        <p:spPr>
          <a:xfrm>
            <a:off x="1" y="6439615"/>
            <a:ext cx="12192000" cy="418385"/>
          </a:xfrm>
          <a:prstGeom prst="rect">
            <a:avLst/>
          </a:prstGeom>
          <a:solidFill>
            <a:srgbClr val="7C90D3"/>
          </a:solidFill>
          <a:ln>
            <a:solidFill>
              <a:srgbClr val="85A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MY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A4AE7A-2369-5801-D831-51A9DFB69C59}"/>
              </a:ext>
            </a:extLst>
          </p:cNvPr>
          <p:cNvSpPr txBox="1"/>
          <p:nvPr/>
        </p:nvSpPr>
        <p:spPr>
          <a:xfrm>
            <a:off x="491614" y="491613"/>
            <a:ext cx="5895973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AU" sz="3200" b="1">
                <a:solidFill>
                  <a:srgbClr val="5654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Modifying Training Backbone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FF4E98-EC81-8350-42FB-39C90DAFC8ED}"/>
              </a:ext>
            </a:extLst>
          </p:cNvPr>
          <p:cNvSpPr/>
          <p:nvPr/>
        </p:nvSpPr>
        <p:spPr>
          <a:xfrm>
            <a:off x="316375" y="3010864"/>
            <a:ext cx="2944325" cy="836271"/>
          </a:xfrm>
          <a:prstGeom prst="roundRect">
            <a:avLst/>
          </a:prstGeom>
          <a:solidFill>
            <a:srgbClr val="3E5687"/>
          </a:solidFill>
          <a:ln>
            <a:solidFill>
              <a:srgbClr val="7C90D3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2000" b="1">
                <a:solidFill>
                  <a:schemeClr val="bg1">
                    <a:lumMod val="95000"/>
                  </a:schemeClr>
                </a:solidFill>
                <a:cs typeface="Arial" panose="020B0604020202020204" pitchFamily="34" charset="0"/>
              </a:rPr>
              <a:t>Gradient Clipping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859C06-2E6D-12C4-643C-D41567556615}"/>
              </a:ext>
            </a:extLst>
          </p:cNvPr>
          <p:cNvSpPr/>
          <p:nvPr/>
        </p:nvSpPr>
        <p:spPr>
          <a:xfrm>
            <a:off x="4347601" y="3010864"/>
            <a:ext cx="2944325" cy="836271"/>
          </a:xfrm>
          <a:prstGeom prst="roundRect">
            <a:avLst/>
          </a:prstGeom>
          <a:solidFill>
            <a:srgbClr val="169C9A"/>
          </a:solidFill>
          <a:ln>
            <a:solidFill>
              <a:srgbClr val="148E8B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2000" b="1">
                <a:solidFill>
                  <a:schemeClr val="bg1">
                    <a:lumMod val="95000"/>
                  </a:schemeClr>
                </a:solidFill>
                <a:cs typeface="Arial" panose="020B0604020202020204" pitchFamily="34" charset="0"/>
              </a:rPr>
              <a:t>Label smoothing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D363C9F-B1FA-3C16-F2E6-2EE423FEE35C}"/>
              </a:ext>
            </a:extLst>
          </p:cNvPr>
          <p:cNvSpPr/>
          <p:nvPr/>
        </p:nvSpPr>
        <p:spPr>
          <a:xfrm>
            <a:off x="8407401" y="3010864"/>
            <a:ext cx="3468224" cy="836271"/>
          </a:xfrm>
          <a:prstGeom prst="roundRect">
            <a:avLst/>
          </a:prstGeom>
          <a:solidFill>
            <a:srgbClr val="D24F2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2000" b="1">
                <a:solidFill>
                  <a:schemeClr val="bg1">
                    <a:lumMod val="95000"/>
                  </a:schemeClr>
                </a:solidFill>
                <a:cs typeface="Arial" panose="020B0604020202020204" pitchFamily="34" charset="0"/>
              </a:rPr>
              <a:t>Cosine Annealing Learning Rate Scheduler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79F86B4-4A8E-4F94-E728-2C661ED5E04B}"/>
              </a:ext>
            </a:extLst>
          </p:cNvPr>
          <p:cNvSpPr/>
          <p:nvPr/>
        </p:nvSpPr>
        <p:spPr>
          <a:xfrm>
            <a:off x="3487661" y="3306866"/>
            <a:ext cx="719724" cy="29446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413FD82-D549-8334-28C7-0AFEC075E729}"/>
              </a:ext>
            </a:extLst>
          </p:cNvPr>
          <p:cNvSpPr/>
          <p:nvPr/>
        </p:nvSpPr>
        <p:spPr>
          <a:xfrm>
            <a:off x="7469345" y="3306866"/>
            <a:ext cx="719724" cy="294461"/>
          </a:xfrm>
          <a:prstGeom prst="rightArrow">
            <a:avLst/>
          </a:prstGeom>
          <a:solidFill>
            <a:srgbClr val="D24F2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sz="2000" b="1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328695-F95D-E87E-C842-2052A1ECDBD0}"/>
              </a:ext>
            </a:extLst>
          </p:cNvPr>
          <p:cNvSpPr/>
          <p:nvPr/>
        </p:nvSpPr>
        <p:spPr>
          <a:xfrm>
            <a:off x="4827063" y="1425289"/>
            <a:ext cx="253787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4000" b="1">
                <a:ln/>
                <a:solidFill>
                  <a:schemeClr val="accent3"/>
                </a:solidFill>
                <a:cs typeface="Arial" panose="020B0604020202020204" pitchFamily="34" charset="0"/>
              </a:rPr>
              <a:t>Overview</a:t>
            </a:r>
            <a:endParaRPr lang="en-US" sz="5400" b="1">
              <a:ln/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FBF24C-4506-593E-A0E3-71A483688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smtClean="0">
                <a:solidFill>
                  <a:schemeClr val="bg1"/>
                </a:solidFill>
              </a:rPr>
              <a:t>28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831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5AAA4-AB56-396E-4DC3-57293FC38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6F281AF-8B83-C769-2B5E-1047AF58A81B}"/>
              </a:ext>
            </a:extLst>
          </p:cNvPr>
          <p:cNvSpPr/>
          <p:nvPr/>
        </p:nvSpPr>
        <p:spPr>
          <a:xfrm>
            <a:off x="0" y="1300188"/>
            <a:ext cx="12192000" cy="4856522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9AEE88-FED7-B6B3-BDB8-A397CC4DE9BD}"/>
              </a:ext>
            </a:extLst>
          </p:cNvPr>
          <p:cNvSpPr/>
          <p:nvPr/>
        </p:nvSpPr>
        <p:spPr>
          <a:xfrm>
            <a:off x="1" y="6439615"/>
            <a:ext cx="12192000" cy="418385"/>
          </a:xfrm>
          <a:prstGeom prst="rect">
            <a:avLst/>
          </a:prstGeom>
          <a:solidFill>
            <a:srgbClr val="7C90D3"/>
          </a:solidFill>
          <a:ln>
            <a:solidFill>
              <a:srgbClr val="85A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MY"/>
          </a:p>
        </p:txBody>
      </p:sp>
      <p:pic>
        <p:nvPicPr>
          <p:cNvPr id="2050" name="Picture 2" descr="Exploding Gradient Explained: How To Detect &amp; Overcome It">
            <a:extLst>
              <a:ext uri="{FF2B5EF4-FFF2-40B4-BE49-F238E27FC236}">
                <a16:creationId xmlns:a16="http://schemas.microsoft.com/office/drawing/2014/main" id="{78A11E07-A5B6-4E42-8C13-8EA9346D1A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84" t="-1469" r="14498" b="1409"/>
          <a:stretch>
            <a:fillRect/>
          </a:stretch>
        </p:blipFill>
        <p:spPr bwMode="auto">
          <a:xfrm>
            <a:off x="4275275" y="2649118"/>
            <a:ext cx="3319053" cy="2886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0E848B5-AD7B-B045-6513-1269409DF8F6}"/>
              </a:ext>
            </a:extLst>
          </p:cNvPr>
          <p:cNvSpPr/>
          <p:nvPr/>
        </p:nvSpPr>
        <p:spPr>
          <a:xfrm>
            <a:off x="896103" y="1508676"/>
            <a:ext cx="9729456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prstMaterial="matte"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800" b="1">
                <a:ln/>
                <a:solidFill>
                  <a:schemeClr val="accent5">
                    <a:lumMod val="75000"/>
                  </a:schemeClr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Gradient Exploding issue: </a:t>
            </a:r>
          </a:p>
          <a:p>
            <a:pPr algn="ctr"/>
            <a:r>
              <a:rPr lang="en-US" sz="2800" b="1">
                <a:ln/>
                <a:solidFill>
                  <a:schemeClr val="accent3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gradient is extensively large during backpropagation</a:t>
            </a:r>
            <a:endParaRPr lang="en-US" sz="4000" b="1">
              <a:ln/>
              <a:solidFill>
                <a:schemeClr val="accent3"/>
              </a:solidFill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D6240-B773-ABC6-F333-CF177B57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smtClean="0">
                <a:solidFill>
                  <a:schemeClr val="bg1"/>
                </a:solidFill>
              </a:rPr>
              <a:t>29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ED38DE-C0CF-0B49-505D-C078B43DBCEE}"/>
              </a:ext>
            </a:extLst>
          </p:cNvPr>
          <p:cNvSpPr/>
          <p:nvPr/>
        </p:nvSpPr>
        <p:spPr>
          <a:xfrm>
            <a:off x="247518" y="256893"/>
            <a:ext cx="2944325" cy="836271"/>
          </a:xfrm>
          <a:prstGeom prst="roundRect">
            <a:avLst/>
          </a:prstGeom>
          <a:solidFill>
            <a:srgbClr val="3E5687"/>
          </a:solidFill>
          <a:ln>
            <a:solidFill>
              <a:srgbClr val="7C90D3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20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Gradient Clipping</a:t>
            </a:r>
          </a:p>
        </p:txBody>
      </p:sp>
    </p:spTree>
    <p:extLst>
      <p:ext uri="{BB962C8B-B14F-4D97-AF65-F5344CB8AC3E}">
        <p14:creationId xmlns:p14="http://schemas.microsoft.com/office/powerpoint/2010/main" val="2613837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5C755-64B1-2C8F-CE7F-488930183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6F6B30B-5DA7-52BF-0CFE-D795B218C247}"/>
              </a:ext>
            </a:extLst>
          </p:cNvPr>
          <p:cNvSpPr/>
          <p:nvPr/>
        </p:nvSpPr>
        <p:spPr>
          <a:xfrm>
            <a:off x="0" y="1300188"/>
            <a:ext cx="12192000" cy="4856522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E15822-91B2-D151-6CF6-10A212973BB5}"/>
              </a:ext>
            </a:extLst>
          </p:cNvPr>
          <p:cNvSpPr/>
          <p:nvPr/>
        </p:nvSpPr>
        <p:spPr>
          <a:xfrm>
            <a:off x="1" y="6439615"/>
            <a:ext cx="12192000" cy="418385"/>
          </a:xfrm>
          <a:prstGeom prst="rect">
            <a:avLst/>
          </a:prstGeom>
          <a:solidFill>
            <a:srgbClr val="7C90D3"/>
          </a:solidFill>
          <a:ln>
            <a:solidFill>
              <a:srgbClr val="85A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MY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F2D88F-0711-8B27-B1FB-523D33D246AB}"/>
              </a:ext>
            </a:extLst>
          </p:cNvPr>
          <p:cNvSpPr txBox="1"/>
          <p:nvPr/>
        </p:nvSpPr>
        <p:spPr>
          <a:xfrm>
            <a:off x="3481613" y="1320901"/>
            <a:ext cx="67901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effectLst/>
                <a:latin typeface="Bahnschrift" panose="020B0502040204020203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restricted the L2 norm of gradients to a </a:t>
            </a:r>
            <a:r>
              <a:rPr lang="en-US" sz="2400" b="1">
                <a:solidFill>
                  <a:srgbClr val="FF0000"/>
                </a:solidFill>
                <a:effectLst/>
                <a:latin typeface="Bahnschrift" panose="020B0502040204020203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maximum threshold of 1.0 </a:t>
            </a:r>
            <a:endParaRPr lang="en-MY" sz="2400" b="1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3EEC25-011D-8D18-067E-7C1733016894}"/>
              </a:ext>
            </a:extLst>
          </p:cNvPr>
          <p:cNvSpPr/>
          <p:nvPr/>
        </p:nvSpPr>
        <p:spPr>
          <a:xfrm>
            <a:off x="890502" y="2488501"/>
            <a:ext cx="360707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  <a:cs typeface="Arial" panose="020B0604020202020204" pitchFamily="34" charset="0"/>
              </a:rPr>
              <a:t>Without gradient clipping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DE38A1-0F89-7D98-2E95-76B697E43EE4}"/>
              </a:ext>
            </a:extLst>
          </p:cNvPr>
          <p:cNvSpPr/>
          <p:nvPr/>
        </p:nvSpPr>
        <p:spPr>
          <a:xfrm>
            <a:off x="7484168" y="2488501"/>
            <a:ext cx="317106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  <a:cs typeface="Arial" panose="020B0604020202020204" pitchFamily="34" charset="0"/>
              </a:rPr>
              <a:t>With gradient clipping</a:t>
            </a:r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E781025-042B-6DB1-8C8B-3FA353DEB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91991" y="1946299"/>
            <a:ext cx="10560817" cy="5519607"/>
          </a:xfrm>
          <a:prstGeom prst="rect">
            <a:avLst/>
          </a:prstGeom>
        </p:spPr>
      </p:pic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DEADB95-F3BB-31FC-E18C-585734051B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135" y="2151898"/>
            <a:ext cx="10851748" cy="551960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30AED-782A-B655-1223-D2D9387C4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smtClean="0">
                <a:solidFill>
                  <a:schemeClr val="bg1"/>
                </a:solidFill>
              </a:rPr>
              <a:t>30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D635DD1-CFEF-1089-EEC6-D8E15C915084}"/>
              </a:ext>
            </a:extLst>
          </p:cNvPr>
          <p:cNvSpPr/>
          <p:nvPr/>
        </p:nvSpPr>
        <p:spPr>
          <a:xfrm>
            <a:off x="247518" y="256893"/>
            <a:ext cx="2944325" cy="836271"/>
          </a:xfrm>
          <a:prstGeom prst="roundRect">
            <a:avLst/>
          </a:prstGeom>
          <a:solidFill>
            <a:srgbClr val="3E5687"/>
          </a:solidFill>
          <a:ln>
            <a:solidFill>
              <a:srgbClr val="7C90D3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20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Gradient Clipping</a:t>
            </a:r>
          </a:p>
        </p:txBody>
      </p:sp>
    </p:spTree>
    <p:extLst>
      <p:ext uri="{BB962C8B-B14F-4D97-AF65-F5344CB8AC3E}">
        <p14:creationId xmlns:p14="http://schemas.microsoft.com/office/powerpoint/2010/main" val="977708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24BDB-7040-C798-DE2E-2243BBD62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6DE972-0437-2B8B-9D4F-DF547F2BAE2C}"/>
              </a:ext>
            </a:extLst>
          </p:cNvPr>
          <p:cNvSpPr/>
          <p:nvPr/>
        </p:nvSpPr>
        <p:spPr>
          <a:xfrm>
            <a:off x="0" y="1300188"/>
            <a:ext cx="12192000" cy="4856522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5844D7-E545-0457-9490-80AE8A5A7FBE}"/>
              </a:ext>
            </a:extLst>
          </p:cNvPr>
          <p:cNvSpPr/>
          <p:nvPr/>
        </p:nvSpPr>
        <p:spPr>
          <a:xfrm>
            <a:off x="1" y="6439615"/>
            <a:ext cx="12192000" cy="418385"/>
          </a:xfrm>
          <a:prstGeom prst="rect">
            <a:avLst/>
          </a:prstGeom>
          <a:solidFill>
            <a:srgbClr val="7C90D3"/>
          </a:solidFill>
          <a:ln>
            <a:solidFill>
              <a:srgbClr val="85A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MY"/>
          </a:p>
        </p:txBody>
      </p:sp>
      <p:pic>
        <p:nvPicPr>
          <p:cNvPr id="12" name="drawing">
            <a:extLst>
              <a:ext uri="{FF2B5EF4-FFF2-40B4-BE49-F238E27FC236}">
                <a16:creationId xmlns:a16="http://schemas.microsoft.com/office/drawing/2014/main" id="{FF898A74-695B-5978-947F-B0937DFB35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299" y="1412429"/>
            <a:ext cx="5953791" cy="47442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923C679-B1A3-ECAE-EC80-B6FC7AC4F1D6}"/>
              </a:ext>
            </a:extLst>
          </p:cNvPr>
          <p:cNvSpPr txBox="1"/>
          <p:nvPr/>
        </p:nvSpPr>
        <p:spPr>
          <a:xfrm>
            <a:off x="7216879" y="2459504"/>
            <a:ext cx="430652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latin typeface="Bahnschrift" panose="020B0502040204020203" pitchFamily="34" charset="0"/>
                <a:cs typeface="Arial" panose="020B0604020202020204" pitchFamily="34" charset="0"/>
              </a:rPr>
              <a:t>avoided </a:t>
            </a:r>
            <a:r>
              <a:rPr lang="en-US" sz="2400" b="1">
                <a:solidFill>
                  <a:srgbClr val="FF0000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large oscillations</a:t>
            </a:r>
            <a:r>
              <a:rPr lang="en-US" sz="2400" b="1">
                <a:latin typeface="Bahnschrift" panose="020B0502040204020203" pitchFamily="34" charset="0"/>
                <a:cs typeface="Arial" panose="020B0604020202020204" pitchFamily="34" charset="0"/>
              </a:rPr>
              <a:t> in parameter updates and successfully maintained a </a:t>
            </a:r>
            <a:r>
              <a:rPr lang="en-US" sz="2400" b="1">
                <a:solidFill>
                  <a:srgbClr val="FF0000"/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consistent accuracy convergence</a:t>
            </a:r>
            <a:endParaRPr lang="en-MY" sz="2400" b="1">
              <a:solidFill>
                <a:srgbClr val="FF0000"/>
              </a:solidFill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10C9FD-55FC-8E41-7A18-087B7EE87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smtClean="0">
                <a:solidFill>
                  <a:schemeClr val="bg1"/>
                </a:solidFill>
              </a:rPr>
              <a:t>31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B983DB9-B911-2090-6B29-DC4CA6F6B2DD}"/>
              </a:ext>
            </a:extLst>
          </p:cNvPr>
          <p:cNvSpPr/>
          <p:nvPr/>
        </p:nvSpPr>
        <p:spPr>
          <a:xfrm>
            <a:off x="247518" y="256893"/>
            <a:ext cx="2944325" cy="836271"/>
          </a:xfrm>
          <a:prstGeom prst="roundRect">
            <a:avLst/>
          </a:prstGeom>
          <a:solidFill>
            <a:srgbClr val="3E5687"/>
          </a:solidFill>
          <a:ln>
            <a:solidFill>
              <a:srgbClr val="7C90D3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20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Gradient Clipping</a:t>
            </a:r>
          </a:p>
        </p:txBody>
      </p:sp>
    </p:spTree>
    <p:extLst>
      <p:ext uri="{BB962C8B-B14F-4D97-AF65-F5344CB8AC3E}">
        <p14:creationId xmlns:p14="http://schemas.microsoft.com/office/powerpoint/2010/main" val="1579031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C140F-DF88-81F4-16C7-E1B8C61F2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6D6EDA4-BFB6-4180-D05D-2726211C8C25}"/>
              </a:ext>
            </a:extLst>
          </p:cNvPr>
          <p:cNvSpPr/>
          <p:nvPr/>
        </p:nvSpPr>
        <p:spPr>
          <a:xfrm>
            <a:off x="0" y="1300188"/>
            <a:ext cx="12192000" cy="4856522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4B37F0-908D-A8DF-717D-16391D20947F}"/>
              </a:ext>
            </a:extLst>
          </p:cNvPr>
          <p:cNvSpPr/>
          <p:nvPr/>
        </p:nvSpPr>
        <p:spPr>
          <a:xfrm>
            <a:off x="11541759" y="6439615"/>
            <a:ext cx="650241" cy="418385"/>
          </a:xfrm>
          <a:prstGeom prst="rect">
            <a:avLst/>
          </a:prstGeom>
          <a:solidFill>
            <a:srgbClr val="7C90D3"/>
          </a:solidFill>
          <a:ln>
            <a:solidFill>
              <a:srgbClr val="85A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MY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0BE6480-04D5-12C9-958B-5FB1BD911FF7}"/>
              </a:ext>
            </a:extLst>
          </p:cNvPr>
          <p:cNvSpPr/>
          <p:nvPr/>
        </p:nvSpPr>
        <p:spPr>
          <a:xfrm>
            <a:off x="247518" y="256893"/>
            <a:ext cx="2944325" cy="836271"/>
          </a:xfrm>
          <a:prstGeom prst="roundRect">
            <a:avLst/>
          </a:prstGeom>
          <a:solidFill>
            <a:srgbClr val="169C9A"/>
          </a:solidFill>
          <a:ln>
            <a:solidFill>
              <a:srgbClr val="148E8B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20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Label smoothing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192357-931B-B8FF-02A7-E13D11EF197E}"/>
              </a:ext>
            </a:extLst>
          </p:cNvPr>
          <p:cNvSpPr txBox="1"/>
          <p:nvPr/>
        </p:nvSpPr>
        <p:spPr>
          <a:xfrm>
            <a:off x="325611" y="1188827"/>
            <a:ext cx="113065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i="0">
                <a:solidFill>
                  <a:srgbClr val="001D35"/>
                </a:solidFill>
                <a:effectLst/>
                <a:latin typeface="Bahnschrift" panose="020B0502040204020203" pitchFamily="34" charset="0"/>
              </a:rPr>
              <a:t> </a:t>
            </a:r>
            <a:r>
              <a:rPr lang="en-US" sz="2400" b="1" i="0">
                <a:ln/>
                <a:solidFill>
                  <a:schemeClr val="accent4">
                    <a:lumMod val="75000"/>
                  </a:schemeClr>
                </a:solidFill>
                <a:effectLst/>
                <a:latin typeface="Bahnschrift" panose="020B0502040204020203" pitchFamily="34" charset="0"/>
                <a:cs typeface="Arial" panose="020B0604020202020204" pitchFamily="34" charset="0"/>
              </a:rPr>
              <a:t>R</a:t>
            </a:r>
            <a:r>
              <a:rPr lang="en-US" sz="2400" b="1">
                <a:ln/>
                <a:solidFill>
                  <a:schemeClr val="accent4">
                    <a:lumMod val="75000"/>
                  </a:schemeClr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egularization technique</a:t>
            </a:r>
            <a:r>
              <a:rPr lang="en-US" sz="2400" b="1">
                <a:ln/>
                <a:solidFill>
                  <a:schemeClr val="accent5">
                    <a:lumMod val="75000"/>
                  </a:schemeClr>
                </a:solidFill>
                <a:latin typeface="Bahnschrift" panose="020B0502040204020203" pitchFamily="34" charset="0"/>
                <a:cs typeface="Arial" panose="020B0604020202020204" pitchFamily="34" charset="0"/>
              </a:rPr>
              <a:t>: softens hard, one-hot labels by distributing a small portion of the probability mass to other classes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757A36-05E7-A335-5D9C-9D865A2E8F11}"/>
              </a:ext>
            </a:extLst>
          </p:cNvPr>
          <p:cNvSpPr txBox="1"/>
          <p:nvPr/>
        </p:nvSpPr>
        <p:spPr>
          <a:xfrm>
            <a:off x="1041722" y="5912175"/>
            <a:ext cx="103361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>
                <a:solidFill>
                  <a:srgbClr val="001D35"/>
                </a:solidFill>
                <a:effectLst/>
                <a:latin typeface="Bahnschrift" panose="020B0502040204020203" pitchFamily="34" charset="0"/>
                <a:cs typeface="Arial" panose="020B0604020202020204" pitchFamily="34" charset="0"/>
              </a:rPr>
              <a:t>preventing </a:t>
            </a:r>
            <a:r>
              <a:rPr lang="en-US" sz="2400" b="1" i="0">
                <a:solidFill>
                  <a:schemeClr val="accent4">
                    <a:lumMod val="75000"/>
                  </a:schemeClr>
                </a:solidFill>
                <a:effectLst/>
                <a:latin typeface="Bahnschrift" panose="020B0502040204020203" pitchFamily="34" charset="0"/>
                <a:cs typeface="Arial" panose="020B0604020202020204" pitchFamily="34" charset="0"/>
              </a:rPr>
              <a:t>overconfidence</a:t>
            </a:r>
            <a:r>
              <a:rPr lang="en-US" sz="2400" b="1" i="0">
                <a:solidFill>
                  <a:srgbClr val="001D35"/>
                </a:solidFill>
                <a:effectLst/>
                <a:latin typeface="Bahnschrift" panose="020B0502040204020203" pitchFamily="34" charset="0"/>
                <a:cs typeface="Arial" panose="020B0604020202020204" pitchFamily="34" charset="0"/>
              </a:rPr>
              <a:t> in predictions and improving model </a:t>
            </a:r>
            <a:r>
              <a:rPr lang="en-US" sz="2400" b="1" i="0">
                <a:solidFill>
                  <a:schemeClr val="accent4">
                    <a:lumMod val="75000"/>
                  </a:schemeClr>
                </a:solidFill>
                <a:effectLst/>
                <a:latin typeface="Bahnschrift" panose="020B0502040204020203" pitchFamily="34" charset="0"/>
                <a:cs typeface="Arial" panose="020B0604020202020204" pitchFamily="34" charset="0"/>
              </a:rPr>
              <a:t>generalization</a:t>
            </a:r>
            <a:endParaRPr lang="en-MY" sz="2400" b="1">
              <a:solidFill>
                <a:schemeClr val="accent4">
                  <a:lumMod val="75000"/>
                </a:schemeClr>
              </a:solidFill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9CF2A05-2B03-03E1-2F53-519C9ABB2C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5489514"/>
              </p:ext>
            </p:extLst>
          </p:nvPr>
        </p:nvGraphicFramePr>
        <p:xfrm>
          <a:off x="287685" y="2115487"/>
          <a:ext cx="5808316" cy="34742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F2F93D1C-AA96-6306-6CDE-47EFF7E42D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2829994"/>
              </p:ext>
            </p:extLst>
          </p:nvPr>
        </p:nvGraphicFramePr>
        <p:xfrm>
          <a:off x="6377651" y="2072218"/>
          <a:ext cx="5640802" cy="3517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4E837F-2A75-D0D4-21DA-4F9D86C55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smtClean="0">
                <a:solidFill>
                  <a:schemeClr val="bg1"/>
                </a:solidFill>
              </a:rPr>
              <a:t>32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0766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Graphic spid="8" grpId="0">
        <p:bldSub>
          <a:bldChart bld="series"/>
        </p:bldSub>
      </p:bldGraphic>
      <p:bldGraphic spid="9" grpId="0" uiExpand="1">
        <p:bldSub>
          <a:bldChart bld="category"/>
        </p:bldSub>
      </p:bldGraphic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4C8DB-7B5B-CF97-48B4-91135DF18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894088E-9888-90DE-A15A-4F6619FFB056}"/>
              </a:ext>
            </a:extLst>
          </p:cNvPr>
          <p:cNvSpPr txBox="1"/>
          <p:nvPr/>
        </p:nvSpPr>
        <p:spPr>
          <a:xfrm>
            <a:off x="4266702" y="527573"/>
            <a:ext cx="60940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chemeClr val="accent3">
                    <a:lumMod val="50000"/>
                  </a:schemeClr>
                </a:solidFill>
                <a:effectLst/>
                <a:latin typeface="Bahnschrift" panose="020B0502040204020203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employed the cosine annealing for a periodic shift of learning rate following a cosine curve. </a:t>
            </a:r>
            <a:endParaRPr lang="en-MY" sz="2000" b="1">
              <a:solidFill>
                <a:schemeClr val="accent3">
                  <a:lumMod val="50000"/>
                </a:schemeClr>
              </a:solidFill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E512EAD-4F3D-B5C5-B75E-6C83EB246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0579" y="717491"/>
            <a:ext cx="13901195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967792C-88E0-0016-5AD2-223277356D6F}"/>
              </a:ext>
            </a:extLst>
          </p:cNvPr>
          <p:cNvSpPr/>
          <p:nvPr/>
        </p:nvSpPr>
        <p:spPr>
          <a:xfrm>
            <a:off x="3105376" y="2436226"/>
            <a:ext cx="338802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1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High learning rate during early training for broad exploration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1F16E7-17DF-9CED-95B2-E3AA67A059EC}"/>
              </a:ext>
            </a:extLst>
          </p:cNvPr>
          <p:cNvSpPr/>
          <p:nvPr/>
        </p:nvSpPr>
        <p:spPr>
          <a:xfrm>
            <a:off x="6096000" y="4516899"/>
            <a:ext cx="3065862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1">
                <a:ln w="0"/>
                <a:solidFill>
                  <a:schemeClr val="accent4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Low</a:t>
            </a:r>
            <a:r>
              <a:rPr lang="en-US" sz="1600" b="1" cap="none" spc="0">
                <a:ln w="0"/>
                <a:solidFill>
                  <a:schemeClr val="accent4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learning rate occasionally and during latter epochs training for fine tuning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A9FA142-B0F2-F9AA-A2C2-7908880BD12E}"/>
              </a:ext>
            </a:extLst>
          </p:cNvPr>
          <p:cNvSpPr/>
          <p:nvPr/>
        </p:nvSpPr>
        <p:spPr>
          <a:xfrm>
            <a:off x="9264716" y="5415493"/>
            <a:ext cx="643213" cy="17862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D4FD701-063D-2057-5EFF-A99B2564DCE7}"/>
              </a:ext>
            </a:extLst>
          </p:cNvPr>
          <p:cNvSpPr/>
          <p:nvPr/>
        </p:nvSpPr>
        <p:spPr>
          <a:xfrm rot="10800000">
            <a:off x="5378643" y="5415493"/>
            <a:ext cx="717356" cy="17862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17B98AC-BD48-10BC-A7D3-47157FC9272D}"/>
              </a:ext>
            </a:extLst>
          </p:cNvPr>
          <p:cNvSpPr/>
          <p:nvPr/>
        </p:nvSpPr>
        <p:spPr>
          <a:xfrm rot="10800000">
            <a:off x="2542845" y="2728614"/>
            <a:ext cx="717356" cy="17862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BE4BFB4D-0BB9-EBEA-BAA6-E9E2B8D2720A}"/>
              </a:ext>
            </a:extLst>
          </p:cNvPr>
          <p:cNvSpPr/>
          <p:nvPr/>
        </p:nvSpPr>
        <p:spPr>
          <a:xfrm>
            <a:off x="6493397" y="2657706"/>
            <a:ext cx="643213" cy="17862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A16539-975D-8D8C-88B6-20ABFEB2777A}"/>
              </a:ext>
            </a:extLst>
          </p:cNvPr>
          <p:cNvSpPr/>
          <p:nvPr/>
        </p:nvSpPr>
        <p:spPr>
          <a:xfrm>
            <a:off x="1" y="6439615"/>
            <a:ext cx="12192000" cy="418385"/>
          </a:xfrm>
          <a:prstGeom prst="rect">
            <a:avLst/>
          </a:prstGeom>
          <a:solidFill>
            <a:srgbClr val="7C90D3"/>
          </a:solidFill>
          <a:ln>
            <a:solidFill>
              <a:srgbClr val="85A2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64E3C-BB33-4D47-CD9A-E688CB63C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smtClean="0">
                <a:solidFill>
                  <a:schemeClr val="bg1"/>
                </a:solidFill>
              </a:rPr>
              <a:t>33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2602B4-6057-7BFC-C7DF-F0F7F85542ED}"/>
              </a:ext>
            </a:extLst>
          </p:cNvPr>
          <p:cNvSpPr/>
          <p:nvPr/>
        </p:nvSpPr>
        <p:spPr>
          <a:xfrm>
            <a:off x="247518" y="256893"/>
            <a:ext cx="3388021" cy="836271"/>
          </a:xfrm>
          <a:prstGeom prst="roundRect">
            <a:avLst/>
          </a:prstGeom>
          <a:solidFill>
            <a:srgbClr val="D24F2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2000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Cosine Annealing Learning Rate Scheduler</a:t>
            </a:r>
          </a:p>
        </p:txBody>
      </p:sp>
    </p:spTree>
    <p:extLst>
      <p:ext uri="{BB962C8B-B14F-4D97-AF65-F5344CB8AC3E}">
        <p14:creationId xmlns:p14="http://schemas.microsoft.com/office/powerpoint/2010/main" val="2793581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4" grpId="0"/>
      <p:bldP spid="15" grpId="0" animBg="1"/>
      <p:bldP spid="16" grpId="0" animBg="1"/>
      <p:bldP spid="17" grpId="0" animBg="1"/>
      <p:bldP spid="1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F887A-A574-AAF8-6BDA-D8618D0DA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73969-1DD3-7768-1E61-1583740B4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8067" y="2747700"/>
            <a:ext cx="5980839" cy="1266131"/>
          </a:xfrm>
        </p:spPr>
        <p:txBody>
          <a:bodyPr/>
          <a:lstStyle/>
          <a:p>
            <a:pPr algn="r"/>
            <a:r>
              <a:rPr lang="en-MY"/>
              <a:t>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4A410A-47F8-0882-34B0-56F3991EB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5697" y="4013831"/>
            <a:ext cx="7033209" cy="10897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MY" sz="2400">
                <a:latin typeface="Bahnschrift" panose="020B0502040204020203" pitchFamily="34" charset="0"/>
              </a:rPr>
              <a:t>Evaluation of the Model Performance on the Validation and Testing Sets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C8AC54-804B-5D50-C236-EBFE847066BC}"/>
              </a:ext>
            </a:extLst>
          </p:cNvPr>
          <p:cNvSpPr/>
          <p:nvPr/>
        </p:nvSpPr>
        <p:spPr>
          <a:xfrm>
            <a:off x="11632163" y="0"/>
            <a:ext cx="559838" cy="6858000"/>
          </a:xfrm>
          <a:prstGeom prst="rect">
            <a:avLst/>
          </a:prstGeom>
          <a:solidFill>
            <a:srgbClr val="E1AEC7"/>
          </a:solidFill>
          <a:ln>
            <a:solidFill>
              <a:srgbClr val="CB95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2D44A-7796-0CE9-5309-AB503747B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smtClean="0">
                <a:solidFill>
                  <a:schemeClr val="bg1"/>
                </a:solidFill>
              </a:rPr>
              <a:t>34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6" name="Teardrop 5">
            <a:extLst>
              <a:ext uri="{FF2B5EF4-FFF2-40B4-BE49-F238E27FC236}">
                <a16:creationId xmlns:a16="http://schemas.microsoft.com/office/drawing/2014/main" id="{35DC79E9-4825-C1B6-8981-6E7FBB8579DC}"/>
              </a:ext>
            </a:extLst>
          </p:cNvPr>
          <p:cNvSpPr/>
          <p:nvPr/>
        </p:nvSpPr>
        <p:spPr>
          <a:xfrm>
            <a:off x="9393564" y="1842071"/>
            <a:ext cx="1266131" cy="1266131"/>
          </a:xfrm>
          <a:prstGeom prst="teardrop">
            <a:avLst/>
          </a:prstGeom>
          <a:solidFill>
            <a:srgbClr val="E1AEC7"/>
          </a:solidFill>
          <a:ln>
            <a:solidFill>
              <a:srgbClr val="CB95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3600" b="1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8485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56FDA33-0BB4-9CBE-E9BB-548F451928F9}"/>
              </a:ext>
            </a:extLst>
          </p:cNvPr>
          <p:cNvSpPr/>
          <p:nvPr/>
        </p:nvSpPr>
        <p:spPr>
          <a:xfrm>
            <a:off x="0" y="1687386"/>
            <a:ext cx="12192001" cy="4621974"/>
          </a:xfrm>
          <a:prstGeom prst="rect">
            <a:avLst/>
          </a:prstGeom>
          <a:solidFill>
            <a:srgbClr val="FDF9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634E03-D85B-3E3A-71BC-E56A1A547550}"/>
              </a:ext>
            </a:extLst>
          </p:cNvPr>
          <p:cNvSpPr/>
          <p:nvPr/>
        </p:nvSpPr>
        <p:spPr>
          <a:xfrm>
            <a:off x="-1" y="6453002"/>
            <a:ext cx="12192001" cy="418385"/>
          </a:xfrm>
          <a:prstGeom prst="rect">
            <a:avLst/>
          </a:prstGeom>
          <a:solidFill>
            <a:srgbClr val="E1AEC7"/>
          </a:solidFill>
          <a:ln>
            <a:solidFill>
              <a:srgbClr val="CB95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96F2AB-FF52-9854-7995-ED38CE77F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2420836" cy="598073"/>
          </a:xfrm>
        </p:spPr>
        <p:txBody>
          <a:bodyPr>
            <a:normAutofit/>
          </a:bodyPr>
          <a:lstStyle/>
          <a:p>
            <a:r>
              <a:rPr lang="en-AU" sz="3200">
                <a:solidFill>
                  <a:srgbClr val="A9558B"/>
                </a:solidFill>
              </a:rPr>
              <a:t>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226C7-5C41-FA45-507E-E5586BB9F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dirty="0">
                <a:solidFill>
                  <a:schemeClr val="bg1"/>
                </a:solidFill>
              </a:rPr>
              <a:t>35</a:t>
            </a:fld>
            <a:endParaRPr lang="en-US" sz="1400">
              <a:solidFill>
                <a:schemeClr val="bg1"/>
              </a:solidFill>
            </a:endParaRPr>
          </a:p>
        </p:txBody>
      </p:sp>
      <p:pic>
        <p:nvPicPr>
          <p:cNvPr id="8" name="Picture 7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7CE4411C-2002-FDA4-B6EE-31F9F2681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929" y="1677583"/>
            <a:ext cx="5904218" cy="33950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F12B81-FE06-758D-29CF-25B3273CCEA4}"/>
              </a:ext>
            </a:extLst>
          </p:cNvPr>
          <p:cNvSpPr txBox="1"/>
          <p:nvPr/>
        </p:nvSpPr>
        <p:spPr>
          <a:xfrm>
            <a:off x="536469" y="1198536"/>
            <a:ext cx="613103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DA9ABA"/>
                </a:solidFill>
              </a:rPr>
              <a:t>Model Performance on Validation Set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D0342DE-1C36-8EF9-5B11-D4F81E0B65EF}"/>
              </a:ext>
            </a:extLst>
          </p:cNvPr>
          <p:cNvSpPr/>
          <p:nvPr/>
        </p:nvSpPr>
        <p:spPr>
          <a:xfrm>
            <a:off x="562131" y="2432594"/>
            <a:ext cx="4924269" cy="1787377"/>
          </a:xfrm>
          <a:prstGeom prst="roundRect">
            <a:avLst>
              <a:gd name="adj" fmla="val 6016"/>
            </a:avLst>
          </a:prstGeom>
          <a:solidFill>
            <a:srgbClr val="F8ECF2"/>
          </a:solidFill>
          <a:ln w="28575">
            <a:solidFill>
              <a:srgbClr val="D181A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D8A26E7-2AE1-ED5F-1C94-C49BFF7AC41C}"/>
              </a:ext>
            </a:extLst>
          </p:cNvPr>
          <p:cNvSpPr/>
          <p:nvPr/>
        </p:nvSpPr>
        <p:spPr>
          <a:xfrm>
            <a:off x="624099" y="2138184"/>
            <a:ext cx="3199151" cy="544947"/>
          </a:xfrm>
          <a:prstGeom prst="roundRect">
            <a:avLst/>
          </a:prstGeom>
          <a:solidFill>
            <a:srgbClr val="D181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Overall Performance</a:t>
            </a:r>
            <a:endParaRPr lang="en-AU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9CD791-A338-C287-BE8D-A4E6C91686A4}"/>
              </a:ext>
            </a:extLst>
          </p:cNvPr>
          <p:cNvSpPr txBox="1"/>
          <p:nvPr/>
        </p:nvSpPr>
        <p:spPr>
          <a:xfrm>
            <a:off x="746179" y="2789831"/>
            <a:ext cx="451162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1600">
                <a:latin typeface="Bahnschrift"/>
                <a:ea typeface="Cambria Math"/>
              </a:rPr>
              <a:t>All models perform </a:t>
            </a:r>
            <a:r>
              <a:rPr lang="en-US" sz="1600" b="1">
                <a:latin typeface="Bahnschrift"/>
                <a:ea typeface="Cambria Math"/>
              </a:rPr>
              <a:t>excellently </a:t>
            </a:r>
            <a:r>
              <a:rPr lang="en-US" sz="1600">
                <a:latin typeface="Bahnschrift"/>
                <a:ea typeface="Cambria Math"/>
              </a:rPr>
              <a:t>(&gt;97% across all metrics)</a:t>
            </a:r>
          </a:p>
          <a:p>
            <a:pPr marL="285750" indent="-285750">
              <a:buFont typeface="Calibri"/>
              <a:buChar char="-"/>
            </a:pPr>
            <a:r>
              <a:rPr lang="en-US" sz="1600" b="1">
                <a:latin typeface="Bahnschrift"/>
                <a:ea typeface="Cambria Math"/>
                <a:cs typeface="+mn-lt"/>
              </a:rPr>
              <a:t>ROC-AUC</a:t>
            </a:r>
            <a:r>
              <a:rPr lang="en-US" sz="1600">
                <a:latin typeface="Bahnschrift"/>
                <a:ea typeface="Cambria Math"/>
                <a:cs typeface="+mn-lt"/>
              </a:rPr>
              <a:t> </a:t>
            </a:r>
            <a:r>
              <a:rPr lang="en-US" sz="1600">
                <a:latin typeface="Bahnschrift"/>
                <a:ea typeface="Cambria Math"/>
              </a:rPr>
              <a:t>highest metric </a:t>
            </a:r>
            <a:endParaRPr lang="en-US" sz="1600">
              <a:latin typeface="Bahnschrift"/>
            </a:endParaRPr>
          </a:p>
          <a:p>
            <a:pPr marL="285750" indent="-285750">
              <a:buFont typeface="Calibri,Sans-Serif"/>
              <a:buChar char="-"/>
            </a:pPr>
            <a:r>
              <a:rPr lang="en-US" sz="1600" b="1">
                <a:latin typeface="Bahnschrift"/>
                <a:ea typeface="Cambria Math"/>
              </a:rPr>
              <a:t>Consistent ROC-AUC performance</a:t>
            </a:r>
            <a:r>
              <a:rPr lang="en-US" sz="1600">
                <a:latin typeface="Bahnschrift"/>
                <a:ea typeface="Cambria Math"/>
              </a:rPr>
              <a:t>  indicates excellent class separation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D71A8C2-4C40-10C9-4A92-2AEA15F472F9}"/>
              </a:ext>
            </a:extLst>
          </p:cNvPr>
          <p:cNvSpPr/>
          <p:nvPr/>
        </p:nvSpPr>
        <p:spPr>
          <a:xfrm>
            <a:off x="562133" y="4890540"/>
            <a:ext cx="3755122" cy="1345160"/>
          </a:xfrm>
          <a:prstGeom prst="roundRect">
            <a:avLst>
              <a:gd name="adj" fmla="val 6016"/>
            </a:avLst>
          </a:prstGeom>
          <a:solidFill>
            <a:srgbClr val="F8ECF2"/>
          </a:solidFill>
          <a:ln w="28575">
            <a:solidFill>
              <a:srgbClr val="D181A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23E0D5E-E86E-9C50-125E-9505398CB036}"/>
              </a:ext>
            </a:extLst>
          </p:cNvPr>
          <p:cNvSpPr/>
          <p:nvPr/>
        </p:nvSpPr>
        <p:spPr>
          <a:xfrm>
            <a:off x="624098" y="4470507"/>
            <a:ext cx="3199151" cy="544947"/>
          </a:xfrm>
          <a:prstGeom prst="roundRect">
            <a:avLst/>
          </a:prstGeom>
          <a:solidFill>
            <a:srgbClr val="D181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ResNet50</a:t>
            </a:r>
            <a:endParaRPr lang="en-AU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9FE6D3-EF09-CF12-B095-C982D287A292}"/>
              </a:ext>
            </a:extLst>
          </p:cNvPr>
          <p:cNvSpPr txBox="1"/>
          <p:nvPr/>
        </p:nvSpPr>
        <p:spPr>
          <a:xfrm>
            <a:off x="276982" y="5278053"/>
            <a:ext cx="37996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Courier New,monospace"/>
              <a:buChar char="o"/>
            </a:pPr>
            <a:r>
              <a:rPr lang="en-US" sz="1600">
                <a:latin typeface="Bahnschrift"/>
                <a:ea typeface="Cambria Math"/>
              </a:rPr>
              <a:t>Trades precision for recall 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sz="1600">
                <a:latin typeface="Bahnschrift"/>
                <a:ea typeface="Cambria Math"/>
              </a:rPr>
              <a:t>Fastest convergence 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146424E-16E1-1F9E-DCA4-3E8394993C77}"/>
              </a:ext>
            </a:extLst>
          </p:cNvPr>
          <p:cNvCxnSpPr/>
          <p:nvPr/>
        </p:nvCxnSpPr>
        <p:spPr>
          <a:xfrm>
            <a:off x="4318000" y="5162677"/>
            <a:ext cx="0" cy="793623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9C04925-5498-B21A-840D-2984926AAB6F}"/>
              </a:ext>
            </a:extLst>
          </p:cNvPr>
          <p:cNvSpPr/>
          <p:nvPr/>
        </p:nvSpPr>
        <p:spPr>
          <a:xfrm>
            <a:off x="4613631" y="5571393"/>
            <a:ext cx="3463567" cy="654045"/>
          </a:xfrm>
          <a:prstGeom prst="roundRect">
            <a:avLst>
              <a:gd name="adj" fmla="val 6016"/>
            </a:avLst>
          </a:prstGeom>
          <a:solidFill>
            <a:srgbClr val="F8ECF2"/>
          </a:solidFill>
          <a:ln w="28575">
            <a:solidFill>
              <a:srgbClr val="D181A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9C7EF1A-FFD6-3858-B805-F98A5746B034}"/>
              </a:ext>
            </a:extLst>
          </p:cNvPr>
          <p:cNvSpPr/>
          <p:nvPr/>
        </p:nvSpPr>
        <p:spPr>
          <a:xfrm>
            <a:off x="4765579" y="5186438"/>
            <a:ext cx="2124701" cy="544947"/>
          </a:xfrm>
          <a:prstGeom prst="roundRect">
            <a:avLst/>
          </a:prstGeom>
          <a:solidFill>
            <a:srgbClr val="D181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Best Overall</a:t>
            </a:r>
            <a:endParaRPr lang="en-AU" b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688F4A-1019-87DB-7678-4AAB20BCB6F1}"/>
              </a:ext>
            </a:extLst>
          </p:cNvPr>
          <p:cNvSpPr txBox="1"/>
          <p:nvPr/>
        </p:nvSpPr>
        <p:spPr>
          <a:xfrm>
            <a:off x="4849829" y="5731385"/>
            <a:ext cx="2508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b="1">
                <a:latin typeface="Bahnschrift"/>
                <a:ea typeface="Cambria Math"/>
              </a:rPr>
              <a:t>DenseNet121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6CB112B-33A4-BB4E-5F8B-E9CCC25DCBF9}"/>
              </a:ext>
            </a:extLst>
          </p:cNvPr>
          <p:cNvSpPr/>
          <p:nvPr/>
        </p:nvSpPr>
        <p:spPr>
          <a:xfrm>
            <a:off x="8372828" y="5546501"/>
            <a:ext cx="3463567" cy="654045"/>
          </a:xfrm>
          <a:prstGeom prst="roundRect">
            <a:avLst>
              <a:gd name="adj" fmla="val 6016"/>
            </a:avLst>
          </a:prstGeom>
          <a:solidFill>
            <a:srgbClr val="F8ECF2"/>
          </a:solidFill>
          <a:ln w="28575">
            <a:solidFill>
              <a:srgbClr val="D181A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084A2C0-FFD9-9204-BA25-D4F1B4F525F4}"/>
              </a:ext>
            </a:extLst>
          </p:cNvPr>
          <p:cNvSpPr/>
          <p:nvPr/>
        </p:nvSpPr>
        <p:spPr>
          <a:xfrm>
            <a:off x="8497395" y="5160246"/>
            <a:ext cx="2124701" cy="544947"/>
          </a:xfrm>
          <a:prstGeom prst="roundRect">
            <a:avLst/>
          </a:prstGeom>
          <a:solidFill>
            <a:srgbClr val="D181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Highest Recall</a:t>
            </a:r>
            <a:endParaRPr lang="en-AU" b="1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0F19CF-20D7-5F62-1380-4FD687D69A87}"/>
              </a:ext>
            </a:extLst>
          </p:cNvPr>
          <p:cNvSpPr txBox="1"/>
          <p:nvPr/>
        </p:nvSpPr>
        <p:spPr>
          <a:xfrm>
            <a:off x="8639079" y="5688713"/>
            <a:ext cx="2508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b="1" err="1">
                <a:latin typeface="Bahnschrift"/>
                <a:ea typeface="Cambria Math"/>
              </a:rPr>
              <a:t>Conv</a:t>
            </a:r>
            <a:r>
              <a:rPr lang="en-US" altLang="zh-CN" b="1" err="1">
                <a:latin typeface="Bahnschrift"/>
                <a:ea typeface="Cambria Math"/>
              </a:rPr>
              <a:t>NeXt</a:t>
            </a:r>
            <a:r>
              <a:rPr lang="en-US" altLang="zh-CN" b="1">
                <a:latin typeface="Bahnschrift"/>
                <a:ea typeface="Cambria Math"/>
              </a:rPr>
              <a:t>-</a:t>
            </a:r>
            <a:r>
              <a:rPr lang="en-US" b="1">
                <a:latin typeface="Bahnschrift"/>
                <a:ea typeface="Cambria Math"/>
              </a:rPr>
              <a:t>base</a:t>
            </a:r>
          </a:p>
        </p:txBody>
      </p:sp>
    </p:spTree>
    <p:extLst>
      <p:ext uri="{BB962C8B-B14F-4D97-AF65-F5344CB8AC3E}">
        <p14:creationId xmlns:p14="http://schemas.microsoft.com/office/powerpoint/2010/main" val="341990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9" grpId="0"/>
      <p:bldP spid="11" grpId="0" animBg="1"/>
      <p:bldP spid="14" grpId="0" animBg="1"/>
      <p:bldP spid="17" grpId="0"/>
      <p:bldP spid="25" grpId="0" animBg="1"/>
      <p:bldP spid="26" grpId="0" animBg="1"/>
      <p:bldP spid="19" grpId="0"/>
      <p:bldP spid="27" grpId="0" animBg="1"/>
      <p:bldP spid="28" grpId="0" animBg="1"/>
      <p:bldP spid="2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BCD93-4081-D8D3-3B00-318F17A4C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165B311-DBDB-8CA7-1237-B949CC2B5CA9}"/>
              </a:ext>
            </a:extLst>
          </p:cNvPr>
          <p:cNvSpPr/>
          <p:nvPr/>
        </p:nvSpPr>
        <p:spPr>
          <a:xfrm>
            <a:off x="0" y="1687386"/>
            <a:ext cx="12192001" cy="4621974"/>
          </a:xfrm>
          <a:prstGeom prst="rect">
            <a:avLst/>
          </a:prstGeom>
          <a:solidFill>
            <a:srgbClr val="FDF9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329BDB-7907-F72A-0A99-532C828B0567}"/>
              </a:ext>
            </a:extLst>
          </p:cNvPr>
          <p:cNvSpPr/>
          <p:nvPr/>
        </p:nvSpPr>
        <p:spPr>
          <a:xfrm>
            <a:off x="1" y="6453002"/>
            <a:ext cx="12209318" cy="418385"/>
          </a:xfrm>
          <a:prstGeom prst="rect">
            <a:avLst/>
          </a:prstGeom>
          <a:solidFill>
            <a:srgbClr val="E1AEC7"/>
          </a:solidFill>
          <a:ln>
            <a:solidFill>
              <a:srgbClr val="CB95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B5CE62-E08F-83BD-13A2-91A682E06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2420836" cy="598073"/>
          </a:xfrm>
        </p:spPr>
        <p:txBody>
          <a:bodyPr>
            <a:normAutofit/>
          </a:bodyPr>
          <a:lstStyle/>
          <a:p>
            <a:r>
              <a:rPr lang="en-AU" sz="3200">
                <a:solidFill>
                  <a:srgbClr val="A9558B"/>
                </a:solidFill>
              </a:rPr>
              <a:t>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7A10B-A717-84C5-36EC-09C230BC5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dirty="0">
                <a:solidFill>
                  <a:schemeClr val="bg1"/>
                </a:solidFill>
              </a:rPr>
              <a:t>36</a:t>
            </a:fld>
            <a:endParaRPr lang="en-US" sz="1400">
              <a:solidFill>
                <a:schemeClr val="bg1"/>
              </a:solidFill>
            </a:endParaRPr>
          </a:p>
        </p:txBody>
      </p:sp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39A91D99-F378-2DC4-2B5D-C5F059668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184" y="1634126"/>
            <a:ext cx="7807242" cy="31684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036D82-ADB8-50C7-AF52-CE591CD75154}"/>
              </a:ext>
            </a:extLst>
          </p:cNvPr>
          <p:cNvSpPr txBox="1"/>
          <p:nvPr/>
        </p:nvSpPr>
        <p:spPr>
          <a:xfrm>
            <a:off x="536469" y="1198536"/>
            <a:ext cx="729943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DA9ABA"/>
                </a:solidFill>
              </a:rPr>
              <a:t>Model Performance on Testing Set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79948F9-8BF7-6078-E811-7E736B98C8BA}"/>
              </a:ext>
            </a:extLst>
          </p:cNvPr>
          <p:cNvSpPr/>
          <p:nvPr/>
        </p:nvSpPr>
        <p:spPr>
          <a:xfrm>
            <a:off x="536470" y="2121498"/>
            <a:ext cx="3040107" cy="2797743"/>
          </a:xfrm>
          <a:prstGeom prst="roundRect">
            <a:avLst>
              <a:gd name="adj" fmla="val 6016"/>
            </a:avLst>
          </a:prstGeom>
          <a:solidFill>
            <a:srgbClr val="F8ECF2"/>
          </a:solidFill>
          <a:ln w="28575">
            <a:solidFill>
              <a:srgbClr val="D181A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B965D91-86D8-4CB2-E85C-D9EA1EF4696D}"/>
              </a:ext>
            </a:extLst>
          </p:cNvPr>
          <p:cNvSpPr/>
          <p:nvPr/>
        </p:nvSpPr>
        <p:spPr>
          <a:xfrm>
            <a:off x="598437" y="1827087"/>
            <a:ext cx="2827669" cy="544947"/>
          </a:xfrm>
          <a:prstGeom prst="roundRect">
            <a:avLst/>
          </a:prstGeom>
          <a:solidFill>
            <a:srgbClr val="D181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Overall Performance</a:t>
            </a:r>
            <a:endParaRPr lang="en-AU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DC981B-D7CF-CACC-5233-BF1729CC0737}"/>
              </a:ext>
            </a:extLst>
          </p:cNvPr>
          <p:cNvSpPr txBox="1"/>
          <p:nvPr/>
        </p:nvSpPr>
        <p:spPr>
          <a:xfrm>
            <a:off x="720518" y="2478734"/>
            <a:ext cx="24625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1600" b="1">
                <a:latin typeface="Bahnschrift"/>
                <a:ea typeface="+mn-lt"/>
                <a:cs typeface="+mn-lt"/>
              </a:rPr>
              <a:t>Strong generalization to test data</a:t>
            </a:r>
            <a:r>
              <a:rPr lang="en-US" sz="1600">
                <a:latin typeface="Bahnschrift"/>
                <a:ea typeface="+mn-lt"/>
                <a:cs typeface="+mn-lt"/>
              </a:rPr>
              <a:t> (&gt;96% across all metrics)</a:t>
            </a:r>
            <a:endParaRPr lang="en-US" sz="1600">
              <a:latin typeface="Bahnschrift"/>
            </a:endParaRPr>
          </a:p>
          <a:p>
            <a:pPr marL="285750" indent="-285750">
              <a:buFont typeface="Calibri"/>
              <a:buChar char="-"/>
            </a:pPr>
            <a:r>
              <a:rPr lang="en-US" sz="1600" b="1">
                <a:latin typeface="Bahnschrift"/>
                <a:ea typeface="+mn-lt"/>
                <a:cs typeface="+mn-lt"/>
              </a:rPr>
              <a:t>Precision – recall trade off</a:t>
            </a:r>
            <a:endParaRPr lang="en-US" sz="1600">
              <a:latin typeface="Bahnschrift"/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en-US" sz="1600" b="1">
                <a:latin typeface="Bahnschrift"/>
                <a:ea typeface="+mn-lt"/>
                <a:cs typeface="+mn-lt"/>
              </a:rPr>
              <a:t>Consistent ROC-AUC performance</a:t>
            </a:r>
            <a:r>
              <a:rPr lang="en-US" sz="1600">
                <a:latin typeface="Bahnschrift"/>
                <a:ea typeface="+mn-lt"/>
                <a:cs typeface="+mn-lt"/>
              </a:rPr>
              <a:t> </a:t>
            </a:r>
            <a:endParaRPr lang="en-US" sz="1600">
              <a:latin typeface="Bahnschrift"/>
            </a:endParaRPr>
          </a:p>
          <a:p>
            <a:pPr marL="285750" indent="-285750">
              <a:buFont typeface="Calibri,Sans-Serif"/>
              <a:buChar char="-"/>
            </a:pPr>
            <a:r>
              <a:rPr lang="en-US" sz="1600" b="1">
                <a:latin typeface="Bahnschrift"/>
                <a:ea typeface="Cambria Math"/>
              </a:rPr>
              <a:t>ROC-AUC</a:t>
            </a:r>
            <a:r>
              <a:rPr lang="en-US" sz="1600">
                <a:latin typeface="Bahnschrift"/>
                <a:ea typeface="Cambria Math"/>
              </a:rPr>
              <a:t> highest metric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11D1137-3E02-8FF5-614C-1563D1375F12}"/>
              </a:ext>
            </a:extLst>
          </p:cNvPr>
          <p:cNvSpPr/>
          <p:nvPr/>
        </p:nvSpPr>
        <p:spPr>
          <a:xfrm>
            <a:off x="2340878" y="5545979"/>
            <a:ext cx="3755122" cy="731119"/>
          </a:xfrm>
          <a:prstGeom prst="roundRect">
            <a:avLst>
              <a:gd name="adj" fmla="val 6016"/>
            </a:avLst>
          </a:prstGeom>
          <a:solidFill>
            <a:srgbClr val="F8ECF2"/>
          </a:solidFill>
          <a:ln w="28575">
            <a:solidFill>
              <a:srgbClr val="D181A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809F6FE-040F-6CCA-82CA-66F697D9908D}"/>
              </a:ext>
            </a:extLst>
          </p:cNvPr>
          <p:cNvSpPr/>
          <p:nvPr/>
        </p:nvSpPr>
        <p:spPr>
          <a:xfrm>
            <a:off x="2340878" y="5123084"/>
            <a:ext cx="2863973" cy="544947"/>
          </a:xfrm>
          <a:prstGeom prst="roundRect">
            <a:avLst/>
          </a:prstGeom>
          <a:solidFill>
            <a:srgbClr val="D181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Best Overall</a:t>
            </a:r>
            <a:endParaRPr lang="en-AU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70C00C-CE9C-11C5-AD05-ED7437D83C75}"/>
              </a:ext>
            </a:extLst>
          </p:cNvPr>
          <p:cNvSpPr txBox="1"/>
          <p:nvPr/>
        </p:nvSpPr>
        <p:spPr>
          <a:xfrm>
            <a:off x="2147121" y="5730003"/>
            <a:ext cx="37996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sz="2000" b="1" err="1">
                <a:latin typeface="Bahnschrift"/>
                <a:ea typeface="Cambria Math"/>
              </a:rPr>
              <a:t>DenseNet</a:t>
            </a:r>
            <a:r>
              <a:rPr lang="en-US" sz="2000" b="1">
                <a:latin typeface="Bahnschrift"/>
                <a:ea typeface="Cambria Math"/>
              </a:rPr>
              <a:t> 121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3569BD5-D45D-EE2D-46BA-96F9E0D847BD}"/>
              </a:ext>
            </a:extLst>
          </p:cNvPr>
          <p:cNvSpPr/>
          <p:nvPr/>
        </p:nvSpPr>
        <p:spPr>
          <a:xfrm>
            <a:off x="6987151" y="5533670"/>
            <a:ext cx="3755122" cy="731118"/>
          </a:xfrm>
          <a:prstGeom prst="roundRect">
            <a:avLst>
              <a:gd name="adj" fmla="val 6016"/>
            </a:avLst>
          </a:prstGeom>
          <a:solidFill>
            <a:srgbClr val="F8ECF2"/>
          </a:solidFill>
          <a:ln w="28575">
            <a:solidFill>
              <a:srgbClr val="D181A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E8FBCA0-6211-C433-F32C-8A03A71248B0}"/>
              </a:ext>
            </a:extLst>
          </p:cNvPr>
          <p:cNvSpPr/>
          <p:nvPr/>
        </p:nvSpPr>
        <p:spPr>
          <a:xfrm>
            <a:off x="6987151" y="5124790"/>
            <a:ext cx="3199151" cy="544947"/>
          </a:xfrm>
          <a:prstGeom prst="roundRect">
            <a:avLst/>
          </a:prstGeom>
          <a:solidFill>
            <a:srgbClr val="D181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Highest Recall</a:t>
            </a:r>
            <a:endParaRPr lang="en-AU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C14AC1-E472-DA8F-C3F9-52BFA2B0AFB1}"/>
              </a:ext>
            </a:extLst>
          </p:cNvPr>
          <p:cNvSpPr txBox="1"/>
          <p:nvPr/>
        </p:nvSpPr>
        <p:spPr>
          <a:xfrm>
            <a:off x="6837927" y="5707956"/>
            <a:ext cx="37996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sz="2000" b="1" err="1">
                <a:latin typeface="Bahnschrift"/>
                <a:ea typeface="Cambria Math"/>
              </a:rPr>
              <a:t>ResNet</a:t>
            </a:r>
            <a:r>
              <a:rPr lang="en-US" sz="2000" b="1">
                <a:latin typeface="Bahnschrift"/>
                <a:ea typeface="Cambria Math"/>
              </a:rPr>
              <a:t> 18</a:t>
            </a:r>
          </a:p>
        </p:txBody>
      </p:sp>
    </p:spTree>
    <p:extLst>
      <p:ext uri="{BB962C8B-B14F-4D97-AF65-F5344CB8AC3E}">
        <p14:creationId xmlns:p14="http://schemas.microsoft.com/office/powerpoint/2010/main" val="3402019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/>
      <p:bldP spid="11" grpId="0" animBg="1"/>
      <p:bldP spid="14" grpId="0" animBg="1"/>
      <p:bldP spid="15" grpId="0"/>
      <p:bldP spid="16" grpId="0" animBg="1"/>
      <p:bldP spid="17" grpId="0" animBg="1"/>
      <p:bldP spid="1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5EB5D-4876-424B-4D22-4462C85A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85A69CB-9522-99EF-1022-48ABD2C1D7E7}"/>
              </a:ext>
            </a:extLst>
          </p:cNvPr>
          <p:cNvSpPr/>
          <p:nvPr/>
        </p:nvSpPr>
        <p:spPr>
          <a:xfrm>
            <a:off x="491613" y="3874609"/>
            <a:ext cx="5565024" cy="829634"/>
          </a:xfrm>
          <a:prstGeom prst="roundRect">
            <a:avLst/>
          </a:prstGeom>
          <a:solidFill>
            <a:srgbClr val="E1AE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4F20F6F-02FA-06F5-F1E8-4BBBE50786FA}"/>
              </a:ext>
            </a:extLst>
          </p:cNvPr>
          <p:cNvSpPr/>
          <p:nvPr/>
        </p:nvSpPr>
        <p:spPr>
          <a:xfrm>
            <a:off x="6744929" y="1419264"/>
            <a:ext cx="5226856" cy="829634"/>
          </a:xfrm>
          <a:prstGeom prst="roundRect">
            <a:avLst/>
          </a:prstGeom>
          <a:solidFill>
            <a:srgbClr val="E1AE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10EB4E9-5D0A-CC88-8D7B-4370BF58DB06}"/>
              </a:ext>
            </a:extLst>
          </p:cNvPr>
          <p:cNvSpPr/>
          <p:nvPr/>
        </p:nvSpPr>
        <p:spPr>
          <a:xfrm>
            <a:off x="491613" y="2367436"/>
            <a:ext cx="5831563" cy="1338087"/>
          </a:xfrm>
          <a:prstGeom prst="roundRect">
            <a:avLst/>
          </a:prstGeom>
          <a:noFill/>
          <a:ln>
            <a:solidFill>
              <a:srgbClr val="6432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8FA512-2DF2-C22C-4096-DC7724119595}"/>
              </a:ext>
            </a:extLst>
          </p:cNvPr>
          <p:cNvSpPr txBox="1"/>
          <p:nvPr/>
        </p:nvSpPr>
        <p:spPr>
          <a:xfrm>
            <a:off x="491614" y="491613"/>
            <a:ext cx="2353529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AU" sz="3200" b="1">
                <a:solidFill>
                  <a:srgbClr val="A9558B"/>
                </a:solidFill>
                <a:cs typeface="Times New Roman"/>
              </a:rPr>
              <a:t>Discussion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AF9101-1AC9-0555-109C-AA7CD42E3504}"/>
              </a:ext>
            </a:extLst>
          </p:cNvPr>
          <p:cNvSpPr txBox="1"/>
          <p:nvPr/>
        </p:nvSpPr>
        <p:spPr>
          <a:xfrm>
            <a:off x="6650708" y="2739100"/>
            <a:ext cx="5196057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1600" b="1">
                <a:latin typeface="Bahnschrift" panose="020B0502040204020203" pitchFamily="34" charset="0"/>
                <a:ea typeface="+mn-lt"/>
                <a:cs typeface="+mn-lt"/>
              </a:rPr>
              <a:t>High recall </a:t>
            </a:r>
            <a:r>
              <a:rPr lang="en-MY" sz="1600">
                <a:latin typeface="Bahnschrift" panose="020B0502040204020203" pitchFamily="34" charset="0"/>
                <a:ea typeface="+mn-lt"/>
                <a:cs typeface="+mn-lt"/>
              </a:rPr>
              <a:t>essential to minimize missed infections</a:t>
            </a:r>
            <a:endParaRPr lang="en-MY" sz="1600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1600">
                <a:latin typeface="Bahnschrift" panose="020B0502040204020203" pitchFamily="34" charset="0"/>
                <a:ea typeface="+mn-lt"/>
                <a:cs typeface="+mn-lt"/>
              </a:rPr>
              <a:t>Recommended: ResNet18 + DenseNet121</a:t>
            </a:r>
            <a:endParaRPr lang="en-MY" sz="1600">
              <a:latin typeface="Bahnschrift" panose="020B05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zh-CN" altLang="en-US" sz="1600">
              <a:latin typeface="Bahnschrift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F0973B-E624-AB14-292A-DABA3C8C10EF}"/>
              </a:ext>
            </a:extLst>
          </p:cNvPr>
          <p:cNvSpPr/>
          <p:nvPr/>
        </p:nvSpPr>
        <p:spPr>
          <a:xfrm>
            <a:off x="3462" y="6439147"/>
            <a:ext cx="12192001" cy="418385"/>
          </a:xfrm>
          <a:prstGeom prst="rect">
            <a:avLst/>
          </a:prstGeom>
          <a:solidFill>
            <a:srgbClr val="E1AEC7"/>
          </a:solidFill>
          <a:ln>
            <a:solidFill>
              <a:srgbClr val="CB95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BA0B623-696A-44D2-3169-8A02579A1DE6}"/>
              </a:ext>
            </a:extLst>
          </p:cNvPr>
          <p:cNvSpPr/>
          <p:nvPr/>
        </p:nvSpPr>
        <p:spPr>
          <a:xfrm>
            <a:off x="690966" y="1419264"/>
            <a:ext cx="5565024" cy="829634"/>
          </a:xfrm>
          <a:prstGeom prst="roundRect">
            <a:avLst/>
          </a:prstGeom>
          <a:solidFill>
            <a:srgbClr val="E1AE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E200C0A-34B0-A472-9394-EB91410B2717}"/>
              </a:ext>
            </a:extLst>
          </p:cNvPr>
          <p:cNvGrpSpPr/>
          <p:nvPr/>
        </p:nvGrpSpPr>
        <p:grpSpPr>
          <a:xfrm>
            <a:off x="320364" y="1324296"/>
            <a:ext cx="663455" cy="631481"/>
            <a:chOff x="611455" y="1462019"/>
            <a:chExt cx="792000" cy="7920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9B0D3E8-A044-03F7-406D-259B0707AD1F}"/>
                </a:ext>
              </a:extLst>
            </p:cNvPr>
            <p:cNvSpPr/>
            <p:nvPr/>
          </p:nvSpPr>
          <p:spPr>
            <a:xfrm>
              <a:off x="611455" y="1462019"/>
              <a:ext cx="792000" cy="792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pic>
          <p:nvPicPr>
            <p:cNvPr id="3" name="Graphic 2" descr="Research with solid fill">
              <a:extLst>
                <a:ext uri="{FF2B5EF4-FFF2-40B4-BE49-F238E27FC236}">
                  <a16:creationId xmlns:a16="http://schemas.microsoft.com/office/drawing/2014/main" id="{61D22770-34EB-BFBB-6679-C58128AEC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46480" y="1581127"/>
              <a:ext cx="521950" cy="572882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C5D44B2-4359-43F7-8AF8-30ED0D0E7C91}"/>
              </a:ext>
            </a:extLst>
          </p:cNvPr>
          <p:cNvSpPr txBox="1"/>
          <p:nvPr/>
        </p:nvSpPr>
        <p:spPr>
          <a:xfrm>
            <a:off x="870709" y="1572471"/>
            <a:ext cx="52679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2800" b="1">
                <a:solidFill>
                  <a:srgbClr val="FEFC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Dataset Characteristics</a:t>
            </a:r>
            <a:endParaRPr lang="en-US" sz="2800">
              <a:solidFill>
                <a:srgbClr val="FEFCF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3A8A66-EA38-EAE0-ED3C-817D1EB6FB00}"/>
              </a:ext>
            </a:extLst>
          </p:cNvPr>
          <p:cNvSpPr txBox="1"/>
          <p:nvPr/>
        </p:nvSpPr>
        <p:spPr>
          <a:xfrm>
            <a:off x="652091" y="2621538"/>
            <a:ext cx="5469709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MY" sz="1600">
                <a:latin typeface="Bahnschrift" panose="020B0502040204020203" pitchFamily="34" charset="0"/>
                <a:ea typeface="+mn-lt"/>
                <a:cs typeface="+mn-lt"/>
              </a:rPr>
              <a:t>Binary classification with high visual contrast</a:t>
            </a:r>
            <a:endParaRPr lang="en-MY" sz="1600">
              <a:latin typeface="Bahnschrift" panose="020B05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MY" sz="1600" b="1">
                <a:latin typeface="Bahnschrift" panose="020B0502040204020203" pitchFamily="34" charset="0"/>
                <a:ea typeface="+mn-lt"/>
                <a:cs typeface="+mn-lt"/>
              </a:rPr>
              <a:t>Clear parasitic markers </a:t>
            </a:r>
            <a:r>
              <a:rPr lang="en-MY" sz="1600">
                <a:latin typeface="Bahnschrift" panose="020B0502040204020203" pitchFamily="34" charset="0"/>
                <a:ea typeface="+mn-lt"/>
                <a:cs typeface="+mn-lt"/>
              </a:rPr>
              <a:t>in infected cells</a:t>
            </a:r>
            <a:endParaRPr lang="en-MY" sz="1600">
              <a:latin typeface="Bahnschrift" panose="020B05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MY" sz="1600">
                <a:latin typeface="Bahnschrift" panose="020B0502040204020203" pitchFamily="34" charset="0"/>
                <a:ea typeface="+mn-lt"/>
                <a:cs typeface="+mn-lt"/>
              </a:rPr>
              <a:t>Consistently high accuracy across models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F14DD5-11A0-75DB-063A-455FB6509EFE}"/>
              </a:ext>
            </a:extLst>
          </p:cNvPr>
          <p:cNvSpPr txBox="1"/>
          <p:nvPr/>
        </p:nvSpPr>
        <p:spPr>
          <a:xfrm>
            <a:off x="742339" y="4024460"/>
            <a:ext cx="52126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FEFC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defRPr>
            </a:lvl1pPr>
          </a:lstStyle>
          <a:p>
            <a:r>
              <a:rPr lang="en-US" altLang="zh-CN"/>
              <a:t>Model Performance</a:t>
            </a:r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DA9343C-78E2-244F-D0B6-BF8EBA75023F}"/>
              </a:ext>
            </a:extLst>
          </p:cNvPr>
          <p:cNvGrpSpPr/>
          <p:nvPr/>
        </p:nvGrpSpPr>
        <p:grpSpPr>
          <a:xfrm>
            <a:off x="307761" y="3805823"/>
            <a:ext cx="663455" cy="641557"/>
            <a:chOff x="5736386" y="1746092"/>
            <a:chExt cx="792000" cy="79200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B042BE-3E26-43D1-5861-1D689E8979B2}"/>
                </a:ext>
              </a:extLst>
            </p:cNvPr>
            <p:cNvSpPr/>
            <p:nvPr/>
          </p:nvSpPr>
          <p:spPr>
            <a:xfrm>
              <a:off x="5736386" y="1746092"/>
              <a:ext cx="792000" cy="792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pic>
          <p:nvPicPr>
            <p:cNvPr id="25" name="Graphic 24" descr="Checklist with solid fill">
              <a:extLst>
                <a:ext uri="{FF2B5EF4-FFF2-40B4-BE49-F238E27FC236}">
                  <a16:creationId xmlns:a16="http://schemas.microsoft.com/office/drawing/2014/main" id="{033A6CB5-9219-939C-554E-4619D6040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37538" y="1847244"/>
              <a:ext cx="589695" cy="589695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DD8CE258-FF36-45E3-422D-81A986EF1A36}"/>
              </a:ext>
            </a:extLst>
          </p:cNvPr>
          <p:cNvSpPr txBox="1"/>
          <p:nvPr/>
        </p:nvSpPr>
        <p:spPr>
          <a:xfrm>
            <a:off x="690966" y="5073952"/>
            <a:ext cx="8858541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just">
              <a:buFont typeface="Calibri"/>
              <a:buChar char="-"/>
            </a:pPr>
            <a:r>
              <a:rPr lang="en-MY" sz="1600">
                <a:latin typeface="Bahnschrift" panose="020B0502040204020203" pitchFamily="34" charset="0"/>
                <a:ea typeface="+mn-lt"/>
                <a:cs typeface="+mn-lt"/>
              </a:rPr>
              <a:t>Minimal variance (&lt;2%) between models</a:t>
            </a:r>
          </a:p>
          <a:p>
            <a:pPr marL="285750" indent="-285750" algn="just">
              <a:buFont typeface="Calibri"/>
              <a:buChar char="-"/>
            </a:pPr>
            <a:r>
              <a:rPr lang="en-MY" sz="1600" b="1">
                <a:latin typeface="Bahnschrift" panose="020B0502040204020203" pitchFamily="34" charset="0"/>
                <a:ea typeface="+mn-lt"/>
                <a:cs typeface="+mn-lt"/>
              </a:rPr>
              <a:t>DenseNet121</a:t>
            </a:r>
            <a:r>
              <a:rPr lang="en-MY" sz="1600">
                <a:latin typeface="Bahnschrift" panose="020B0502040204020203" pitchFamily="34" charset="0"/>
                <a:ea typeface="+mn-lt"/>
                <a:cs typeface="+mn-lt"/>
              </a:rPr>
              <a:t>: Most balanced performer across metrics</a:t>
            </a:r>
            <a:endParaRPr lang="en-MY" sz="1600">
              <a:latin typeface="Bahnschrift" panose="020B0502040204020203" pitchFamily="34" charset="0"/>
            </a:endParaRPr>
          </a:p>
          <a:p>
            <a:pPr marL="285750" indent="-285750" algn="just">
              <a:buFont typeface="Calibri"/>
              <a:buChar char="-"/>
            </a:pPr>
            <a:r>
              <a:rPr lang="en-MY" sz="1600" b="1">
                <a:latin typeface="Bahnschrift" panose="020B0502040204020203" pitchFamily="34" charset="0"/>
                <a:ea typeface="+mn-lt"/>
                <a:cs typeface="+mn-lt"/>
              </a:rPr>
              <a:t>ResNet18</a:t>
            </a:r>
            <a:r>
              <a:rPr lang="en-MY" sz="1600">
                <a:latin typeface="Bahnschrift" panose="020B0502040204020203" pitchFamily="34" charset="0"/>
                <a:ea typeface="+mn-lt"/>
                <a:cs typeface="+mn-lt"/>
              </a:rPr>
              <a:t>: Best test recall (99.38%) - optimal for clinical use</a:t>
            </a:r>
            <a:endParaRPr lang="en-MY" sz="1600">
              <a:latin typeface="Bahnschrift" panose="020B0502040204020203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EA8FF3-4B38-9E15-B7C8-0C4B196E2CC5}"/>
              </a:ext>
            </a:extLst>
          </p:cNvPr>
          <p:cNvSpPr txBox="1"/>
          <p:nvPr/>
        </p:nvSpPr>
        <p:spPr>
          <a:xfrm>
            <a:off x="6888481" y="1598110"/>
            <a:ext cx="50448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FEFC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defRPr>
            </a:lvl1pPr>
          </a:lstStyle>
          <a:p>
            <a:r>
              <a:rPr lang="en-MY"/>
              <a:t>Clinical Complications </a:t>
            </a:r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C4E118F-773F-7817-D0EB-1B5DFFF9F4FF}"/>
              </a:ext>
            </a:extLst>
          </p:cNvPr>
          <p:cNvGrpSpPr/>
          <p:nvPr/>
        </p:nvGrpSpPr>
        <p:grpSpPr>
          <a:xfrm>
            <a:off x="6513482" y="1254821"/>
            <a:ext cx="653620" cy="641557"/>
            <a:chOff x="6369100" y="1382452"/>
            <a:chExt cx="792000" cy="792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4EEC7AB-775C-AE92-1300-05729543C4E8}"/>
                </a:ext>
              </a:extLst>
            </p:cNvPr>
            <p:cNvSpPr/>
            <p:nvPr/>
          </p:nvSpPr>
          <p:spPr>
            <a:xfrm>
              <a:off x="6369100" y="1382452"/>
              <a:ext cx="792000" cy="7920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pic>
          <p:nvPicPr>
            <p:cNvPr id="40" name="Graphic 39" descr="Address Book with solid fill">
              <a:extLst>
                <a:ext uri="{FF2B5EF4-FFF2-40B4-BE49-F238E27FC236}">
                  <a16:creationId xmlns:a16="http://schemas.microsoft.com/office/drawing/2014/main" id="{A3F8470F-04C1-8D78-FFA1-FD1C6A796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489761" y="1514863"/>
              <a:ext cx="550677" cy="550677"/>
            </a:xfrm>
            <a:prstGeom prst="rect">
              <a:avLst/>
            </a:prstGeom>
          </p:spPr>
        </p:pic>
      </p:grp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8C05D92-2C34-3F2E-6E7D-D0B9E96769F6}"/>
              </a:ext>
            </a:extLst>
          </p:cNvPr>
          <p:cNvSpPr/>
          <p:nvPr/>
        </p:nvSpPr>
        <p:spPr>
          <a:xfrm>
            <a:off x="6489761" y="2346284"/>
            <a:ext cx="5482024" cy="1359239"/>
          </a:xfrm>
          <a:prstGeom prst="roundRect">
            <a:avLst/>
          </a:prstGeom>
          <a:noFill/>
          <a:ln>
            <a:solidFill>
              <a:srgbClr val="6432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C02F8FAF-8BCB-B4C2-836B-007FBCB952DE}"/>
              </a:ext>
            </a:extLst>
          </p:cNvPr>
          <p:cNvSpPr/>
          <p:nvPr/>
        </p:nvSpPr>
        <p:spPr>
          <a:xfrm>
            <a:off x="491613" y="4796620"/>
            <a:ext cx="11445928" cy="1385663"/>
          </a:xfrm>
          <a:prstGeom prst="roundRect">
            <a:avLst/>
          </a:prstGeom>
          <a:noFill/>
          <a:ln>
            <a:solidFill>
              <a:srgbClr val="6432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Slide Number Placeholder 7">
            <a:extLst>
              <a:ext uri="{FF2B5EF4-FFF2-40B4-BE49-F238E27FC236}">
                <a16:creationId xmlns:a16="http://schemas.microsoft.com/office/drawing/2014/main" id="{1AA235D6-D977-2ADD-BAF9-0BE7C4399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z="1400" dirty="0">
                <a:solidFill>
                  <a:schemeClr val="bg1"/>
                </a:solidFill>
              </a:rPr>
              <a:t>37</a:t>
            </a:fld>
            <a:endParaRPr lang="en-GB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9803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2" grpId="0" animBg="1"/>
      <p:bldP spid="41" grpId="0" animBg="1"/>
      <p:bldP spid="7" grpId="0" build="allAtOnce"/>
      <p:bldP spid="2" grpId="0" animBg="1"/>
      <p:bldP spid="6" grpId="0"/>
      <p:bldP spid="14" grpId="0" build="allAtOnce"/>
      <p:bldP spid="23" grpId="0"/>
      <p:bldP spid="27" grpId="0" build="allAtOnce"/>
      <p:bldP spid="36" grpId="0"/>
      <p:bldP spid="43" grpId="0" animBg="1"/>
      <p:bldP spid="4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C2F9E-618F-E13B-19BD-D5F68784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482AC-99C6-6BA3-1A52-C572BA93E2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8067" y="2747700"/>
            <a:ext cx="5980839" cy="1266131"/>
          </a:xfrm>
        </p:spPr>
        <p:txBody>
          <a:bodyPr/>
          <a:lstStyle/>
          <a:p>
            <a:pPr algn="r"/>
            <a:r>
              <a:rPr lang="en-MY">
                <a:solidFill>
                  <a:srgbClr val="AB7F79"/>
                </a:solidFill>
              </a:rPr>
              <a:t>Conclusions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643046-E5A0-E191-86C5-BE120BCAFA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3079" y="4013831"/>
            <a:ext cx="8305827" cy="1089798"/>
          </a:xfrm>
        </p:spPr>
        <p:txBody>
          <a:bodyPr>
            <a:normAutofit/>
          </a:bodyPr>
          <a:lstStyle/>
          <a:p>
            <a:pPr algn="r"/>
            <a:r>
              <a:rPr lang="en-US" sz="2400">
                <a:latin typeface="Bahnschrift" panose="020B0502040204020203" pitchFamily="34" charset="0"/>
              </a:rPr>
              <a:t>and Suggestions for the Future</a:t>
            </a:r>
            <a:endParaRPr lang="en-MY" sz="2400"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73AFE4-A4B7-CA3D-06E0-F3E58012D813}"/>
              </a:ext>
            </a:extLst>
          </p:cNvPr>
          <p:cNvSpPr/>
          <p:nvPr/>
        </p:nvSpPr>
        <p:spPr>
          <a:xfrm>
            <a:off x="11632163" y="0"/>
            <a:ext cx="559838" cy="6858000"/>
          </a:xfrm>
          <a:prstGeom prst="rect">
            <a:avLst/>
          </a:prstGeom>
          <a:solidFill>
            <a:srgbClr val="EEC4C4"/>
          </a:solidFill>
          <a:ln>
            <a:solidFill>
              <a:srgbClr val="D2A6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Teardrop 5">
            <a:extLst>
              <a:ext uri="{FF2B5EF4-FFF2-40B4-BE49-F238E27FC236}">
                <a16:creationId xmlns:a16="http://schemas.microsoft.com/office/drawing/2014/main" id="{928CF22F-FD46-AAF6-83A5-FFEEED0D04A7}"/>
              </a:ext>
            </a:extLst>
          </p:cNvPr>
          <p:cNvSpPr/>
          <p:nvPr/>
        </p:nvSpPr>
        <p:spPr>
          <a:xfrm>
            <a:off x="9393564" y="1842071"/>
            <a:ext cx="1266131" cy="1266131"/>
          </a:xfrm>
          <a:prstGeom prst="teardrop">
            <a:avLst/>
          </a:prstGeom>
          <a:solidFill>
            <a:srgbClr val="EEC4C4"/>
          </a:solidFill>
          <a:ln>
            <a:solidFill>
              <a:srgbClr val="D2A6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3600" b="1"/>
              <a:t>6</a:t>
            </a: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9C95F730-DA77-CDFE-BA70-BEF4E8984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z="1400" dirty="0">
                <a:solidFill>
                  <a:schemeClr val="bg1"/>
                </a:solidFill>
              </a:rPr>
              <a:t>38</a:t>
            </a:fld>
            <a:endParaRPr lang="en-GB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676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DE8AF-C25C-C92C-811C-250AEC535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7104BC6-FE38-0BB0-6244-C2B76CB2E9D2}"/>
              </a:ext>
            </a:extLst>
          </p:cNvPr>
          <p:cNvSpPr/>
          <p:nvPr/>
        </p:nvSpPr>
        <p:spPr>
          <a:xfrm>
            <a:off x="0" y="4074132"/>
            <a:ext cx="12192000" cy="1914664"/>
          </a:xfrm>
          <a:prstGeom prst="rect">
            <a:avLst/>
          </a:prstGeom>
          <a:solidFill>
            <a:srgbClr val="FE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452D49-2769-471E-2CA6-AC3E5E73F9EF}"/>
              </a:ext>
            </a:extLst>
          </p:cNvPr>
          <p:cNvSpPr/>
          <p:nvPr/>
        </p:nvSpPr>
        <p:spPr>
          <a:xfrm>
            <a:off x="0" y="2096594"/>
            <a:ext cx="12192000" cy="1914664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DFFCCB-2D11-3EE6-ECB4-D170745A4197}"/>
              </a:ext>
            </a:extLst>
          </p:cNvPr>
          <p:cNvSpPr/>
          <p:nvPr/>
        </p:nvSpPr>
        <p:spPr>
          <a:xfrm>
            <a:off x="-1" y="6453002"/>
            <a:ext cx="12192001" cy="418385"/>
          </a:xfrm>
          <a:prstGeom prst="rect">
            <a:avLst/>
          </a:prstGeom>
          <a:solidFill>
            <a:srgbClr val="EEC4C4"/>
          </a:solidFill>
          <a:ln>
            <a:solidFill>
              <a:srgbClr val="D2A6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247A95-4137-78C9-2E89-02898644D205}"/>
              </a:ext>
            </a:extLst>
          </p:cNvPr>
          <p:cNvSpPr txBox="1"/>
          <p:nvPr/>
        </p:nvSpPr>
        <p:spPr>
          <a:xfrm>
            <a:off x="491614" y="491613"/>
            <a:ext cx="5949064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AU" sz="3200" b="1">
                <a:solidFill>
                  <a:srgbClr val="AB7F79"/>
                </a:solidFill>
                <a:latin typeface="+mj-lt"/>
                <a:cs typeface="Times New Roman"/>
              </a:rPr>
              <a:t>Conclusion and Future Steps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DEAE54-C210-D361-9B07-7F03B7876E83}"/>
              </a:ext>
            </a:extLst>
          </p:cNvPr>
          <p:cNvSpPr txBox="1"/>
          <p:nvPr/>
        </p:nvSpPr>
        <p:spPr>
          <a:xfrm>
            <a:off x="488642" y="1346649"/>
            <a:ext cx="2672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/>
              <a:t>Reviewing objectives, </a:t>
            </a:r>
            <a:endParaRPr lang="en-AU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67D65A-92B9-238F-C079-B13765E52A1E}"/>
              </a:ext>
            </a:extLst>
          </p:cNvPr>
          <p:cNvSpPr txBox="1"/>
          <p:nvPr/>
        </p:nvSpPr>
        <p:spPr>
          <a:xfrm>
            <a:off x="5290283" y="4492963"/>
            <a:ext cx="683463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 algn="ctr"/>
            <a:r>
              <a:rPr lang="en-US" sz="2000">
                <a:latin typeface="Bahnschrift" panose="020B0502040204020203" pitchFamily="34" charset="0"/>
                <a:cs typeface="Times New Roman"/>
              </a:rPr>
              <a:t>Maximize </a:t>
            </a:r>
            <a:r>
              <a:rPr lang="en-US" sz="2000" b="1">
                <a:latin typeface="Bahnschrift" panose="020B0502040204020203" pitchFamily="34" charset="0"/>
                <a:cs typeface="Times New Roman"/>
              </a:rPr>
              <a:t>recall</a:t>
            </a:r>
            <a:r>
              <a:rPr lang="en-US" sz="2000">
                <a:latin typeface="Bahnschrift" panose="020B0502040204020203" pitchFamily="34" charset="0"/>
                <a:cs typeface="Times New Roman"/>
              </a:rPr>
              <a:t> for infected cells &amp; </a:t>
            </a:r>
          </a:p>
          <a:p>
            <a:pPr lvl="1" algn="ctr"/>
            <a:r>
              <a:rPr lang="en-US" sz="2000">
                <a:latin typeface="Bahnschrift" panose="020B0502040204020203" pitchFamily="34" charset="0"/>
                <a:cs typeface="Times New Roman"/>
              </a:rPr>
              <a:t>Achieve strong </a:t>
            </a:r>
            <a:r>
              <a:rPr lang="en-US" sz="2000" b="1">
                <a:latin typeface="Bahnschrift" panose="020B0502040204020203" pitchFamily="34" charset="0"/>
                <a:cs typeface="Times New Roman"/>
              </a:rPr>
              <a:t>AUC-ROC</a:t>
            </a:r>
            <a:r>
              <a:rPr lang="en-US" sz="2000">
                <a:latin typeface="Bahnschrift" panose="020B0502040204020203" pitchFamily="34" charset="0"/>
                <a:cs typeface="Times New Roman"/>
              </a:rPr>
              <a:t> metrics to ensure both cell classes are identified accurately</a:t>
            </a:r>
            <a:endParaRPr lang="en-US" sz="2000">
              <a:latin typeface="Bahnschrift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73011E-67ED-C2F2-66DE-EFB382B19ED7}"/>
              </a:ext>
            </a:extLst>
          </p:cNvPr>
          <p:cNvSpPr txBox="1"/>
          <p:nvPr/>
        </p:nvSpPr>
        <p:spPr>
          <a:xfrm>
            <a:off x="903730" y="2711487"/>
            <a:ext cx="5431970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400" b="1">
                <a:solidFill>
                  <a:srgbClr val="444282"/>
                </a:solidFill>
                <a:latin typeface="Bahnschrift" panose="020B0502040204020203" pitchFamily="34" charset="0"/>
                <a:ea typeface="+mn-lt"/>
                <a:cs typeface="+mn-lt"/>
              </a:rPr>
              <a:t>Develop a High-Accuracy Binary Classifier </a:t>
            </a:r>
            <a:endParaRPr lang="en-US" sz="2400">
              <a:solidFill>
                <a:srgbClr val="444282"/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031AB5-3200-AC1C-7879-138A878D1CE1}"/>
              </a:ext>
            </a:extLst>
          </p:cNvPr>
          <p:cNvSpPr txBox="1"/>
          <p:nvPr/>
        </p:nvSpPr>
        <p:spPr>
          <a:xfrm>
            <a:off x="6095999" y="2639854"/>
            <a:ext cx="52232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sz="2000">
                <a:latin typeface="Bahnschrift" panose="020B0502040204020203" pitchFamily="34" charset="0"/>
                <a:ea typeface="+mn-lt"/>
                <a:cs typeface="+mn-lt"/>
              </a:rPr>
              <a:t>Train deep learning model to distinguish between </a:t>
            </a:r>
            <a:r>
              <a:rPr lang="en-US" sz="2000" i="1">
                <a:latin typeface="Bahnschrift" panose="020B0502040204020203" pitchFamily="34" charset="0"/>
                <a:ea typeface="+mn-lt"/>
                <a:cs typeface="+mn-lt"/>
              </a:rPr>
              <a:t>parasitized</a:t>
            </a:r>
            <a:r>
              <a:rPr lang="en-US" sz="2000">
                <a:latin typeface="Bahnschrift" panose="020B0502040204020203" pitchFamily="34" charset="0"/>
                <a:ea typeface="+mn-lt"/>
                <a:cs typeface="+mn-lt"/>
              </a:rPr>
              <a:t> vs. </a:t>
            </a:r>
            <a:r>
              <a:rPr lang="en-US" sz="2000" i="1">
                <a:latin typeface="Bahnschrift" panose="020B0502040204020203" pitchFamily="34" charset="0"/>
                <a:ea typeface="+mn-lt"/>
                <a:cs typeface="+mn-lt"/>
              </a:rPr>
              <a:t>uninfected</a:t>
            </a:r>
            <a:r>
              <a:rPr lang="en-US" sz="2000">
                <a:latin typeface="Bahnschrift" panose="020B0502040204020203" pitchFamily="34" charset="0"/>
                <a:ea typeface="+mn-lt"/>
                <a:cs typeface="+mn-lt"/>
              </a:rPr>
              <a:t> cells</a:t>
            </a:r>
            <a:endParaRPr lang="en-US" sz="2000">
              <a:latin typeface="Bahnschrift" panose="020B0502040204020203" pitchFamily="34" charset="0"/>
              <a:ea typeface="+mn-lt"/>
              <a:cs typeface="Times New Roman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EABAC6-3642-297B-42F3-E9F556B295A3}"/>
              </a:ext>
            </a:extLst>
          </p:cNvPr>
          <p:cNvSpPr txBox="1"/>
          <p:nvPr/>
        </p:nvSpPr>
        <p:spPr>
          <a:xfrm>
            <a:off x="1123642" y="4615965"/>
            <a:ext cx="468500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400" b="1">
                <a:solidFill>
                  <a:srgbClr val="884848"/>
                </a:solidFill>
                <a:latin typeface="Bahnschrift" panose="020B0502040204020203" pitchFamily="34" charset="0"/>
                <a:ea typeface="+mn-lt"/>
                <a:cs typeface="+mn-lt"/>
              </a:rPr>
              <a:t>Optimize Diagnostic Performance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1716F7-6DC4-985D-D5BB-891C1D7DDF73}"/>
              </a:ext>
            </a:extLst>
          </p:cNvPr>
          <p:cNvSpPr txBox="1"/>
          <p:nvPr/>
        </p:nvSpPr>
        <p:spPr>
          <a:xfrm>
            <a:off x="356891" y="2513889"/>
            <a:ext cx="786539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6000" b="1">
                <a:solidFill>
                  <a:srgbClr val="5654A6"/>
                </a:solidFill>
                <a:latin typeface="Bahnschrift" panose="020B0502040204020203" pitchFamily="34" charset="0"/>
                <a:ea typeface="+mn-lt"/>
                <a:cs typeface="+mn-lt"/>
              </a:rPr>
              <a:t>1</a:t>
            </a:r>
            <a:endParaRPr lang="en-US" sz="6000">
              <a:solidFill>
                <a:srgbClr val="5654A6"/>
              </a:solidFill>
              <a:latin typeface="Bahnschrift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B5B469-0C7E-DD6D-D5D5-1782647CCA60}"/>
              </a:ext>
            </a:extLst>
          </p:cNvPr>
          <p:cNvSpPr txBox="1"/>
          <p:nvPr/>
        </p:nvSpPr>
        <p:spPr>
          <a:xfrm>
            <a:off x="488642" y="4585295"/>
            <a:ext cx="40035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800" b="1">
                <a:solidFill>
                  <a:srgbClr val="AF6868"/>
                </a:solidFill>
                <a:latin typeface="Bahnschrift" panose="020B0502040204020203" pitchFamily="34" charset="0"/>
                <a:ea typeface="+mn-lt"/>
                <a:cs typeface="+mn-lt"/>
              </a:rPr>
              <a:t>2</a:t>
            </a:r>
          </a:p>
        </p:txBody>
      </p:sp>
      <p:sp>
        <p:nvSpPr>
          <p:cNvPr id="2" name="Slide Number Placeholder 7">
            <a:extLst>
              <a:ext uri="{FF2B5EF4-FFF2-40B4-BE49-F238E27FC236}">
                <a16:creationId xmlns:a16="http://schemas.microsoft.com/office/drawing/2014/main" id="{70FD2047-2844-816A-7AAB-5B788DBB8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z="1400" dirty="0">
                <a:solidFill>
                  <a:schemeClr val="bg1"/>
                </a:solidFill>
              </a:rPr>
              <a:t>39</a:t>
            </a:fld>
            <a:endParaRPr lang="en-GB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700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0" grpId="0"/>
      <p:bldP spid="24" grpId="0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32E2D-E53B-F9BB-7D74-9B192CF63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260A6A-9E65-25B3-D8F3-4DDA9DE9149E}"/>
              </a:ext>
            </a:extLst>
          </p:cNvPr>
          <p:cNvSpPr/>
          <p:nvPr/>
        </p:nvSpPr>
        <p:spPr>
          <a:xfrm>
            <a:off x="81023" y="1228117"/>
            <a:ext cx="12110977" cy="1914664"/>
          </a:xfrm>
          <a:prstGeom prst="rect">
            <a:avLst/>
          </a:prstGeom>
          <a:solidFill>
            <a:srgbClr val="FE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42D475-494F-9247-523E-2AB38BDD5948}"/>
              </a:ext>
            </a:extLst>
          </p:cNvPr>
          <p:cNvSpPr/>
          <p:nvPr/>
        </p:nvSpPr>
        <p:spPr>
          <a:xfrm>
            <a:off x="-1" y="6453002"/>
            <a:ext cx="12192001" cy="418385"/>
          </a:xfrm>
          <a:prstGeom prst="rect">
            <a:avLst/>
          </a:prstGeom>
          <a:solidFill>
            <a:srgbClr val="EEC4C4"/>
          </a:solidFill>
          <a:ln>
            <a:solidFill>
              <a:srgbClr val="D2A6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3A2DAF-8A96-21CE-E148-E1A866C4B97C}"/>
              </a:ext>
            </a:extLst>
          </p:cNvPr>
          <p:cNvSpPr txBox="1"/>
          <p:nvPr/>
        </p:nvSpPr>
        <p:spPr>
          <a:xfrm>
            <a:off x="491614" y="491613"/>
            <a:ext cx="5949064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AU" sz="3200" b="1">
                <a:solidFill>
                  <a:srgbClr val="AB7F79"/>
                </a:solidFill>
                <a:latin typeface="+mj-lt"/>
                <a:cs typeface="Times New Roman"/>
              </a:rPr>
              <a:t>Conclusion and Future Steps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3793D6-DD44-AB1D-44F2-BA9240DE33AE}"/>
              </a:ext>
            </a:extLst>
          </p:cNvPr>
          <p:cNvSpPr txBox="1"/>
          <p:nvPr/>
        </p:nvSpPr>
        <p:spPr>
          <a:xfrm>
            <a:off x="620721" y="2168129"/>
            <a:ext cx="532288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  <a:cs typeface="Times New Roman"/>
              </a:rPr>
              <a:t>All models perform well on the training and testing set</a:t>
            </a:r>
            <a:r>
              <a:rPr lang="en-US" b="1">
                <a:latin typeface="Bahnschrift" panose="020B0502040204020203" pitchFamily="34" charset="0"/>
                <a:cs typeface="Times New Roman"/>
              </a:rPr>
              <a:t> </a:t>
            </a:r>
            <a:endParaRPr lang="en-MY" altLang="zh-CN">
              <a:latin typeface="Bahnschrift" panose="020B0502040204020203" pitchFamily="34" charset="0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E9901D-2982-7BBE-272C-D0D3A7473EE4}"/>
              </a:ext>
            </a:extLst>
          </p:cNvPr>
          <p:cNvSpPr txBox="1"/>
          <p:nvPr/>
        </p:nvSpPr>
        <p:spPr>
          <a:xfrm>
            <a:off x="601519" y="1430600"/>
            <a:ext cx="3700052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zh-CN" sz="2800" b="1">
                <a:solidFill>
                  <a:srgbClr val="D05858"/>
                </a:solidFill>
                <a:latin typeface="+mj-ea"/>
                <a:ea typeface="+mj-ea"/>
                <a:cs typeface="Times New Roman"/>
              </a:rPr>
              <a:t>Overall Performance</a:t>
            </a:r>
            <a:endParaRPr lang="en-AU" sz="2800" b="1">
              <a:solidFill>
                <a:srgbClr val="D05858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C05A17-7603-F523-6863-C92399E696D8}"/>
              </a:ext>
            </a:extLst>
          </p:cNvPr>
          <p:cNvSpPr txBox="1"/>
          <p:nvPr/>
        </p:nvSpPr>
        <p:spPr>
          <a:xfrm>
            <a:off x="6258567" y="2137305"/>
            <a:ext cx="5588198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cs typeface="Times New Roman"/>
              </a:rPr>
              <a:t>In clinical settings, 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cs typeface="Times New Roman"/>
              </a:rPr>
              <a:t>ResNet18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cs typeface="Times New Roman"/>
              </a:rPr>
              <a:t> is best as recall is </a:t>
            </a:r>
            <a:r>
              <a: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cs typeface="Times New Roman"/>
              </a:rPr>
              <a:t>priority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cs typeface="Times New Roman"/>
              </a:rPr>
              <a:t> </a:t>
            </a:r>
            <a:endParaRPr kumimoji="0" lang="en-MY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cs typeface="Times New Roman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5A1956-D0FD-7220-2AC1-AF1AC0783DA3}"/>
              </a:ext>
            </a:extLst>
          </p:cNvPr>
          <p:cNvSpPr txBox="1"/>
          <p:nvPr/>
        </p:nvSpPr>
        <p:spPr>
          <a:xfrm>
            <a:off x="6258567" y="1388618"/>
            <a:ext cx="3900427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zh-CN" sz="2800" b="1">
                <a:solidFill>
                  <a:srgbClr val="D05858"/>
                </a:solidFill>
                <a:latin typeface="+mj-ea"/>
                <a:ea typeface="+mj-ea"/>
                <a:cs typeface="Times New Roman"/>
              </a:rPr>
              <a:t>Recommended Model</a:t>
            </a:r>
            <a:endParaRPr lang="en-AU" sz="2800" b="1">
              <a:solidFill>
                <a:srgbClr val="D05858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53A656-FBDF-B913-3750-C9C074E9B050}"/>
              </a:ext>
            </a:extLst>
          </p:cNvPr>
          <p:cNvSpPr txBox="1"/>
          <p:nvPr/>
        </p:nvSpPr>
        <p:spPr>
          <a:xfrm>
            <a:off x="491614" y="3442339"/>
            <a:ext cx="3560590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zh-CN" sz="2800" b="1">
                <a:solidFill>
                  <a:srgbClr val="D05858"/>
                </a:solidFill>
                <a:latin typeface="+mj-ea"/>
                <a:ea typeface="+mj-ea"/>
                <a:cs typeface="Times New Roman"/>
              </a:rPr>
              <a:t>Future Suggestions</a:t>
            </a:r>
            <a:endParaRPr lang="en-AU" sz="2800" b="1">
              <a:solidFill>
                <a:srgbClr val="D05858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9576901-1FC7-0C66-322F-D259496B6737}"/>
              </a:ext>
            </a:extLst>
          </p:cNvPr>
          <p:cNvSpPr/>
          <p:nvPr/>
        </p:nvSpPr>
        <p:spPr>
          <a:xfrm>
            <a:off x="748250" y="4892527"/>
            <a:ext cx="1873694" cy="523220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Extend</a:t>
            </a:r>
            <a:endParaRPr lang="en-AU" b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F25253-EA41-B05D-F055-3444C8ED8244}"/>
              </a:ext>
            </a:extLst>
          </p:cNvPr>
          <p:cNvSpPr txBox="1"/>
          <p:nvPr/>
        </p:nvSpPr>
        <p:spPr>
          <a:xfrm>
            <a:off x="2864565" y="4888298"/>
            <a:ext cx="8821808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  <a:cs typeface="Times New Roman"/>
              </a:rPr>
              <a:t>Extend the usability of the models in real world context by applying </a:t>
            </a:r>
            <a:r>
              <a:rPr lang="en-US" b="1">
                <a:latin typeface="Bahnschrift" panose="020B0502040204020203" pitchFamily="34" charset="0"/>
                <a:cs typeface="Times New Roman"/>
              </a:rPr>
              <a:t>knowledge distillation</a:t>
            </a:r>
            <a:endParaRPr lang="en-MY" altLang="zh-CN">
              <a:latin typeface="Bahnschrift" panose="020B0502040204020203" pitchFamily="34" charset="0"/>
              <a:cs typeface="Times New Roman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0F2EAB5-A43F-7E01-E9B1-557DAB306F6A}"/>
              </a:ext>
            </a:extLst>
          </p:cNvPr>
          <p:cNvSpPr/>
          <p:nvPr/>
        </p:nvSpPr>
        <p:spPr>
          <a:xfrm>
            <a:off x="741650" y="4189844"/>
            <a:ext cx="1873694" cy="523220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Adapt</a:t>
            </a:r>
            <a:endParaRPr lang="en-AU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CC9E60-327F-E6E9-6843-2F13A90AB81E}"/>
              </a:ext>
            </a:extLst>
          </p:cNvPr>
          <p:cNvSpPr txBox="1"/>
          <p:nvPr/>
        </p:nvSpPr>
        <p:spPr>
          <a:xfrm>
            <a:off x="2851364" y="4157330"/>
            <a:ext cx="878080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  <a:cs typeface="Times New Roman"/>
              </a:rPr>
              <a:t>Adapt the models on real-world microscopy images captured from </a:t>
            </a:r>
            <a:r>
              <a:rPr lang="en-US" b="1">
                <a:latin typeface="Bahnschrift" panose="020B0502040204020203" pitchFamily="34" charset="0"/>
                <a:cs typeface="Times New Roman"/>
              </a:rPr>
              <a:t>clinics</a:t>
            </a:r>
            <a:r>
              <a:rPr lang="en-US">
                <a:latin typeface="Bahnschrift" panose="020B0502040204020203" pitchFamily="34" charset="0"/>
                <a:cs typeface="Times New Roman"/>
              </a:rPr>
              <a:t> to assess the robustness of models.</a:t>
            </a:r>
            <a:endParaRPr lang="en-MY" altLang="zh-CN">
              <a:latin typeface="Bahnschrift" panose="020B0502040204020203" pitchFamily="34" charset="0"/>
              <a:cs typeface="Times New Roman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457AE0F-3BDA-9070-FEAF-1CF7CED4A21B}"/>
              </a:ext>
            </a:extLst>
          </p:cNvPr>
          <p:cNvSpPr/>
          <p:nvPr/>
        </p:nvSpPr>
        <p:spPr>
          <a:xfrm>
            <a:off x="741650" y="5587092"/>
            <a:ext cx="1873694" cy="523220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Expand</a:t>
            </a:r>
            <a:endParaRPr lang="en-AU" b="1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CC7A27-CB15-1601-F3A9-A5B3ADF7CB89}"/>
              </a:ext>
            </a:extLst>
          </p:cNvPr>
          <p:cNvSpPr txBox="1"/>
          <p:nvPr/>
        </p:nvSpPr>
        <p:spPr>
          <a:xfrm>
            <a:off x="2851363" y="5585384"/>
            <a:ext cx="8780799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  <a:cs typeface="Times New Roman"/>
              </a:rPr>
              <a:t>Expand the models to incorporate with different stages of malaria to detect malaria at </a:t>
            </a:r>
            <a:r>
              <a:rPr lang="en-US" b="1">
                <a:latin typeface="Bahnschrift" panose="020B0502040204020203" pitchFamily="34" charset="0"/>
                <a:cs typeface="Times New Roman"/>
              </a:rPr>
              <a:t>early stages</a:t>
            </a:r>
            <a:endParaRPr lang="en-MY" altLang="zh-CN" b="1">
              <a:latin typeface="Bahnschrift" panose="020B0502040204020203" pitchFamily="34" charset="0"/>
              <a:cs typeface="Times New Roman"/>
            </a:endParaRP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E970765A-87FD-EB7D-511C-920BC08D1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z="1400" dirty="0">
                <a:solidFill>
                  <a:schemeClr val="bg1"/>
                </a:solidFill>
              </a:rPr>
              <a:t>40</a:t>
            </a:fld>
            <a:endParaRPr lang="en-GB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1704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16" grpId="0"/>
      <p:bldP spid="19" grpId="0"/>
      <p:bldP spid="23" grpId="0" animBg="1"/>
      <p:bldP spid="25" grpId="0"/>
      <p:bldP spid="29" grpId="0" animBg="1"/>
      <p:bldP spid="30" grpId="0"/>
      <p:bldP spid="31" grpId="0" animBg="1"/>
      <p:bldP spid="3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5BDB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36F53A-83CA-2C82-BC3F-BF4A31D9C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AD1D2A56-DE36-AD03-1389-5B8CBD54D184}"/>
              </a:ext>
            </a:extLst>
          </p:cNvPr>
          <p:cNvSpPr/>
          <p:nvPr/>
        </p:nvSpPr>
        <p:spPr>
          <a:xfrm>
            <a:off x="153915" y="165078"/>
            <a:ext cx="11910909" cy="6463292"/>
          </a:xfrm>
          <a:prstGeom prst="round2Diag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E01DCE-9DCA-E5F6-D7DA-472C3627FAA5}"/>
              </a:ext>
            </a:extLst>
          </p:cNvPr>
          <p:cNvSpPr txBox="1"/>
          <p:nvPr/>
        </p:nvSpPr>
        <p:spPr>
          <a:xfrm>
            <a:off x="3751191" y="2446645"/>
            <a:ext cx="471635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</a:p>
          <a:p>
            <a:pPr algn="ctr"/>
            <a:r>
              <a:rPr lang="en-US" sz="3200" b="1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Terima</a:t>
            </a:r>
            <a:r>
              <a:rPr lang="en-US" sz="3200" b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Kasih!</a:t>
            </a:r>
            <a:endParaRPr lang="en-AU" sz="3200" b="1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3200" b="1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Umgoi</a:t>
            </a:r>
            <a:r>
              <a:rPr lang="en-AU" sz="3200" b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 </a:t>
            </a:r>
            <a:r>
              <a:rPr lang="en-AU" sz="3200" b="1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Dohje</a:t>
            </a:r>
            <a:r>
              <a:rPr lang="en-MY" sz="3200" b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 </a:t>
            </a:r>
            <a:r>
              <a:rPr lang="en-MY" sz="3200" b="1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Gamxia</a:t>
            </a:r>
            <a:r>
              <a:rPr lang="en-MY" sz="3200" b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algn="ctr"/>
            <a:r>
              <a:rPr lang="hi-IN" sz="2800">
                <a:solidFill>
                  <a:schemeClr val="accent6">
                    <a:lumMod val="75000"/>
                  </a:schemeClr>
                </a:solidFill>
              </a:rPr>
              <a:t>धन्यवाद</a:t>
            </a:r>
            <a:r>
              <a:rPr lang="en-MY" sz="2800">
                <a:solidFill>
                  <a:schemeClr val="accent6">
                    <a:lumMod val="75000"/>
                  </a:schemeClr>
                </a:solidFill>
              </a:rPr>
              <a:t>!</a:t>
            </a:r>
            <a:r>
              <a:rPr lang="ta-IN" sz="2800">
                <a:solidFill>
                  <a:schemeClr val="accent6">
                    <a:lumMod val="75000"/>
                  </a:schemeClr>
                </a:solidFill>
              </a:rPr>
              <a:t> நன்றி</a:t>
            </a:r>
            <a:r>
              <a:rPr lang="en-MY" sz="2800">
                <a:solidFill>
                  <a:schemeClr val="accent6">
                    <a:lumMod val="75000"/>
                  </a:schemeClr>
                </a:solidFill>
              </a:rPr>
              <a:t>! </a:t>
            </a:r>
            <a:r>
              <a:rPr lang="zh-CN" altLang="en-US" sz="2800">
                <a:solidFill>
                  <a:schemeClr val="accent6">
                    <a:lumMod val="75000"/>
                  </a:schemeClr>
                </a:solidFill>
              </a:rPr>
              <a:t>谢谢！</a:t>
            </a:r>
          </a:p>
          <a:p>
            <a:pPr algn="ctr"/>
            <a:r>
              <a:rPr lang="ar-AE">
                <a:solidFill>
                  <a:schemeClr val="accent6">
                    <a:lumMod val="75000"/>
                  </a:schemeClr>
                </a:solidFill>
              </a:rPr>
              <a:t> </a:t>
            </a:r>
            <a:r>
              <a:rPr lang="ar-AE" sz="3200">
                <a:solidFill>
                  <a:schemeClr val="accent6">
                    <a:lumMod val="75000"/>
                  </a:schemeClr>
                </a:solidFill>
              </a:rPr>
              <a:t>بہت شکریہ</a:t>
            </a:r>
            <a:endParaRPr lang="en-MY" altLang="zh-CN" sz="28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584F0E-53E4-0CAD-AC0F-2511EFE51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z="1400" dirty="0">
                <a:solidFill>
                  <a:schemeClr val="bg1"/>
                </a:solidFill>
              </a:rPr>
              <a:t>41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590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d22b920-1f4f-467b-8242-c82b43d0026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A28CF9CAFCA54281A8035971CE213C" ma:contentTypeVersion="8" ma:contentTypeDescription="Create a new document." ma:contentTypeScope="" ma:versionID="67244d7c132088f413d78b0571e5756c">
  <xsd:schema xmlns:xsd="http://www.w3.org/2001/XMLSchema" xmlns:xs="http://www.w3.org/2001/XMLSchema" xmlns:p="http://schemas.microsoft.com/office/2006/metadata/properties" xmlns:ns3="ed22b920-1f4f-467b-8242-c82b43d00267" xmlns:ns4="79759531-23e8-460f-9856-ad92f9426c16" targetNamespace="http://schemas.microsoft.com/office/2006/metadata/properties" ma:root="true" ma:fieldsID="c1373cbce71c4e5ec92cd9db0927aedc" ns3:_="" ns4:_="">
    <xsd:import namespace="ed22b920-1f4f-467b-8242-c82b43d00267"/>
    <xsd:import namespace="79759531-23e8-460f-9856-ad92f9426c1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b920-1f4f-467b-8242-c82b43d002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759531-23e8-460f-9856-ad92f9426c1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4034521-A642-4A11-B1BF-7AF35A8F9FE3}">
  <ds:schemaRefs>
    <ds:schemaRef ds:uri="79759531-23e8-460f-9856-ad92f9426c16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infopath/2007/PartnerControls"/>
    <ds:schemaRef ds:uri="ed22b920-1f4f-467b-8242-c82b43d00267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440031A-86E5-44CB-9FD9-F024D158E1F4}">
  <ds:schemaRefs>
    <ds:schemaRef ds:uri="79759531-23e8-460f-9856-ad92f9426c16"/>
    <ds:schemaRef ds:uri="ed22b920-1f4f-467b-8242-c82b43d002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33B1A36-815A-44DC-A9DE-F0542BDD1A4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1875</Words>
  <Application>Microsoft Office PowerPoint</Application>
  <PresentationFormat>Widescreen</PresentationFormat>
  <Paragraphs>434</Paragraphs>
  <Slides>41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5" baseType="lpstr">
      <vt:lpstr>Calibri,Sans-Serif</vt:lpstr>
      <vt:lpstr>Courier New,monospace</vt:lpstr>
      <vt:lpstr>Aptos</vt:lpstr>
      <vt:lpstr>Aptos Mono</vt:lpstr>
      <vt:lpstr>Arial</vt:lpstr>
      <vt:lpstr>Bahnschrift</vt:lpstr>
      <vt:lpstr>Calibri</vt:lpstr>
      <vt:lpstr>Cambria Math</vt:lpstr>
      <vt:lpstr>Candara</vt:lpstr>
      <vt:lpstr>Fira Sans Condensed SemiBold</vt:lpstr>
      <vt:lpstr>Neue Haas Grotesk Text Pro</vt:lpstr>
      <vt:lpstr>Times New Roman</vt:lpstr>
      <vt:lpstr>Wingdings</vt:lpstr>
      <vt:lpstr>VanillaVTI</vt:lpstr>
      <vt:lpstr>Automated Detection of Malaria-Infected Cells from Microscopic Images using Deep Learning</vt:lpstr>
      <vt:lpstr>Table of Contents</vt:lpstr>
      <vt:lpstr>Introduction</vt:lpstr>
      <vt:lpstr>PowerPoint Presentation</vt:lpstr>
      <vt:lpstr>PowerPoint Presentation</vt:lpstr>
      <vt:lpstr>PowerPoint Presentation</vt:lpstr>
      <vt:lpstr>Data Loading</vt:lpstr>
      <vt:lpstr>PowerPoint Presentation</vt:lpstr>
      <vt:lpstr>PowerPoint Presentation</vt:lpstr>
      <vt:lpstr>Exploratory Data Analysis (EDA)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</vt:lpstr>
      <vt:lpstr>Results</vt:lpstr>
      <vt:lpstr>Results</vt:lpstr>
      <vt:lpstr>PowerPoint Presentation</vt:lpstr>
      <vt:lpstr>Conclusions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Detection of Malaria-Infected Cells from Microscopic Images using Deep Learning</dc:title>
  <dc:creator>Zhen Gue</dc:creator>
  <cp:lastModifiedBy>Hui Lim</cp:lastModifiedBy>
  <cp:revision>1</cp:revision>
  <dcterms:created xsi:type="dcterms:W3CDTF">2025-09-05T17:07:40Z</dcterms:created>
  <dcterms:modified xsi:type="dcterms:W3CDTF">2025-10-13T03:45:30Z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0x01010042A28CF9CAFCA54281A8035971CE213C</vt:lpwstr>
  </property>
</Properties>
</file>